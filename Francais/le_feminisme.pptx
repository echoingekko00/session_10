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8" r:id="rId1"/>
  </p:sldMasterIdLst>
  <p:notesMasterIdLst>
    <p:notesMasterId r:id="rId17"/>
  </p:notesMasterIdLst>
  <p:handoutMasterIdLst>
    <p:handoutMasterId r:id="rId18"/>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rtl="0">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658603-BF3E-71B7-B9A9-D7A085605E74}" v="518" dt="2021-10-05T16:53:23.3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79" autoAdjust="0"/>
    <p:restoredTop sz="93792" autoAdjust="0"/>
  </p:normalViewPr>
  <p:slideViewPr>
    <p:cSldViewPr snapToGrid="0">
      <p:cViewPr varScale="1">
        <p:scale>
          <a:sx n="62" d="100"/>
          <a:sy n="62" d="100"/>
        </p:scale>
        <p:origin x="716" y="56"/>
      </p:cViewPr>
      <p:guideLst/>
    </p:cSldViewPr>
  </p:slideViewPr>
  <p:notesTextViewPr>
    <p:cViewPr>
      <p:scale>
        <a:sx n="1" d="1"/>
        <a:sy n="1" d="1"/>
      </p:scale>
      <p:origin x="0" y="0"/>
    </p:cViewPr>
  </p:notesTextViewPr>
  <p:notesViewPr>
    <p:cSldViewPr snapToGrid="0">
      <p:cViewPr varScale="1">
        <p:scale>
          <a:sx n="93" d="100"/>
          <a:sy n="93" d="100"/>
        </p:scale>
        <p:origin x="3708"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9B4342-6861-4FF1-9AEC-2E9BE7A6C443}" type="doc">
      <dgm:prSet loTypeId="urn:microsoft.com/office/officeart/2017/3/layout/DropPinTimeline" loCatId="process" qsTypeId="urn:microsoft.com/office/officeart/2005/8/quickstyle/simple3" qsCatId="simple" csTypeId="urn:microsoft.com/office/officeart/2005/8/colors/colorful2" csCatId="colorful" phldr="1"/>
      <dgm:spPr/>
      <dgm:t>
        <a:bodyPr/>
        <a:lstStyle/>
        <a:p>
          <a:endParaRPr lang="en-US"/>
        </a:p>
      </dgm:t>
    </dgm:pt>
    <dgm:pt modelId="{6DFBC320-F8D2-4058-B4D6-89FE4E9F2938}">
      <dgm:prSet/>
      <dgm:spPr/>
      <dgm:t>
        <a:bodyPr/>
        <a:lstStyle/>
        <a:p>
          <a:pPr>
            <a:defRPr b="1"/>
          </a:pPr>
          <a:r>
            <a:rPr lang="en-US"/>
            <a:t>1870</a:t>
          </a:r>
        </a:p>
      </dgm:t>
    </dgm:pt>
    <dgm:pt modelId="{899F0DE7-4B13-4F06-84DA-07E191EEA83F}" type="parTrans" cxnId="{44FA1BE4-9189-414A-A176-B4618D69633D}">
      <dgm:prSet/>
      <dgm:spPr/>
      <dgm:t>
        <a:bodyPr/>
        <a:lstStyle/>
        <a:p>
          <a:endParaRPr lang="en-US"/>
        </a:p>
      </dgm:t>
    </dgm:pt>
    <dgm:pt modelId="{C5571016-B3D5-48A2-AE85-1DBEFDC0A922}" type="sibTrans" cxnId="{44FA1BE4-9189-414A-A176-B4618D69633D}">
      <dgm:prSet/>
      <dgm:spPr/>
      <dgm:t>
        <a:bodyPr/>
        <a:lstStyle/>
        <a:p>
          <a:endParaRPr lang="en-US"/>
        </a:p>
      </dgm:t>
    </dgm:pt>
    <dgm:pt modelId="{F286B47D-3012-4399-96E1-9488CA201984}">
      <dgm:prSet/>
      <dgm:spPr/>
      <dgm:t>
        <a:bodyPr/>
        <a:lstStyle/>
        <a:p>
          <a:r>
            <a:rPr lang="en-US"/>
            <a:t>Le mot aurait été inventé en 1870 pour désigner les hommes dont le développement de la virilité s’est arrêté.</a:t>
          </a:r>
        </a:p>
      </dgm:t>
    </dgm:pt>
    <dgm:pt modelId="{BB943092-C913-4096-B754-85D313922B01}" type="parTrans" cxnId="{FFB385D8-D8FB-4B73-8B48-AD2092B8418B}">
      <dgm:prSet/>
      <dgm:spPr/>
      <dgm:t>
        <a:bodyPr/>
        <a:lstStyle/>
        <a:p>
          <a:endParaRPr lang="en-US"/>
        </a:p>
      </dgm:t>
    </dgm:pt>
    <dgm:pt modelId="{AC4569DE-7684-467B-819E-7A8C5AF01488}" type="sibTrans" cxnId="{FFB385D8-D8FB-4B73-8B48-AD2092B8418B}">
      <dgm:prSet/>
      <dgm:spPr/>
      <dgm:t>
        <a:bodyPr/>
        <a:lstStyle/>
        <a:p>
          <a:endParaRPr lang="en-US"/>
        </a:p>
      </dgm:t>
    </dgm:pt>
    <dgm:pt modelId="{79319148-46B7-4BC0-8AE9-F81940542EB8}">
      <dgm:prSet/>
      <dgm:spPr/>
      <dgm:t>
        <a:bodyPr/>
        <a:lstStyle/>
        <a:p>
          <a:pPr>
            <a:defRPr b="1"/>
          </a:pPr>
          <a:r>
            <a:rPr lang="en-US"/>
            <a:t>1882</a:t>
          </a:r>
        </a:p>
      </dgm:t>
    </dgm:pt>
    <dgm:pt modelId="{D299EA6F-B8CA-4FF1-86C7-A49BEEF4C0E2}" type="parTrans" cxnId="{E88EEC1F-573B-407A-A113-AA4FFCA14595}">
      <dgm:prSet/>
      <dgm:spPr/>
      <dgm:t>
        <a:bodyPr/>
        <a:lstStyle/>
        <a:p>
          <a:endParaRPr lang="en-US"/>
        </a:p>
      </dgm:t>
    </dgm:pt>
    <dgm:pt modelId="{EE0CC64B-3A45-4788-81EC-2061EA83C28C}" type="sibTrans" cxnId="{E88EEC1F-573B-407A-A113-AA4FFCA14595}">
      <dgm:prSet/>
      <dgm:spPr/>
      <dgm:t>
        <a:bodyPr/>
        <a:lstStyle/>
        <a:p>
          <a:endParaRPr lang="en-US"/>
        </a:p>
      </dgm:t>
    </dgm:pt>
    <dgm:pt modelId="{CA5BEF14-E1FD-41E3-A8E1-A289C66A3509}">
      <dgm:prSet/>
      <dgm:spPr/>
      <dgm:t>
        <a:bodyPr/>
        <a:lstStyle/>
        <a:p>
          <a:r>
            <a:rPr lang="en-US"/>
            <a:t>En 1882, Hubertine Auclert définit le féminisme comme la lutte pour améliorer la condition féminine</a:t>
          </a:r>
        </a:p>
      </dgm:t>
    </dgm:pt>
    <dgm:pt modelId="{1F440C3E-54F9-40E1-BD87-FF11935EE674}" type="parTrans" cxnId="{54206C71-C762-429B-9FAB-A13F1968F75D}">
      <dgm:prSet/>
      <dgm:spPr/>
      <dgm:t>
        <a:bodyPr/>
        <a:lstStyle/>
        <a:p>
          <a:endParaRPr lang="en-US"/>
        </a:p>
      </dgm:t>
    </dgm:pt>
    <dgm:pt modelId="{CD791292-252C-409A-AD5F-C272AE1A3D16}" type="sibTrans" cxnId="{54206C71-C762-429B-9FAB-A13F1968F75D}">
      <dgm:prSet/>
      <dgm:spPr/>
      <dgm:t>
        <a:bodyPr/>
        <a:lstStyle/>
        <a:p>
          <a:endParaRPr lang="en-US"/>
        </a:p>
      </dgm:t>
    </dgm:pt>
    <dgm:pt modelId="{8B8D909B-A182-4755-8079-2634F7E9E346}" type="pres">
      <dgm:prSet presAssocID="{069B4342-6861-4FF1-9AEC-2E9BE7A6C443}" presName="root" presStyleCnt="0">
        <dgm:presLayoutVars>
          <dgm:chMax/>
          <dgm:chPref/>
          <dgm:animLvl val="lvl"/>
        </dgm:presLayoutVars>
      </dgm:prSet>
      <dgm:spPr/>
    </dgm:pt>
    <dgm:pt modelId="{056D52E2-74B3-4254-8FA1-5B5C20C8A7C4}" type="pres">
      <dgm:prSet presAssocID="{069B4342-6861-4FF1-9AEC-2E9BE7A6C443}" presName="divider" presStyleLbl="fgAcc1" presStyleIdx="0" presStyleCnt="3"/>
      <dgm:spPr>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tailEnd type="triangle" w="lg" len="lg"/>
        </a:ln>
        <a:effectLst/>
      </dgm:spPr>
    </dgm:pt>
    <dgm:pt modelId="{2022C9DE-59D5-461F-A850-8AE01582B3C6}" type="pres">
      <dgm:prSet presAssocID="{069B4342-6861-4FF1-9AEC-2E9BE7A6C443}" presName="nodes" presStyleCnt="0">
        <dgm:presLayoutVars>
          <dgm:chMax/>
          <dgm:chPref/>
          <dgm:animLvl val="lvl"/>
        </dgm:presLayoutVars>
      </dgm:prSet>
      <dgm:spPr/>
    </dgm:pt>
    <dgm:pt modelId="{9A839D17-67C7-4147-BFB3-2AD281FE9EEA}" type="pres">
      <dgm:prSet presAssocID="{6DFBC320-F8D2-4058-B4D6-89FE4E9F2938}" presName="composite1" presStyleCnt="0"/>
      <dgm:spPr/>
    </dgm:pt>
    <dgm:pt modelId="{AC20E687-B5D6-4C11-A562-3A8897B3924C}" type="pres">
      <dgm:prSet presAssocID="{6DFBC320-F8D2-4058-B4D6-89FE4E9F2938}" presName="ConnectorPoint1" presStyleLbl="lnNode1" presStyleIdx="0" presStyleCnt="2"/>
      <dgm:spPr/>
    </dgm:pt>
    <dgm:pt modelId="{7EE8BECB-CB6D-41C3-B8D2-C83B27460C96}" type="pres">
      <dgm:prSet presAssocID="{6DFBC320-F8D2-4058-B4D6-89FE4E9F2938}" presName="DropPinPlaceHolder1" presStyleCnt="0"/>
      <dgm:spPr/>
    </dgm:pt>
    <dgm:pt modelId="{A4E87110-8D8F-4962-A2D6-764A70D4EC4A}" type="pres">
      <dgm:prSet presAssocID="{6DFBC320-F8D2-4058-B4D6-89FE4E9F2938}" presName="DropPin1" presStyleLbl="alignNode1" presStyleIdx="0" presStyleCnt="2"/>
      <dgm:spPr/>
    </dgm:pt>
    <dgm:pt modelId="{354765EE-C8E4-4272-8DF2-3360FF405359}" type="pres">
      <dgm:prSet presAssocID="{6DFBC320-F8D2-4058-B4D6-89FE4E9F2938}" presName="Ellipse1" presStyleLbl="fgAcc1" presStyleIdx="1" presStyleCnt="3"/>
      <dgm:spPr>
        <a:solidFill>
          <a:schemeClr val="lt1">
            <a:alpha val="90000"/>
            <a:hueOff val="0"/>
            <a:satOff val="0"/>
            <a:lumOff val="0"/>
            <a:alphaOff val="0"/>
          </a:schemeClr>
        </a:solidFill>
        <a:ln w="6350" cap="flat" cmpd="sng" algn="ctr">
          <a:noFill/>
          <a:prstDash val="solid"/>
          <a:miter lim="800000"/>
        </a:ln>
        <a:effectLst/>
      </dgm:spPr>
    </dgm:pt>
    <dgm:pt modelId="{90398A39-3AEE-4CEB-93E0-6357E3625B51}" type="pres">
      <dgm:prSet presAssocID="{6DFBC320-F8D2-4058-B4D6-89FE4E9F2938}" presName="L2TextContainer1" presStyleLbl="revTx" presStyleIdx="0" presStyleCnt="4">
        <dgm:presLayoutVars>
          <dgm:bulletEnabled val="1"/>
        </dgm:presLayoutVars>
      </dgm:prSet>
      <dgm:spPr/>
    </dgm:pt>
    <dgm:pt modelId="{151DFB0A-CE5A-4DFE-8C7B-BA5AE8161A12}" type="pres">
      <dgm:prSet presAssocID="{6DFBC320-F8D2-4058-B4D6-89FE4E9F2938}" presName="L1TextContainer1" presStyleLbl="revTx" presStyleIdx="1" presStyleCnt="4">
        <dgm:presLayoutVars>
          <dgm:chMax val="1"/>
          <dgm:chPref val="1"/>
          <dgm:bulletEnabled val="1"/>
        </dgm:presLayoutVars>
      </dgm:prSet>
      <dgm:spPr/>
    </dgm:pt>
    <dgm:pt modelId="{C34305A2-8039-4D53-ACB3-9A2892A73ABD}" type="pres">
      <dgm:prSet presAssocID="{6DFBC320-F8D2-4058-B4D6-89FE4E9F2938}" presName="ConnectLine1" presStyleLbl="sibTrans1D1" presStyleIdx="0" presStyleCnt="2"/>
      <dgm:spPr>
        <a:noFill/>
        <a:ln w="12700" cap="flat" cmpd="sng" algn="ctr">
          <a:solidFill>
            <a:schemeClr val="accent2">
              <a:hueOff val="0"/>
              <a:satOff val="0"/>
              <a:lumOff val="0"/>
              <a:alphaOff val="0"/>
            </a:schemeClr>
          </a:solidFill>
          <a:prstDash val="dash"/>
          <a:miter lim="800000"/>
        </a:ln>
        <a:effectLst/>
      </dgm:spPr>
    </dgm:pt>
    <dgm:pt modelId="{D73BB4C7-EB3F-4E4A-9683-96633AC6F326}" type="pres">
      <dgm:prSet presAssocID="{6DFBC320-F8D2-4058-B4D6-89FE4E9F2938}" presName="EmptyPlaceHolder1" presStyleCnt="0"/>
      <dgm:spPr/>
    </dgm:pt>
    <dgm:pt modelId="{32800D93-67CE-4691-9DEB-9AA00E85C1BB}" type="pres">
      <dgm:prSet presAssocID="{C5571016-B3D5-48A2-AE85-1DBEFDC0A922}" presName="spaceBetweenRectangles1" presStyleCnt="0"/>
      <dgm:spPr/>
    </dgm:pt>
    <dgm:pt modelId="{6BF5777D-6AED-473E-8CA8-1E9AD18E51CC}" type="pres">
      <dgm:prSet presAssocID="{79319148-46B7-4BC0-8AE9-F81940542EB8}" presName="composite1" presStyleCnt="0"/>
      <dgm:spPr/>
    </dgm:pt>
    <dgm:pt modelId="{8D375DCD-1F9D-4144-A1E7-DBB36522FD78}" type="pres">
      <dgm:prSet presAssocID="{79319148-46B7-4BC0-8AE9-F81940542EB8}" presName="ConnectorPoint1" presStyleLbl="lnNode1" presStyleIdx="1" presStyleCnt="2"/>
      <dgm:spPr/>
    </dgm:pt>
    <dgm:pt modelId="{6F97D1D5-CD74-4F56-854A-B9A402328989}" type="pres">
      <dgm:prSet presAssocID="{79319148-46B7-4BC0-8AE9-F81940542EB8}" presName="DropPinPlaceHolder1" presStyleCnt="0"/>
      <dgm:spPr/>
    </dgm:pt>
    <dgm:pt modelId="{D6C663EE-B9C6-4004-BDF9-C717C786D496}" type="pres">
      <dgm:prSet presAssocID="{79319148-46B7-4BC0-8AE9-F81940542EB8}" presName="DropPin1" presStyleLbl="alignNode1" presStyleIdx="1" presStyleCnt="2"/>
      <dgm:spPr/>
    </dgm:pt>
    <dgm:pt modelId="{A5E0124C-8145-4E57-A2A8-6C67EB55140E}" type="pres">
      <dgm:prSet presAssocID="{79319148-46B7-4BC0-8AE9-F81940542EB8}" presName="Ellipse1" presStyleLbl="fgAcc1" presStyleIdx="2" presStyleCnt="3"/>
      <dgm:spPr>
        <a:solidFill>
          <a:schemeClr val="lt1">
            <a:alpha val="90000"/>
            <a:hueOff val="0"/>
            <a:satOff val="0"/>
            <a:lumOff val="0"/>
            <a:alphaOff val="0"/>
          </a:schemeClr>
        </a:solidFill>
        <a:ln w="6350" cap="flat" cmpd="sng" algn="ctr">
          <a:noFill/>
          <a:prstDash val="solid"/>
          <a:miter lim="800000"/>
        </a:ln>
        <a:effectLst/>
      </dgm:spPr>
    </dgm:pt>
    <dgm:pt modelId="{232B019A-5BC1-43C3-8507-B194308FEBCD}" type="pres">
      <dgm:prSet presAssocID="{79319148-46B7-4BC0-8AE9-F81940542EB8}" presName="L2TextContainer1" presStyleLbl="revTx" presStyleIdx="2" presStyleCnt="4">
        <dgm:presLayoutVars>
          <dgm:bulletEnabled val="1"/>
        </dgm:presLayoutVars>
      </dgm:prSet>
      <dgm:spPr/>
    </dgm:pt>
    <dgm:pt modelId="{11911B30-BD30-43A6-BEE7-8E6B3EC4EF84}" type="pres">
      <dgm:prSet presAssocID="{79319148-46B7-4BC0-8AE9-F81940542EB8}" presName="L1TextContainer1" presStyleLbl="revTx" presStyleIdx="3" presStyleCnt="4">
        <dgm:presLayoutVars>
          <dgm:chMax val="1"/>
          <dgm:chPref val="1"/>
          <dgm:bulletEnabled val="1"/>
        </dgm:presLayoutVars>
      </dgm:prSet>
      <dgm:spPr/>
    </dgm:pt>
    <dgm:pt modelId="{41315196-95A4-4A43-BCBD-276B2377E746}" type="pres">
      <dgm:prSet presAssocID="{79319148-46B7-4BC0-8AE9-F81940542EB8}" presName="ConnectLine1" presStyleLbl="sibTrans1D1" presStyleIdx="1" presStyleCnt="2"/>
      <dgm:spPr>
        <a:noFill/>
        <a:ln w="12700" cap="flat" cmpd="sng" algn="ctr">
          <a:solidFill>
            <a:schemeClr val="accent2">
              <a:hueOff val="6794280"/>
              <a:satOff val="-29426"/>
              <a:lumOff val="24510"/>
              <a:alphaOff val="0"/>
            </a:schemeClr>
          </a:solidFill>
          <a:prstDash val="dash"/>
          <a:miter lim="800000"/>
        </a:ln>
        <a:effectLst/>
      </dgm:spPr>
    </dgm:pt>
    <dgm:pt modelId="{7EE113B1-DA05-425E-9D57-97ADC23E55EC}" type="pres">
      <dgm:prSet presAssocID="{79319148-46B7-4BC0-8AE9-F81940542EB8}" presName="EmptyPlaceHolder1" presStyleCnt="0"/>
      <dgm:spPr/>
    </dgm:pt>
  </dgm:ptLst>
  <dgm:cxnLst>
    <dgm:cxn modelId="{E88EEC1F-573B-407A-A113-AA4FFCA14595}" srcId="{069B4342-6861-4FF1-9AEC-2E9BE7A6C443}" destId="{79319148-46B7-4BC0-8AE9-F81940542EB8}" srcOrd="1" destOrd="0" parTransId="{D299EA6F-B8CA-4FF1-86C7-A49BEEF4C0E2}" sibTransId="{EE0CC64B-3A45-4788-81EC-2061EA83C28C}"/>
    <dgm:cxn modelId="{54206C71-C762-429B-9FAB-A13F1968F75D}" srcId="{79319148-46B7-4BC0-8AE9-F81940542EB8}" destId="{CA5BEF14-E1FD-41E3-A8E1-A289C66A3509}" srcOrd="0" destOrd="0" parTransId="{1F440C3E-54F9-40E1-BD87-FF11935EE674}" sibTransId="{CD791292-252C-409A-AD5F-C272AE1A3D16}"/>
    <dgm:cxn modelId="{5422BF75-BDD0-43B3-AF66-832F5526DC98}" type="presOf" srcId="{CA5BEF14-E1FD-41E3-A8E1-A289C66A3509}" destId="{232B019A-5BC1-43C3-8507-B194308FEBCD}" srcOrd="0" destOrd="0" presId="urn:microsoft.com/office/officeart/2017/3/layout/DropPinTimeline"/>
    <dgm:cxn modelId="{C817BB90-4A93-4548-A5EB-35A352B043D9}" type="presOf" srcId="{069B4342-6861-4FF1-9AEC-2E9BE7A6C443}" destId="{8B8D909B-A182-4755-8079-2634F7E9E346}" srcOrd="0" destOrd="0" presId="urn:microsoft.com/office/officeart/2017/3/layout/DropPinTimeline"/>
    <dgm:cxn modelId="{AF1A70A3-1EF1-4647-84C6-BF2CC7B01FF2}" type="presOf" srcId="{79319148-46B7-4BC0-8AE9-F81940542EB8}" destId="{11911B30-BD30-43A6-BEE7-8E6B3EC4EF84}" srcOrd="0" destOrd="0" presId="urn:microsoft.com/office/officeart/2017/3/layout/DropPinTimeline"/>
    <dgm:cxn modelId="{FFB385D8-D8FB-4B73-8B48-AD2092B8418B}" srcId="{6DFBC320-F8D2-4058-B4D6-89FE4E9F2938}" destId="{F286B47D-3012-4399-96E1-9488CA201984}" srcOrd="0" destOrd="0" parTransId="{BB943092-C913-4096-B754-85D313922B01}" sibTransId="{AC4569DE-7684-467B-819E-7A8C5AF01488}"/>
    <dgm:cxn modelId="{A29C82D9-DDA0-4804-A066-1AE033683B6A}" type="presOf" srcId="{6DFBC320-F8D2-4058-B4D6-89FE4E9F2938}" destId="{151DFB0A-CE5A-4DFE-8C7B-BA5AE8161A12}" srcOrd="0" destOrd="0" presId="urn:microsoft.com/office/officeart/2017/3/layout/DropPinTimeline"/>
    <dgm:cxn modelId="{44FA1BE4-9189-414A-A176-B4618D69633D}" srcId="{069B4342-6861-4FF1-9AEC-2E9BE7A6C443}" destId="{6DFBC320-F8D2-4058-B4D6-89FE4E9F2938}" srcOrd="0" destOrd="0" parTransId="{899F0DE7-4B13-4F06-84DA-07E191EEA83F}" sibTransId="{C5571016-B3D5-48A2-AE85-1DBEFDC0A922}"/>
    <dgm:cxn modelId="{0416BCFB-CECB-40D1-A363-18E3AB9022E9}" type="presOf" srcId="{F286B47D-3012-4399-96E1-9488CA201984}" destId="{90398A39-3AEE-4CEB-93E0-6357E3625B51}" srcOrd="0" destOrd="0" presId="urn:microsoft.com/office/officeart/2017/3/layout/DropPinTimeline"/>
    <dgm:cxn modelId="{0F410E77-2B39-4A8F-BDDB-2712278717C2}" type="presParOf" srcId="{8B8D909B-A182-4755-8079-2634F7E9E346}" destId="{056D52E2-74B3-4254-8FA1-5B5C20C8A7C4}" srcOrd="0" destOrd="0" presId="urn:microsoft.com/office/officeart/2017/3/layout/DropPinTimeline"/>
    <dgm:cxn modelId="{6BC57592-E78C-449E-803D-0D90B54C161B}" type="presParOf" srcId="{8B8D909B-A182-4755-8079-2634F7E9E346}" destId="{2022C9DE-59D5-461F-A850-8AE01582B3C6}" srcOrd="1" destOrd="0" presId="urn:microsoft.com/office/officeart/2017/3/layout/DropPinTimeline"/>
    <dgm:cxn modelId="{D902066D-451D-4FF5-A750-98E948CD0F7E}" type="presParOf" srcId="{2022C9DE-59D5-461F-A850-8AE01582B3C6}" destId="{9A839D17-67C7-4147-BFB3-2AD281FE9EEA}" srcOrd="0" destOrd="0" presId="urn:microsoft.com/office/officeart/2017/3/layout/DropPinTimeline"/>
    <dgm:cxn modelId="{2836C308-5C53-4C87-99D7-1CB468FD68B1}" type="presParOf" srcId="{9A839D17-67C7-4147-BFB3-2AD281FE9EEA}" destId="{AC20E687-B5D6-4C11-A562-3A8897B3924C}" srcOrd="0" destOrd="0" presId="urn:microsoft.com/office/officeart/2017/3/layout/DropPinTimeline"/>
    <dgm:cxn modelId="{51E6B5AF-13A6-4284-9BE9-AE76849C53C0}" type="presParOf" srcId="{9A839D17-67C7-4147-BFB3-2AD281FE9EEA}" destId="{7EE8BECB-CB6D-41C3-B8D2-C83B27460C96}" srcOrd="1" destOrd="0" presId="urn:microsoft.com/office/officeart/2017/3/layout/DropPinTimeline"/>
    <dgm:cxn modelId="{06EC44BF-5AAF-44A4-B088-48AD23F4C6D8}" type="presParOf" srcId="{7EE8BECB-CB6D-41C3-B8D2-C83B27460C96}" destId="{A4E87110-8D8F-4962-A2D6-764A70D4EC4A}" srcOrd="0" destOrd="0" presId="urn:microsoft.com/office/officeart/2017/3/layout/DropPinTimeline"/>
    <dgm:cxn modelId="{D1E1F2CE-BF7A-4C11-8922-D6037D838D8C}" type="presParOf" srcId="{7EE8BECB-CB6D-41C3-B8D2-C83B27460C96}" destId="{354765EE-C8E4-4272-8DF2-3360FF405359}" srcOrd="1" destOrd="0" presId="urn:microsoft.com/office/officeart/2017/3/layout/DropPinTimeline"/>
    <dgm:cxn modelId="{BFA41B20-DDFE-4745-87BB-C3A485EDAE1D}" type="presParOf" srcId="{9A839D17-67C7-4147-BFB3-2AD281FE9EEA}" destId="{90398A39-3AEE-4CEB-93E0-6357E3625B51}" srcOrd="2" destOrd="0" presId="urn:microsoft.com/office/officeart/2017/3/layout/DropPinTimeline"/>
    <dgm:cxn modelId="{E0729008-9416-492B-898B-AEA6B1F999E6}" type="presParOf" srcId="{9A839D17-67C7-4147-BFB3-2AD281FE9EEA}" destId="{151DFB0A-CE5A-4DFE-8C7B-BA5AE8161A12}" srcOrd="3" destOrd="0" presId="urn:microsoft.com/office/officeart/2017/3/layout/DropPinTimeline"/>
    <dgm:cxn modelId="{8A027635-EADA-49FB-A168-2C59CCFAFFFC}" type="presParOf" srcId="{9A839D17-67C7-4147-BFB3-2AD281FE9EEA}" destId="{C34305A2-8039-4D53-ACB3-9A2892A73ABD}" srcOrd="4" destOrd="0" presId="urn:microsoft.com/office/officeart/2017/3/layout/DropPinTimeline"/>
    <dgm:cxn modelId="{216FC520-4607-4313-88F2-9627B4924763}" type="presParOf" srcId="{9A839D17-67C7-4147-BFB3-2AD281FE9EEA}" destId="{D73BB4C7-EB3F-4E4A-9683-96633AC6F326}" srcOrd="5" destOrd="0" presId="urn:microsoft.com/office/officeart/2017/3/layout/DropPinTimeline"/>
    <dgm:cxn modelId="{8A17B3E2-E61A-4A61-8249-E54B2E2F5460}" type="presParOf" srcId="{2022C9DE-59D5-461F-A850-8AE01582B3C6}" destId="{32800D93-67CE-4691-9DEB-9AA00E85C1BB}" srcOrd="1" destOrd="0" presId="urn:microsoft.com/office/officeart/2017/3/layout/DropPinTimeline"/>
    <dgm:cxn modelId="{73BB3C1D-83AE-4EDF-9403-15CB75281F36}" type="presParOf" srcId="{2022C9DE-59D5-461F-A850-8AE01582B3C6}" destId="{6BF5777D-6AED-473E-8CA8-1E9AD18E51CC}" srcOrd="2" destOrd="0" presId="urn:microsoft.com/office/officeart/2017/3/layout/DropPinTimeline"/>
    <dgm:cxn modelId="{F2BFC38F-8901-40D5-B20F-032EA58B1CA2}" type="presParOf" srcId="{6BF5777D-6AED-473E-8CA8-1E9AD18E51CC}" destId="{8D375DCD-1F9D-4144-A1E7-DBB36522FD78}" srcOrd="0" destOrd="0" presId="urn:microsoft.com/office/officeart/2017/3/layout/DropPinTimeline"/>
    <dgm:cxn modelId="{1A50F0BA-CC70-4D61-8395-DD270CB477F5}" type="presParOf" srcId="{6BF5777D-6AED-473E-8CA8-1E9AD18E51CC}" destId="{6F97D1D5-CD74-4F56-854A-B9A402328989}" srcOrd="1" destOrd="0" presId="urn:microsoft.com/office/officeart/2017/3/layout/DropPinTimeline"/>
    <dgm:cxn modelId="{5B150429-453E-4EEA-8695-17C28333697C}" type="presParOf" srcId="{6F97D1D5-CD74-4F56-854A-B9A402328989}" destId="{D6C663EE-B9C6-4004-BDF9-C717C786D496}" srcOrd="0" destOrd="0" presId="urn:microsoft.com/office/officeart/2017/3/layout/DropPinTimeline"/>
    <dgm:cxn modelId="{42C1909F-27B1-4736-BC04-B7B464D284DE}" type="presParOf" srcId="{6F97D1D5-CD74-4F56-854A-B9A402328989}" destId="{A5E0124C-8145-4E57-A2A8-6C67EB55140E}" srcOrd="1" destOrd="0" presId="urn:microsoft.com/office/officeart/2017/3/layout/DropPinTimeline"/>
    <dgm:cxn modelId="{9D1692ED-9A9C-4B2B-8FEE-4AA6119EE89D}" type="presParOf" srcId="{6BF5777D-6AED-473E-8CA8-1E9AD18E51CC}" destId="{232B019A-5BC1-43C3-8507-B194308FEBCD}" srcOrd="2" destOrd="0" presId="urn:microsoft.com/office/officeart/2017/3/layout/DropPinTimeline"/>
    <dgm:cxn modelId="{1AA64445-1605-4D0D-A4A6-F5F5C39BB311}" type="presParOf" srcId="{6BF5777D-6AED-473E-8CA8-1E9AD18E51CC}" destId="{11911B30-BD30-43A6-BEE7-8E6B3EC4EF84}" srcOrd="3" destOrd="0" presId="urn:microsoft.com/office/officeart/2017/3/layout/DropPinTimeline"/>
    <dgm:cxn modelId="{6764C427-5853-42F1-A463-0BA8DE136BD5}" type="presParOf" srcId="{6BF5777D-6AED-473E-8CA8-1E9AD18E51CC}" destId="{41315196-95A4-4A43-BCBD-276B2377E746}" srcOrd="4" destOrd="0" presId="urn:microsoft.com/office/officeart/2017/3/layout/DropPinTimeline"/>
    <dgm:cxn modelId="{C5E0222B-E73E-4F7B-9D02-C669B397F5CA}" type="presParOf" srcId="{6BF5777D-6AED-473E-8CA8-1E9AD18E51CC}" destId="{7EE113B1-DA05-425E-9D57-97ADC23E55EC}" srcOrd="5" destOrd="0" presId="urn:microsoft.com/office/officeart/2017/3/layout/DropPin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6D52E2-74B3-4254-8FA1-5B5C20C8A7C4}">
      <dsp:nvSpPr>
        <dsp:cNvPr id="0" name=""/>
        <dsp:cNvSpPr/>
      </dsp:nvSpPr>
      <dsp:spPr>
        <a:xfrm>
          <a:off x="0" y="1793875"/>
          <a:ext cx="10728325" cy="0"/>
        </a:xfrm>
        <a:prstGeom prst="line">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tailEnd type="triangle" w="lg" len="lg"/>
        </a:ln>
        <a:effectLst/>
      </dsp:spPr>
      <dsp:style>
        <a:lnRef idx="1">
          <a:scrgbClr r="0" g="0" b="0"/>
        </a:lnRef>
        <a:fillRef idx="1">
          <a:scrgbClr r="0" g="0" b="0"/>
        </a:fillRef>
        <a:effectRef idx="0">
          <a:scrgbClr r="0" g="0" b="0"/>
        </a:effectRef>
        <a:fontRef idx="minor"/>
      </dsp:style>
    </dsp:sp>
    <dsp:sp modelId="{A4E87110-8D8F-4962-A2D6-764A70D4EC4A}">
      <dsp:nvSpPr>
        <dsp:cNvPr id="0" name=""/>
        <dsp:cNvSpPr/>
      </dsp:nvSpPr>
      <dsp:spPr>
        <a:xfrm rot="8100000">
          <a:off x="58877" y="413418"/>
          <a:ext cx="263839" cy="263839"/>
        </a:xfrm>
        <a:prstGeom prst="teardrop">
          <a:avLst>
            <a:gd name="adj" fmla="val 115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sp>
    <dsp:sp modelId="{354765EE-C8E4-4272-8DF2-3360FF405359}">
      <dsp:nvSpPr>
        <dsp:cNvPr id="0" name=""/>
        <dsp:cNvSpPr/>
      </dsp:nvSpPr>
      <dsp:spPr>
        <a:xfrm>
          <a:off x="88187" y="442728"/>
          <a:ext cx="205219" cy="205219"/>
        </a:xfrm>
        <a:prstGeom prst="ellipse">
          <a:avLst/>
        </a:prstGeom>
        <a:solidFill>
          <a:schemeClr val="lt1">
            <a:alpha val="90000"/>
            <a:hueOff val="0"/>
            <a:satOff val="0"/>
            <a:lumOff val="0"/>
            <a:alphaOff val="0"/>
          </a:schemeClr>
        </a:solidFill>
        <a:ln w="6350" cap="flat" cmpd="sng" algn="ctr">
          <a:noFill/>
          <a:prstDash val="solid"/>
          <a:miter lim="800000"/>
        </a:ln>
        <a:effectLst/>
      </dsp:spPr>
      <dsp:style>
        <a:lnRef idx="1">
          <a:scrgbClr r="0" g="0" b="0"/>
        </a:lnRef>
        <a:fillRef idx="1">
          <a:scrgbClr r="0" g="0" b="0"/>
        </a:fillRef>
        <a:effectRef idx="0">
          <a:scrgbClr r="0" g="0" b="0"/>
        </a:effectRef>
        <a:fontRef idx="minor"/>
      </dsp:style>
    </dsp:sp>
    <dsp:sp modelId="{90398A39-3AEE-4CEB-93E0-6357E3625B51}">
      <dsp:nvSpPr>
        <dsp:cNvPr id="0" name=""/>
        <dsp:cNvSpPr/>
      </dsp:nvSpPr>
      <dsp:spPr>
        <a:xfrm>
          <a:off x="377360" y="731901"/>
          <a:ext cx="3900904" cy="1061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0" bIns="142875" numCol="1" spcCol="1270" anchor="t" anchorCtr="0">
          <a:noAutofit/>
        </a:bodyPr>
        <a:lstStyle/>
        <a:p>
          <a:pPr marL="0" lvl="0" indent="0" algn="l" defTabSz="666750">
            <a:lnSpc>
              <a:spcPct val="90000"/>
            </a:lnSpc>
            <a:spcBef>
              <a:spcPct val="0"/>
            </a:spcBef>
            <a:spcAft>
              <a:spcPct val="35000"/>
            </a:spcAft>
            <a:buNone/>
          </a:pPr>
          <a:r>
            <a:rPr lang="en-US" sz="1500" kern="1200"/>
            <a:t>Le mot aurait été inventé en 1870 pour désigner les hommes dont le développement de la virilité s’est arrêté.</a:t>
          </a:r>
        </a:p>
      </dsp:txBody>
      <dsp:txXfrm>
        <a:off x="377360" y="731901"/>
        <a:ext cx="3900904" cy="1061974"/>
      </dsp:txXfrm>
    </dsp:sp>
    <dsp:sp modelId="{151DFB0A-CE5A-4DFE-8C7B-BA5AE8161A12}">
      <dsp:nvSpPr>
        <dsp:cNvPr id="0" name=""/>
        <dsp:cNvSpPr/>
      </dsp:nvSpPr>
      <dsp:spPr>
        <a:xfrm>
          <a:off x="377360" y="358774"/>
          <a:ext cx="3900904" cy="373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1870</a:t>
          </a:r>
        </a:p>
      </dsp:txBody>
      <dsp:txXfrm>
        <a:off x="377360" y="358774"/>
        <a:ext cx="3900904" cy="373126"/>
      </dsp:txXfrm>
    </dsp:sp>
    <dsp:sp modelId="{C34305A2-8039-4D53-ACB3-9A2892A73ABD}">
      <dsp:nvSpPr>
        <dsp:cNvPr id="0" name=""/>
        <dsp:cNvSpPr/>
      </dsp:nvSpPr>
      <dsp:spPr>
        <a:xfrm>
          <a:off x="190797" y="731901"/>
          <a:ext cx="0" cy="1061974"/>
        </a:xfrm>
        <a:prstGeom prst="line">
          <a:avLst/>
        </a:prstGeom>
        <a:noFill/>
        <a:ln w="1270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AC20E687-B5D6-4C11-A562-3A8897B3924C}">
      <dsp:nvSpPr>
        <dsp:cNvPr id="0" name=""/>
        <dsp:cNvSpPr/>
      </dsp:nvSpPr>
      <dsp:spPr>
        <a:xfrm>
          <a:off x="156634" y="1760293"/>
          <a:ext cx="67162" cy="67162"/>
        </a:xfrm>
        <a:prstGeom prst="ellipse">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lt1">
              <a:hueOff val="0"/>
              <a:satOff val="0"/>
              <a:lumOff val="0"/>
              <a:alphaOff val="0"/>
            </a:schemeClr>
          </a:solidFill>
          <a:prstDash val="solid"/>
          <a:miter lim="800000"/>
        </a:ln>
        <a:effectLst/>
        <a:scene3d>
          <a:camera prst="orthographicFront"/>
          <a:lightRig rig="flat" dir="t"/>
        </a:scene3d>
        <a:sp3d prstMaterial="dkEdge">
          <a:bevelT w="8200" h="38100"/>
        </a:sp3d>
      </dsp:spPr>
      <dsp:style>
        <a:lnRef idx="1">
          <a:scrgbClr r="0" g="0" b="0"/>
        </a:lnRef>
        <a:fillRef idx="2">
          <a:scrgbClr r="0" g="0" b="0"/>
        </a:fillRef>
        <a:effectRef idx="0">
          <a:scrgbClr r="0" g="0" b="0"/>
        </a:effectRef>
        <a:fontRef idx="minor">
          <a:schemeClr val="dk1"/>
        </a:fontRef>
      </dsp:style>
    </dsp:sp>
    <dsp:sp modelId="{D6C663EE-B9C6-4004-BDF9-C717C786D496}">
      <dsp:nvSpPr>
        <dsp:cNvPr id="0" name=""/>
        <dsp:cNvSpPr/>
      </dsp:nvSpPr>
      <dsp:spPr>
        <a:xfrm rot="18900000">
          <a:off x="6078848" y="2910492"/>
          <a:ext cx="263839" cy="263839"/>
        </a:xfrm>
        <a:prstGeom prst="teardrop">
          <a:avLst>
            <a:gd name="adj" fmla="val 115000"/>
          </a:avLst>
        </a:prstGeom>
        <a:gradFill rotWithShape="0">
          <a:gsLst>
            <a:gs pos="0">
              <a:schemeClr val="accent2">
                <a:hueOff val="6794280"/>
                <a:satOff val="-29426"/>
                <a:lumOff val="24510"/>
                <a:alphaOff val="0"/>
                <a:lumMod val="110000"/>
                <a:satMod val="105000"/>
                <a:tint val="67000"/>
              </a:schemeClr>
            </a:gs>
            <a:gs pos="50000">
              <a:schemeClr val="accent2">
                <a:hueOff val="6794280"/>
                <a:satOff val="-29426"/>
                <a:lumOff val="24510"/>
                <a:alphaOff val="0"/>
                <a:lumMod val="105000"/>
                <a:satMod val="103000"/>
                <a:tint val="73000"/>
              </a:schemeClr>
            </a:gs>
            <a:gs pos="100000">
              <a:schemeClr val="accent2">
                <a:hueOff val="6794280"/>
                <a:satOff val="-29426"/>
                <a:lumOff val="24510"/>
                <a:alphaOff val="0"/>
                <a:lumMod val="105000"/>
                <a:satMod val="109000"/>
                <a:tint val="81000"/>
              </a:schemeClr>
            </a:gs>
          </a:gsLst>
          <a:lin ang="5400000" scaled="0"/>
        </a:gradFill>
        <a:ln w="6350" cap="flat" cmpd="sng" algn="ctr">
          <a:solidFill>
            <a:schemeClr val="accent2">
              <a:hueOff val="6794280"/>
              <a:satOff val="-29426"/>
              <a:lumOff val="2451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sp>
    <dsp:sp modelId="{A5E0124C-8145-4E57-A2A8-6C67EB55140E}">
      <dsp:nvSpPr>
        <dsp:cNvPr id="0" name=""/>
        <dsp:cNvSpPr/>
      </dsp:nvSpPr>
      <dsp:spPr>
        <a:xfrm>
          <a:off x="6108159" y="2939802"/>
          <a:ext cx="205219" cy="205219"/>
        </a:xfrm>
        <a:prstGeom prst="ellipse">
          <a:avLst/>
        </a:prstGeom>
        <a:solidFill>
          <a:schemeClr val="lt1">
            <a:alpha val="90000"/>
            <a:hueOff val="0"/>
            <a:satOff val="0"/>
            <a:lumOff val="0"/>
            <a:alphaOff val="0"/>
          </a:schemeClr>
        </a:solidFill>
        <a:ln w="6350" cap="flat" cmpd="sng" algn="ctr">
          <a:noFill/>
          <a:prstDash val="solid"/>
          <a:miter lim="800000"/>
        </a:ln>
        <a:effectLst/>
      </dsp:spPr>
      <dsp:style>
        <a:lnRef idx="1">
          <a:scrgbClr r="0" g="0" b="0"/>
        </a:lnRef>
        <a:fillRef idx="1">
          <a:scrgbClr r="0" g="0" b="0"/>
        </a:fillRef>
        <a:effectRef idx="0">
          <a:scrgbClr r="0" g="0" b="0"/>
        </a:effectRef>
        <a:fontRef idx="minor"/>
      </dsp:style>
    </dsp:sp>
    <dsp:sp modelId="{232B019A-5BC1-43C3-8507-B194308FEBCD}">
      <dsp:nvSpPr>
        <dsp:cNvPr id="0" name=""/>
        <dsp:cNvSpPr/>
      </dsp:nvSpPr>
      <dsp:spPr>
        <a:xfrm>
          <a:off x="6397331" y="1793875"/>
          <a:ext cx="3900904" cy="1061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95250" bIns="95250" numCol="1" spcCol="1270" anchor="b" anchorCtr="0">
          <a:noAutofit/>
        </a:bodyPr>
        <a:lstStyle/>
        <a:p>
          <a:pPr marL="0" lvl="0" indent="0" algn="l" defTabSz="666750">
            <a:lnSpc>
              <a:spcPct val="90000"/>
            </a:lnSpc>
            <a:spcBef>
              <a:spcPct val="0"/>
            </a:spcBef>
            <a:spcAft>
              <a:spcPct val="35000"/>
            </a:spcAft>
            <a:buNone/>
          </a:pPr>
          <a:r>
            <a:rPr lang="en-US" sz="1500" kern="1200"/>
            <a:t>En 1882, Hubertine Auclert définit le féminisme comme la lutte pour améliorer la condition féminine</a:t>
          </a:r>
        </a:p>
      </dsp:txBody>
      <dsp:txXfrm>
        <a:off x="6397331" y="1793875"/>
        <a:ext cx="3900904" cy="1061974"/>
      </dsp:txXfrm>
    </dsp:sp>
    <dsp:sp modelId="{11911B30-BD30-43A6-BEE7-8E6B3EC4EF84}">
      <dsp:nvSpPr>
        <dsp:cNvPr id="0" name=""/>
        <dsp:cNvSpPr/>
      </dsp:nvSpPr>
      <dsp:spPr>
        <a:xfrm>
          <a:off x="6397331" y="2855849"/>
          <a:ext cx="3900904" cy="373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1882</a:t>
          </a:r>
        </a:p>
      </dsp:txBody>
      <dsp:txXfrm>
        <a:off x="6397331" y="2855849"/>
        <a:ext cx="3900904" cy="373126"/>
      </dsp:txXfrm>
    </dsp:sp>
    <dsp:sp modelId="{41315196-95A4-4A43-BCBD-276B2377E746}">
      <dsp:nvSpPr>
        <dsp:cNvPr id="0" name=""/>
        <dsp:cNvSpPr/>
      </dsp:nvSpPr>
      <dsp:spPr>
        <a:xfrm>
          <a:off x="6210768" y="1793875"/>
          <a:ext cx="0" cy="1061974"/>
        </a:xfrm>
        <a:prstGeom prst="line">
          <a:avLst/>
        </a:prstGeom>
        <a:noFill/>
        <a:ln w="12700" cap="flat" cmpd="sng" algn="ctr">
          <a:solidFill>
            <a:schemeClr val="accent2">
              <a:hueOff val="6794280"/>
              <a:satOff val="-29426"/>
              <a:lumOff val="24510"/>
              <a:alphaOff val="0"/>
            </a:schemeClr>
          </a:solidFill>
          <a:prstDash val="dash"/>
          <a:miter lim="800000"/>
        </a:ln>
        <a:effectLst/>
      </dsp:spPr>
      <dsp:style>
        <a:lnRef idx="1">
          <a:scrgbClr r="0" g="0" b="0"/>
        </a:lnRef>
        <a:fillRef idx="0">
          <a:scrgbClr r="0" g="0" b="0"/>
        </a:fillRef>
        <a:effectRef idx="0">
          <a:scrgbClr r="0" g="0" b="0"/>
        </a:effectRef>
        <a:fontRef idx="minor"/>
      </dsp:style>
    </dsp:sp>
    <dsp:sp modelId="{8D375DCD-1F9D-4144-A1E7-DBB36522FD78}">
      <dsp:nvSpPr>
        <dsp:cNvPr id="0" name=""/>
        <dsp:cNvSpPr/>
      </dsp:nvSpPr>
      <dsp:spPr>
        <a:xfrm>
          <a:off x="6176605" y="1760293"/>
          <a:ext cx="67162" cy="67162"/>
        </a:xfrm>
        <a:prstGeom prst="ellipse">
          <a:avLst/>
        </a:prstGeom>
        <a:gradFill rotWithShape="0">
          <a:gsLst>
            <a:gs pos="0">
              <a:schemeClr val="accent2">
                <a:hueOff val="6794280"/>
                <a:satOff val="-29426"/>
                <a:lumOff val="24510"/>
                <a:alphaOff val="0"/>
                <a:lumMod val="110000"/>
                <a:satMod val="105000"/>
                <a:tint val="67000"/>
              </a:schemeClr>
            </a:gs>
            <a:gs pos="50000">
              <a:schemeClr val="accent2">
                <a:hueOff val="6794280"/>
                <a:satOff val="-29426"/>
                <a:lumOff val="24510"/>
                <a:alphaOff val="0"/>
                <a:lumMod val="105000"/>
                <a:satMod val="103000"/>
                <a:tint val="73000"/>
              </a:schemeClr>
            </a:gs>
            <a:gs pos="100000">
              <a:schemeClr val="accent2">
                <a:hueOff val="6794280"/>
                <a:satOff val="-29426"/>
                <a:lumOff val="24510"/>
                <a:alphaOff val="0"/>
                <a:lumMod val="105000"/>
                <a:satMod val="109000"/>
                <a:tint val="81000"/>
              </a:schemeClr>
            </a:gs>
          </a:gsLst>
          <a:lin ang="5400000" scaled="0"/>
        </a:gradFill>
        <a:ln w="6350" cap="flat" cmpd="sng" algn="ctr">
          <a:solidFill>
            <a:schemeClr val="lt1">
              <a:hueOff val="0"/>
              <a:satOff val="0"/>
              <a:lumOff val="0"/>
              <a:alphaOff val="0"/>
            </a:schemeClr>
          </a:solidFill>
          <a:prstDash val="solid"/>
          <a:miter lim="800000"/>
        </a:ln>
        <a:effectLst/>
        <a:scene3d>
          <a:camera prst="orthographicFront"/>
          <a:lightRig rig="flat" dir="t"/>
        </a:scene3d>
        <a:sp3d prstMaterial="dkEdge">
          <a:bevelT w="8200" h="38100"/>
        </a:sp3d>
      </dsp:spPr>
      <dsp:style>
        <a:lnRef idx="1">
          <a:scrgbClr r="0" g="0" b="0"/>
        </a:lnRef>
        <a:fillRef idx="2">
          <a:scrgbClr r="0" g="0" b="0"/>
        </a:fillRef>
        <a:effectRef idx="0">
          <a:scrgbClr r="0" g="0" b="0"/>
        </a:effectRef>
        <a:fontRef idx="minor">
          <a:schemeClr val="dk1"/>
        </a:fontRef>
      </dsp:style>
    </dsp:sp>
  </dsp:spTree>
</dsp:drawing>
</file>

<file path=ppt/diagrams/layout1.xml><?xml version="1.0" encoding="utf-8"?>
<dgm:layoutDef xmlns:dgm="http://schemas.openxmlformats.org/drawingml/2006/diagram" xmlns:a="http://schemas.openxmlformats.org/drawingml/2006/main" uniqueId="urn:microsoft.com/office/officeart/2017/3/layout/DropPinTimeline">
  <dgm:title val="Drop Pin Timeline"/>
  <dgm:desc val="Use to show a list of events in chronological order. An invisible box next to the pin contains the date and the description is immediately below. It can display a medium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905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b"/>
                      <dgm:param type="parTxLTRAlign" val="l"/>
                      <dgm:param type="parTxRTLAlign" val="l"/>
                      <dgm:param type="txAnchorVertCh" val="b"/>
                      <dgm:param type="shpTxRTLAlignCh" val="l"/>
                      <dgm:param type="shpTxLTRAlignCh" val="l"/>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b"/>
                      <dgm:param type="parTxLTRAlign" val="l"/>
                      <dgm:param type="parTxRTLAlign" val="l"/>
                      <dgm:param type="txAnchorVertCh" val="b"/>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BFE12915-429C-4F96-BA86-8801888A93B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068C11A7-7ED4-4B37-B731-C3FF6DA62F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7FC61D4-BC2E-4EC6-82F5-19FA21B8DD9E}" type="datetime1">
              <a:rPr lang="fr-FR" smtClean="0"/>
              <a:t>02/02/2024</a:t>
            </a:fld>
            <a:endParaRPr lang="fr-FR"/>
          </a:p>
        </p:txBody>
      </p:sp>
      <p:sp>
        <p:nvSpPr>
          <p:cNvPr id="4" name="Espace réservé du pied de page 3">
            <a:extLst>
              <a:ext uri="{FF2B5EF4-FFF2-40B4-BE49-F238E27FC236}">
                <a16:creationId xmlns:a16="http://schemas.microsoft.com/office/drawing/2014/main" id="{29A717A2-E772-403A-8383-5558C3A05D8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2F4BF400-BB06-458B-8AE4-CF56D6A9441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35B805-E4CA-4F61-B3E8-B0A0B13B5A0C}" type="slidenum">
              <a:rPr lang="fr-FR" smtClean="0"/>
              <a:t>‹N°›</a:t>
            </a:fld>
            <a:endParaRPr lang="fr-FR"/>
          </a:p>
        </p:txBody>
      </p:sp>
    </p:spTree>
    <p:extLst>
      <p:ext uri="{BB962C8B-B14F-4D97-AF65-F5344CB8AC3E}">
        <p14:creationId xmlns:p14="http://schemas.microsoft.com/office/powerpoint/2010/main" val="179023553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B68908-7B69-49D0-B989-49BDCAF70542}" type="datetime1">
              <a:rPr lang="fr-FR" smtClean="0"/>
              <a:pPr/>
              <a:t>02/02/2024</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dirty="0"/>
              <a:t>Modifiez les styles du texte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4C2BB8-CAEC-4AC7-B257-AB950E478079}" type="slidenum">
              <a:rPr lang="fr-FR" smtClean="0"/>
              <a:t>‹N°›</a:t>
            </a:fld>
            <a:endParaRPr lang="fr-FR" dirty="0"/>
          </a:p>
        </p:txBody>
      </p:sp>
    </p:spTree>
    <p:extLst>
      <p:ext uri="{BB962C8B-B14F-4D97-AF65-F5344CB8AC3E}">
        <p14:creationId xmlns:p14="http://schemas.microsoft.com/office/powerpoint/2010/main" val="18433747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F4C2BB8-CAEC-4AC7-B257-AB950E478079}" type="slidenum">
              <a:rPr lang="fr-FR" smtClean="0"/>
              <a:t>1</a:t>
            </a:fld>
            <a:endParaRPr lang="fr-FR"/>
          </a:p>
        </p:txBody>
      </p:sp>
    </p:spTree>
    <p:extLst>
      <p:ext uri="{BB962C8B-B14F-4D97-AF65-F5344CB8AC3E}">
        <p14:creationId xmlns:p14="http://schemas.microsoft.com/office/powerpoint/2010/main" val="3628229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640013" y="484479"/>
            <a:ext cx="6911974" cy="2954655"/>
          </a:xfrm>
        </p:spPr>
        <p:txBody>
          <a:bodyPr anchor="b">
            <a:normAutofit/>
          </a:bodyPr>
          <a:lstStyle>
            <a:lvl1pPr algn="ctr">
              <a:defRPr sz="5600" spc="-100" baseline="0"/>
            </a:lvl1pPr>
          </a:lstStyle>
          <a:p>
            <a:r>
              <a:rPr lang="en-US"/>
              <a:t>Click to edit Master title style</a:t>
            </a:r>
            <a:endParaRPr lang="en-US" dirty="0"/>
          </a:p>
        </p:txBody>
      </p:sp>
      <p:sp>
        <p:nvSpPr>
          <p:cNvPr id="3" name="Subtitle 2"/>
          <p:cNvSpPr>
            <a:spLocks noGrp="1"/>
          </p:cNvSpPr>
          <p:nvPr>
            <p:ph type="subTitle" idx="1"/>
          </p:nvPr>
        </p:nvSpPr>
        <p:spPr>
          <a:xfrm>
            <a:off x="2640013" y="3799133"/>
            <a:ext cx="6911974" cy="1969841"/>
          </a:xfr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2395C5C9-164C-46B3-A87E-7660D39D3106}" type="datetime2">
              <a:rPr lang="en-US" smtClean="0"/>
              <a:t>Friday, February 2, 2024</a:t>
            </a:fld>
            <a:endParaRPr lang="en-US" dirty="0"/>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pPr algn="l"/>
            <a:r>
              <a:rPr lang="en-US" dirty="0"/>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‹N°›</a:t>
            </a:fld>
            <a:endParaRPr lang="en-US"/>
          </a:p>
        </p:txBody>
      </p:sp>
    </p:spTree>
    <p:extLst>
      <p:ext uri="{BB962C8B-B14F-4D97-AF65-F5344CB8AC3E}">
        <p14:creationId xmlns:p14="http://schemas.microsoft.com/office/powerpoint/2010/main" val="771407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720000" y="2541600"/>
            <a:ext cx="10728325" cy="3227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4DDCFF8A-AAF8-4A12-8A91-9CA0EAF6CBB9}" type="datetime2">
              <a:rPr lang="en-US" smtClean="0"/>
              <a:t>Friday, February 2, 2024</a:t>
            </a:fld>
            <a:endParaRPr lang="en-US" dirty="0"/>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pPr algn="l"/>
            <a:r>
              <a:rPr lang="en-US" dirty="0"/>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‹N°›</a:t>
            </a:fld>
            <a:endParaRPr lang="en-US"/>
          </a:p>
        </p:txBody>
      </p:sp>
    </p:spTree>
    <p:extLst>
      <p:ext uri="{BB962C8B-B14F-4D97-AF65-F5344CB8AC3E}">
        <p14:creationId xmlns:p14="http://schemas.microsoft.com/office/powerpoint/2010/main" val="448006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10728326" cy="2879724"/>
          </a:xfrm>
        </p:spPr>
        <p:txBody>
          <a:bodyPr anchor="b">
            <a:normAutofit/>
          </a:bodyPr>
          <a:lstStyle>
            <a:lvl1pPr>
              <a:defRPr sz="5600"/>
            </a:lvl1pPr>
          </a:lstStyle>
          <a:p>
            <a:r>
              <a:rPr lang="en-US"/>
              <a:t>Click to edit Master title style</a:t>
            </a:r>
            <a:endParaRPr lang="en-US" dirty="0"/>
          </a:p>
        </p:txBody>
      </p:sp>
      <p:sp>
        <p:nvSpPr>
          <p:cNvPr id="3" name="Text Placeholder 2"/>
          <p:cNvSpPr>
            <a:spLocks noGrp="1"/>
          </p:cNvSpPr>
          <p:nvPr>
            <p:ph type="body" idx="1"/>
          </p:nvPr>
        </p:nvSpPr>
        <p:spPr>
          <a:xfrm>
            <a:off x="719910" y="3858924"/>
            <a:ext cx="10728326" cy="1919076"/>
          </a:xfrm>
        </p:spPr>
        <p:txBody>
          <a:bodyPr>
            <a:normAutofit/>
          </a:bodyPr>
          <a:lstStyle>
            <a:lvl1pPr marL="0" indent="0">
              <a:buNone/>
              <a:defRPr sz="2800">
                <a:solidFill>
                  <a:schemeClr val="tx1">
                    <a:tint val="75000"/>
                    <a:alpha val="6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ABCC25C3-021A-4B0B-8F70-0C181FE1CF45}" type="datetime2">
              <a:rPr lang="en-US" smtClean="0"/>
              <a:t>Friday, February 2, 2024</a:t>
            </a:fld>
            <a:endParaRPr lang="en-US"/>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pPr algn="l"/>
            <a:r>
              <a:rPr lang="en-US" dirty="0"/>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‹N°›</a:t>
            </a:fld>
            <a:endParaRPr lang="en-US"/>
          </a:p>
        </p:txBody>
      </p:sp>
    </p:spTree>
    <p:extLst>
      <p:ext uri="{BB962C8B-B14F-4D97-AF65-F5344CB8AC3E}">
        <p14:creationId xmlns:p14="http://schemas.microsoft.com/office/powerpoint/2010/main" val="481199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20000" y="2541600"/>
            <a:ext cx="5003800" cy="3234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58400" y="2541600"/>
            <a:ext cx="5003801" cy="3234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731837" y="6138000"/>
            <a:ext cx="3095626" cy="720000"/>
          </a:xfrm>
          <a:prstGeom prst="rect">
            <a:avLst/>
          </a:prstGeom>
        </p:spPr>
        <p:txBody>
          <a:bodyPr/>
          <a:lstStyle/>
          <a:p>
            <a:fld id="{0C23D88D-8CEC-4ED9-A53B-5596187D9A16}" type="datetime2">
              <a:rPr lang="en-US" smtClean="0"/>
              <a:t>Friday, February 2, 2024</a:t>
            </a:fld>
            <a:endParaRPr lang="en-US"/>
          </a:p>
        </p:txBody>
      </p:sp>
      <p:sp>
        <p:nvSpPr>
          <p:cNvPr id="6" name="Footer Placeholder 5"/>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7" name="Slide Number Placeholder 6"/>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‹N°›</a:t>
            </a:fld>
            <a:endParaRPr lang="en-US"/>
          </a:p>
        </p:txBody>
      </p:sp>
    </p:spTree>
    <p:extLst>
      <p:ext uri="{BB962C8B-B14F-4D97-AF65-F5344CB8AC3E}">
        <p14:creationId xmlns:p14="http://schemas.microsoft.com/office/powerpoint/2010/main" val="854306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10728325" cy="673005"/>
          </a:xfrm>
        </p:spPr>
        <p:txBody>
          <a:bodyPr>
            <a:normAutofit/>
          </a:bodyPr>
          <a:lstStyle/>
          <a:p>
            <a:r>
              <a:rPr lang="en-US"/>
              <a:t>Click to edit Master title style</a:t>
            </a:r>
            <a:endParaRPr lang="en-US" dirty="0"/>
          </a:p>
        </p:txBody>
      </p:sp>
      <p:sp>
        <p:nvSpPr>
          <p:cNvPr id="3" name="Text Placeholder 2"/>
          <p:cNvSpPr>
            <a:spLocks noGrp="1"/>
          </p:cNvSpPr>
          <p:nvPr>
            <p:ph type="body" idx="1"/>
          </p:nvPr>
        </p:nvSpPr>
        <p:spPr>
          <a:xfrm>
            <a:off x="720000" y="1840698"/>
            <a:ext cx="5015638" cy="565796"/>
          </a:xfrm>
        </p:spPr>
        <p:txBody>
          <a:bodyPr wrap="square" anchor="b">
            <a:normAutofit/>
          </a:bodyPr>
          <a:lstStyle>
            <a:lvl1pPr marL="0" indent="0">
              <a:lnSpc>
                <a:spcPct val="120000"/>
              </a:lnSpc>
              <a:buNone/>
              <a:defRPr sz="16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20000" y="2541600"/>
            <a:ext cx="5003801" cy="3234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400" y="1840698"/>
            <a:ext cx="5015638" cy="565796"/>
          </a:xfrm>
        </p:spPr>
        <p:txBody>
          <a:bodyPr anchor="b">
            <a:normAutofit/>
          </a:bodyPr>
          <a:lstStyle>
            <a:lvl1pPr marL="0" indent="0">
              <a:lnSpc>
                <a:spcPct val="120000"/>
              </a:lnSpc>
              <a:buNone/>
              <a:defRPr sz="16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400" y="2541600"/>
            <a:ext cx="5003800" cy="3234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731837" y="6138000"/>
            <a:ext cx="3095626" cy="720000"/>
          </a:xfrm>
          <a:prstGeom prst="rect">
            <a:avLst/>
          </a:prstGeom>
        </p:spPr>
        <p:txBody>
          <a:bodyPr/>
          <a:lstStyle/>
          <a:p>
            <a:fld id="{D2CCD382-DFDA-4722-A27A-59C21AD112F2}" type="datetime2">
              <a:rPr lang="en-US" smtClean="0"/>
              <a:t>Friday, February 2, 2024</a:t>
            </a:fld>
            <a:endParaRPr lang="en-US"/>
          </a:p>
        </p:txBody>
      </p:sp>
      <p:sp>
        <p:nvSpPr>
          <p:cNvPr id="8" name="Footer Placeholder 7"/>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9" name="Slide Number Placeholder 8"/>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‹N°›</a:t>
            </a:fld>
            <a:endParaRPr lang="en-US"/>
          </a:p>
        </p:txBody>
      </p:sp>
    </p:spTree>
    <p:extLst>
      <p:ext uri="{BB962C8B-B14F-4D97-AF65-F5344CB8AC3E}">
        <p14:creationId xmlns:p14="http://schemas.microsoft.com/office/powerpoint/2010/main" val="1676342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731837" y="6138000"/>
            <a:ext cx="3095626" cy="720000"/>
          </a:xfrm>
          <a:prstGeom prst="rect">
            <a:avLst/>
          </a:prstGeom>
        </p:spPr>
        <p:txBody>
          <a:bodyPr/>
          <a:lstStyle/>
          <a:p>
            <a:fld id="{22F2A30D-1C09-413F-AAB1-38F366000715}" type="datetime2">
              <a:rPr lang="en-US" smtClean="0"/>
              <a:t>Friday, February 2, 2024</a:t>
            </a:fld>
            <a:endParaRPr lang="en-US"/>
          </a:p>
        </p:txBody>
      </p:sp>
      <p:sp>
        <p:nvSpPr>
          <p:cNvPr id="4" name="Footer Placeholder 3"/>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5" name="Slide Number Placeholder 4"/>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‹N°›</a:t>
            </a:fld>
            <a:endParaRPr lang="en-US"/>
          </a:p>
        </p:txBody>
      </p:sp>
    </p:spTree>
    <p:extLst>
      <p:ext uri="{BB962C8B-B14F-4D97-AF65-F5344CB8AC3E}">
        <p14:creationId xmlns:p14="http://schemas.microsoft.com/office/powerpoint/2010/main" val="1986667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731837" y="6138000"/>
            <a:ext cx="3095626" cy="720000"/>
          </a:xfrm>
          <a:prstGeom prst="rect">
            <a:avLst/>
          </a:prstGeom>
        </p:spPr>
        <p:txBody>
          <a:bodyPr/>
          <a:lstStyle/>
          <a:p>
            <a:fld id="{6DB82B9C-D65E-4F64-95C3-B10F3B00F0D9}" type="datetime2">
              <a:rPr lang="en-US" smtClean="0"/>
              <a:t>Friday, February 2, 2024</a:t>
            </a:fld>
            <a:endParaRPr lang="en-US"/>
          </a:p>
        </p:txBody>
      </p:sp>
      <p:sp>
        <p:nvSpPr>
          <p:cNvPr id="3" name="Footer Placeholder 2"/>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4" name="Slide Number Placeholder 3"/>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‹N°›</a:t>
            </a:fld>
            <a:endParaRPr lang="en-US"/>
          </a:p>
        </p:txBody>
      </p:sp>
    </p:spTree>
    <p:extLst>
      <p:ext uri="{BB962C8B-B14F-4D97-AF65-F5344CB8AC3E}">
        <p14:creationId xmlns:p14="http://schemas.microsoft.com/office/powerpoint/2010/main" val="237588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3107463" cy="1477328"/>
          </a:xfrm>
        </p:spPr>
        <p:txBody>
          <a:bodyPr anchor="t" anchorCtr="0">
            <a:normAutofit/>
          </a:bodyPr>
          <a:lstStyle>
            <a:lvl1pPr>
              <a:lnSpc>
                <a:spcPct val="100000"/>
              </a:lnSpc>
              <a:defRPr sz="2800"/>
            </a:lvl1pPr>
          </a:lstStyle>
          <a:p>
            <a:r>
              <a:rPr lang="en-US"/>
              <a:t>Click to edit Master title style</a:t>
            </a:r>
            <a:endParaRPr lang="en-US" dirty="0"/>
          </a:p>
        </p:txBody>
      </p:sp>
      <p:sp>
        <p:nvSpPr>
          <p:cNvPr id="3" name="Content Placeholder 2"/>
          <p:cNvSpPr>
            <a:spLocks noGrp="1"/>
          </p:cNvSpPr>
          <p:nvPr>
            <p:ph idx="1"/>
          </p:nvPr>
        </p:nvSpPr>
        <p:spPr>
          <a:xfrm>
            <a:off x="4548188" y="584662"/>
            <a:ext cx="6911974" cy="5184313"/>
          </a:xfrm>
        </p:spPr>
        <p:txBody>
          <a:bodyPr/>
          <a:lstStyle>
            <a:lvl1pPr marL="0" indent="0">
              <a:lnSpc>
                <a:spcPct val="100000"/>
              </a:lnSpc>
              <a:buNone/>
              <a:defRPr sz="4800"/>
            </a:lvl1pPr>
            <a:lvl2pPr marL="914400" indent="-457200">
              <a:buFont typeface="Arial" panose="020B0604020202020204" pitchFamily="34" charset="0"/>
              <a:buChar char="•"/>
              <a:defRPr sz="2000"/>
            </a:lvl2pPr>
            <a:lvl3pPr marL="1257300" indent="-342900">
              <a:buFont typeface="Arial" panose="020B0604020202020204" pitchFamily="34" charset="0"/>
              <a:buChar char="•"/>
              <a:defRPr sz="2000"/>
            </a:lvl3pPr>
            <a:lvl4pPr marL="1714500" indent="-342900">
              <a:buFont typeface="Arial" panose="020B0604020202020204" pitchFamily="34" charset="0"/>
              <a:buChar char="•"/>
              <a:defRPr sz="2000"/>
            </a:lvl4pPr>
            <a:lvl5pPr marL="2171700" indent="-342900">
              <a:buFont typeface="Arial" panose="020B0604020202020204" pitchFamily="34" charset="0"/>
              <a:buChar cha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0000" y="2541600"/>
            <a:ext cx="3107463" cy="32318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31837" y="6138000"/>
            <a:ext cx="3095626" cy="720000"/>
          </a:xfrm>
          <a:prstGeom prst="rect">
            <a:avLst/>
          </a:prstGeom>
        </p:spPr>
        <p:txBody>
          <a:bodyPr/>
          <a:lstStyle/>
          <a:p>
            <a:fld id="{B7F5FDCC-6AAC-4A08-B9E0-3793AB5E64C3}" type="datetime2">
              <a:rPr lang="en-US" smtClean="0"/>
              <a:t>Friday, February 2, 2024</a:t>
            </a:fld>
            <a:endParaRPr lang="en-US"/>
          </a:p>
        </p:txBody>
      </p:sp>
      <p:sp>
        <p:nvSpPr>
          <p:cNvPr id="6" name="Footer Placeholder 5"/>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7" name="Slide Number Placeholder 6"/>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‹N°›</a:t>
            </a:fld>
            <a:endParaRPr lang="en-US"/>
          </a:p>
        </p:txBody>
      </p:sp>
    </p:spTree>
    <p:extLst>
      <p:ext uri="{BB962C8B-B14F-4D97-AF65-F5344CB8AC3E}">
        <p14:creationId xmlns:p14="http://schemas.microsoft.com/office/powerpoint/2010/main" val="3938982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3095626" cy="1476000"/>
          </a:xfrm>
        </p:spPr>
        <p:txBody>
          <a:bodyPr anchor="t" anchorCtr="0">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548188" y="728664"/>
            <a:ext cx="6923812" cy="504031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0000" y="2541600"/>
            <a:ext cx="3095625" cy="323280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31837" y="6138000"/>
            <a:ext cx="3095626" cy="720000"/>
          </a:xfrm>
          <a:prstGeom prst="rect">
            <a:avLst/>
          </a:prstGeom>
        </p:spPr>
        <p:txBody>
          <a:bodyPr/>
          <a:lstStyle/>
          <a:p>
            <a:fld id="{349FE94D-439C-40F1-900E-BC07940E3988}" type="datetime2">
              <a:rPr lang="en-US" smtClean="0"/>
              <a:t>Friday, February 2, 2024</a:t>
            </a:fld>
            <a:endParaRPr lang="en-US"/>
          </a:p>
        </p:txBody>
      </p:sp>
      <p:sp>
        <p:nvSpPr>
          <p:cNvPr id="6" name="Footer Placeholder 5"/>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7" name="Slide Number Placeholder 6"/>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‹N°›</a:t>
            </a:fld>
            <a:endParaRPr lang="en-US"/>
          </a:p>
        </p:txBody>
      </p:sp>
    </p:spTree>
    <p:extLst>
      <p:ext uri="{BB962C8B-B14F-4D97-AF65-F5344CB8AC3E}">
        <p14:creationId xmlns:p14="http://schemas.microsoft.com/office/powerpoint/2010/main" val="1726891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720000" y="2636838"/>
            <a:ext cx="10728325" cy="31321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5B75179A-1E2B-41AB-B400-4F1B4022FAEE}" type="datetime2">
              <a:rPr lang="en-US" smtClean="0"/>
              <a:t>Friday, February 2, 2024</a:t>
            </a:fld>
            <a:endParaRPr lang="en-US"/>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‹N°›</a:t>
            </a:fld>
            <a:endParaRPr lang="en-US"/>
          </a:p>
        </p:txBody>
      </p:sp>
    </p:spTree>
    <p:extLst>
      <p:ext uri="{BB962C8B-B14F-4D97-AF65-F5344CB8AC3E}">
        <p14:creationId xmlns:p14="http://schemas.microsoft.com/office/powerpoint/2010/main" val="3701840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140486" y="720000"/>
            <a:ext cx="1477328" cy="5048975"/>
          </a:xfrm>
        </p:spPr>
        <p:txBody>
          <a:bodyPr vert="eaVert">
            <a:normAutofit/>
          </a:bodyPr>
          <a:lstStyle>
            <a:lvl1pP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31838" y="720000"/>
            <a:ext cx="8929614" cy="50489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05681D0F-6595-4F14-8EF3-954CD87C797B}" type="datetime2">
              <a:rPr lang="en-US" smtClean="0"/>
              <a:t>Friday, February 2, 2024</a:t>
            </a:fld>
            <a:endParaRPr lang="en-US"/>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‹N°›</a:t>
            </a:fld>
            <a:endParaRPr lang="en-US"/>
          </a:p>
        </p:txBody>
      </p:sp>
    </p:spTree>
    <p:extLst>
      <p:ext uri="{BB962C8B-B14F-4D97-AF65-F5344CB8AC3E}">
        <p14:creationId xmlns:p14="http://schemas.microsoft.com/office/powerpoint/2010/main" val="28892493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646535-AEF6-4883-A4F9-EEC1F8B4319E}"/>
              </a:ext>
            </a:extLst>
          </p:cNvPr>
          <p:cNvSpPr/>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720000" y="619200"/>
            <a:ext cx="10728322" cy="1477328"/>
          </a:xfrm>
          <a:prstGeom prst="rect">
            <a:avLst/>
          </a:prstGeom>
        </p:spPr>
        <p:txBody>
          <a:bodyPr vert="horz" wrap="square" lIns="0" tIns="0" rIns="0" bIns="0" rtlCol="0" anchor="t" anchorCtr="0">
            <a:normAutofit/>
          </a:bodyPr>
          <a:lstStyle/>
          <a:p>
            <a:endParaRPr lang="en-US" dirty="0"/>
          </a:p>
        </p:txBody>
      </p:sp>
      <p:sp>
        <p:nvSpPr>
          <p:cNvPr id="3" name="Text Placeholder 2"/>
          <p:cNvSpPr>
            <a:spLocks noGrp="1"/>
          </p:cNvSpPr>
          <p:nvPr>
            <p:ph type="body" idx="1"/>
          </p:nvPr>
        </p:nvSpPr>
        <p:spPr>
          <a:xfrm>
            <a:off x="720000" y="2541600"/>
            <a:ext cx="10728325" cy="322737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1837" y="6138000"/>
            <a:ext cx="3095626" cy="720000"/>
          </a:xfrm>
          <a:prstGeom prst="rect">
            <a:avLst/>
          </a:prstGeom>
        </p:spPr>
        <p:txBody>
          <a:bodyPr vert="horz" lIns="0" tIns="180000" rIns="0" bIns="180000" rtlCol="0" anchor="ctr"/>
          <a:lstStyle>
            <a:lvl1pPr algn="l">
              <a:lnSpc>
                <a:spcPct val="120000"/>
              </a:lnSpc>
              <a:defRPr sz="1200" spc="20" baseline="0">
                <a:solidFill>
                  <a:schemeClr val="tx1"/>
                </a:solidFill>
                <a:latin typeface="+mn-lt"/>
              </a:defRPr>
            </a:lvl1pPr>
          </a:lstStyle>
          <a:p>
            <a:fld id="{8DEA2CF1-0EB2-4673-802D-3371233E4A77}" type="datetime2">
              <a:rPr lang="en-US" smtClean="0"/>
              <a:t>Friday, February 2, 2024</a:t>
            </a:fld>
            <a:endParaRPr lang="en-US" dirty="0"/>
          </a:p>
        </p:txBody>
      </p:sp>
      <p:sp>
        <p:nvSpPr>
          <p:cNvPr id="5" name="Footer Placeholder 4"/>
          <p:cNvSpPr>
            <a:spLocks noGrp="1"/>
          </p:cNvSpPr>
          <p:nvPr>
            <p:ph type="ftr" sz="quarter" idx="3"/>
          </p:nvPr>
        </p:nvSpPr>
        <p:spPr>
          <a:xfrm>
            <a:off x="4548188" y="6138000"/>
            <a:ext cx="5003800" cy="720000"/>
          </a:xfrm>
          <a:prstGeom prst="rect">
            <a:avLst/>
          </a:prstGeom>
        </p:spPr>
        <p:txBody>
          <a:bodyPr vert="horz" lIns="0" tIns="180000" rIns="0" bIns="180000" rtlCol="0" anchor="ctr"/>
          <a:lstStyle>
            <a:lvl1pPr algn="ctr">
              <a:lnSpc>
                <a:spcPct val="120000"/>
              </a:lnSpc>
              <a:defRPr sz="1200" spc="20" baseline="0">
                <a:solidFill>
                  <a:schemeClr val="tx1"/>
                </a:solidFill>
                <a:latin typeface="+mn-lt"/>
              </a:defRPr>
            </a:lvl1pPr>
          </a:lstStyle>
          <a:p>
            <a:pPr algn="l"/>
            <a:r>
              <a:rPr lang="en-US"/>
              <a:t>Sample Footer Text</a:t>
            </a:r>
            <a:endParaRPr lang="en-US" dirty="0"/>
          </a:p>
        </p:txBody>
      </p:sp>
      <p:sp>
        <p:nvSpPr>
          <p:cNvPr id="6" name="Slide Number Placeholder 5"/>
          <p:cNvSpPr>
            <a:spLocks noGrp="1"/>
          </p:cNvSpPr>
          <p:nvPr>
            <p:ph type="sldNum" sz="quarter" idx="4"/>
          </p:nvPr>
        </p:nvSpPr>
        <p:spPr>
          <a:xfrm>
            <a:off x="10272713" y="6138000"/>
            <a:ext cx="1187449" cy="720000"/>
          </a:xfrm>
          <a:prstGeom prst="rect">
            <a:avLst/>
          </a:prstGeom>
        </p:spPr>
        <p:txBody>
          <a:bodyPr vert="horz" lIns="0" tIns="180000" rIns="0" bIns="180000" rtlCol="0" anchor="ctr"/>
          <a:lstStyle>
            <a:lvl1pPr algn="r">
              <a:lnSpc>
                <a:spcPct val="120000"/>
              </a:lnSpc>
              <a:defRPr sz="1200" spc="20" baseline="0">
                <a:solidFill>
                  <a:schemeClr val="tx1"/>
                </a:solidFill>
                <a:latin typeface="+mn-lt"/>
              </a:defRPr>
            </a:lvl1pPr>
          </a:lstStyle>
          <a:p>
            <a:fld id="{1621B6DD-29C1-4FEA-923F-71EA1347694C}" type="slidenum">
              <a:rPr lang="en-US" smtClean="0"/>
              <a:pPr/>
              <a:t>‹N°›</a:t>
            </a:fld>
            <a:endParaRPr lang="en-US" dirty="0"/>
          </a:p>
        </p:txBody>
      </p:sp>
    </p:spTree>
    <p:extLst>
      <p:ext uri="{BB962C8B-B14F-4D97-AF65-F5344CB8AC3E}">
        <p14:creationId xmlns:p14="http://schemas.microsoft.com/office/powerpoint/2010/main" val="756190161"/>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1" r:id="rId6"/>
    <p:sldLayoutId id="2147483727" r:id="rId7"/>
    <p:sldLayoutId id="2147483728" r:id="rId8"/>
    <p:sldLayoutId id="2147483729" r:id="rId9"/>
    <p:sldLayoutId id="2147483730" r:id="rId10"/>
    <p:sldLayoutId id="2147483732" r:id="rId11"/>
  </p:sldLayoutIdLst>
  <p:hf sldNum="0" hdr="0" ftr="0" dt="0"/>
  <p:txStyles>
    <p:titleStyle>
      <a:lvl1pPr algn="l" defTabSz="914400" rtl="0" eaLnBrk="1" latinLnBrk="0" hangingPunct="1">
        <a:lnSpc>
          <a:spcPct val="100000"/>
        </a:lnSpc>
        <a:spcBef>
          <a:spcPct val="0"/>
        </a:spcBef>
        <a:buNone/>
        <a:defRPr sz="3200" kern="1200" cap="none"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1pPr>
      <a:lvl2pPr marL="6858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2pPr>
      <a:lvl3pPr marL="11430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3pPr>
      <a:lvl4pPr marL="16002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4pPr>
      <a:lvl5pPr marL="20574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149A9F6-B857-488C-AC3A-007B781657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49EFD05-C377-44BE-91F0-1D17C1D9B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p:cNvSpPr>
            <a:spLocks noGrp="1"/>
          </p:cNvSpPr>
          <p:nvPr>
            <p:ph type="ctrTitle"/>
          </p:nvPr>
        </p:nvSpPr>
        <p:spPr>
          <a:xfrm>
            <a:off x="720000" y="1449389"/>
            <a:ext cx="5015638" cy="2075012"/>
          </a:xfrm>
        </p:spPr>
        <p:txBody>
          <a:bodyPr rtlCol="0">
            <a:normAutofit/>
          </a:bodyPr>
          <a:lstStyle/>
          <a:p>
            <a:r>
              <a:rPr lang="fr-FR" dirty="0"/>
              <a:t>Le féminisme</a:t>
            </a:r>
          </a:p>
        </p:txBody>
      </p:sp>
      <p:sp>
        <p:nvSpPr>
          <p:cNvPr id="3" name="Sous-titre 2"/>
          <p:cNvSpPr>
            <a:spLocks noGrp="1"/>
          </p:cNvSpPr>
          <p:nvPr>
            <p:ph type="subTitle" idx="1"/>
          </p:nvPr>
        </p:nvSpPr>
        <p:spPr>
          <a:xfrm>
            <a:off x="720000" y="3830398"/>
            <a:ext cx="5015638" cy="1219439"/>
          </a:xfrm>
        </p:spPr>
        <p:txBody>
          <a:bodyPr vert="horz" lIns="91440" tIns="45720" rIns="91440" bIns="45720" rtlCol="0">
            <a:normAutofit/>
          </a:bodyPr>
          <a:lstStyle/>
          <a:p>
            <a:pPr rtl="0"/>
            <a:r>
              <a:rPr lang="fr-FR" dirty="0"/>
              <a:t>théorie</a:t>
            </a:r>
          </a:p>
        </p:txBody>
      </p:sp>
      <p:grpSp>
        <p:nvGrpSpPr>
          <p:cNvPr id="24" name="Group 23">
            <a:extLst>
              <a:ext uri="{FF2B5EF4-FFF2-40B4-BE49-F238E27FC236}">
                <a16:creationId xmlns:a16="http://schemas.microsoft.com/office/drawing/2014/main" id="{F2FD01A0-E6FF-41CD-AEBD-279232B90D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65602" y="317452"/>
            <a:ext cx="2088038" cy="719230"/>
            <a:chOff x="4532666" y="505937"/>
            <a:chExt cx="2981730" cy="1027064"/>
          </a:xfrm>
        </p:grpSpPr>
        <p:sp>
          <p:nvSpPr>
            <p:cNvPr id="25" name="Freeform 78">
              <a:extLst>
                <a:ext uri="{FF2B5EF4-FFF2-40B4-BE49-F238E27FC236}">
                  <a16:creationId xmlns:a16="http://schemas.microsoft.com/office/drawing/2014/main" id="{811C6308-5554-4129-8881-A95AF512C52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600114">
              <a:off x="4532666" y="754398"/>
              <a:ext cx="694205" cy="713383"/>
            </a:xfrm>
            <a:custGeom>
              <a:avLst/>
              <a:gdLst>
                <a:gd name="T0" fmla="*/ 32 w 58"/>
                <a:gd name="T1" fmla="*/ 56 h 60"/>
                <a:gd name="T2" fmla="*/ 24 w 58"/>
                <a:gd name="T3" fmla="*/ 48 h 60"/>
                <a:gd name="T4" fmla="*/ 14 w 58"/>
                <a:gd name="T5" fmla="*/ 36 h 60"/>
                <a:gd name="T6" fmla="*/ 7 w 58"/>
                <a:gd name="T7" fmla="*/ 29 h 60"/>
                <a:gd name="T8" fmla="*/ 1 w 58"/>
                <a:gd name="T9" fmla="*/ 17 h 60"/>
                <a:gd name="T10" fmla="*/ 7 w 58"/>
                <a:gd name="T11" fmla="*/ 4 h 60"/>
                <a:gd name="T12" fmla="*/ 17 w 58"/>
                <a:gd name="T13" fmla="*/ 1 h 60"/>
                <a:gd name="T14" fmla="*/ 29 w 58"/>
                <a:gd name="T15" fmla="*/ 6 h 60"/>
                <a:gd name="T16" fmla="*/ 31 w 58"/>
                <a:gd name="T17" fmla="*/ 8 h 60"/>
                <a:gd name="T18" fmla="*/ 38 w 58"/>
                <a:gd name="T19" fmla="*/ 15 h 60"/>
                <a:gd name="T20" fmla="*/ 44 w 58"/>
                <a:gd name="T21" fmla="*/ 22 h 60"/>
                <a:gd name="T22" fmla="*/ 54 w 58"/>
                <a:gd name="T23" fmla="*/ 33 h 60"/>
                <a:gd name="T24" fmla="*/ 58 w 58"/>
                <a:gd name="T25" fmla="*/ 44 h 60"/>
                <a:gd name="T26" fmla="*/ 53 w 58"/>
                <a:gd name="T27" fmla="*/ 54 h 60"/>
                <a:gd name="T28" fmla="*/ 42 w 58"/>
                <a:gd name="T29" fmla="*/ 60 h 60"/>
                <a:gd name="T30" fmla="*/ 32 w 58"/>
                <a:gd name="T31" fmla="*/ 5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8" h="60">
                  <a:moveTo>
                    <a:pt x="32" y="56"/>
                  </a:moveTo>
                  <a:cubicBezTo>
                    <a:pt x="30" y="54"/>
                    <a:pt x="31" y="55"/>
                    <a:pt x="24" y="48"/>
                  </a:cubicBezTo>
                  <a:cubicBezTo>
                    <a:pt x="17" y="40"/>
                    <a:pt x="14" y="36"/>
                    <a:pt x="14" y="36"/>
                  </a:cubicBezTo>
                  <a:cubicBezTo>
                    <a:pt x="8" y="30"/>
                    <a:pt x="14" y="37"/>
                    <a:pt x="7" y="29"/>
                  </a:cubicBezTo>
                  <a:cubicBezTo>
                    <a:pt x="3" y="24"/>
                    <a:pt x="1" y="20"/>
                    <a:pt x="1" y="17"/>
                  </a:cubicBezTo>
                  <a:cubicBezTo>
                    <a:pt x="0" y="13"/>
                    <a:pt x="3" y="9"/>
                    <a:pt x="7" y="4"/>
                  </a:cubicBezTo>
                  <a:cubicBezTo>
                    <a:pt x="10" y="2"/>
                    <a:pt x="13" y="0"/>
                    <a:pt x="17" y="1"/>
                  </a:cubicBezTo>
                  <a:cubicBezTo>
                    <a:pt x="21" y="1"/>
                    <a:pt x="25" y="3"/>
                    <a:pt x="29" y="6"/>
                  </a:cubicBezTo>
                  <a:cubicBezTo>
                    <a:pt x="31" y="8"/>
                    <a:pt x="31" y="8"/>
                    <a:pt x="31" y="8"/>
                  </a:cubicBezTo>
                  <a:cubicBezTo>
                    <a:pt x="33" y="11"/>
                    <a:pt x="37" y="15"/>
                    <a:pt x="38" y="15"/>
                  </a:cubicBezTo>
                  <a:cubicBezTo>
                    <a:pt x="42" y="20"/>
                    <a:pt x="40" y="18"/>
                    <a:pt x="44" y="22"/>
                  </a:cubicBezTo>
                  <a:cubicBezTo>
                    <a:pt x="51" y="29"/>
                    <a:pt x="50" y="29"/>
                    <a:pt x="54" y="33"/>
                  </a:cubicBezTo>
                  <a:cubicBezTo>
                    <a:pt x="57" y="37"/>
                    <a:pt x="58" y="40"/>
                    <a:pt x="58" y="44"/>
                  </a:cubicBezTo>
                  <a:cubicBezTo>
                    <a:pt x="58" y="47"/>
                    <a:pt x="56" y="50"/>
                    <a:pt x="53" y="54"/>
                  </a:cubicBezTo>
                  <a:cubicBezTo>
                    <a:pt x="49" y="58"/>
                    <a:pt x="45" y="60"/>
                    <a:pt x="42" y="60"/>
                  </a:cubicBezTo>
                  <a:cubicBezTo>
                    <a:pt x="39" y="60"/>
                    <a:pt x="36" y="59"/>
                    <a:pt x="32" y="5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accent3"/>
                </a:solidFill>
              </a:endParaRPr>
            </a:p>
          </p:txBody>
        </p:sp>
        <p:sp>
          <p:nvSpPr>
            <p:cNvPr id="26" name="Freeform 79">
              <a:extLst>
                <a:ext uri="{FF2B5EF4-FFF2-40B4-BE49-F238E27FC236}">
                  <a16:creationId xmlns:a16="http://schemas.microsoft.com/office/drawing/2014/main" id="{C28F3A03-B53B-433E-8DF7-6B13336D0A5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600114">
              <a:off x="5791465" y="505937"/>
              <a:ext cx="587404" cy="943792"/>
            </a:xfrm>
            <a:custGeom>
              <a:avLst/>
              <a:gdLst>
                <a:gd name="T0" fmla="*/ 15 w 49"/>
                <a:gd name="T1" fmla="*/ 65 h 79"/>
                <a:gd name="T2" fmla="*/ 12 w 49"/>
                <a:gd name="T3" fmla="*/ 54 h 79"/>
                <a:gd name="T4" fmla="*/ 8 w 49"/>
                <a:gd name="T5" fmla="*/ 33 h 79"/>
                <a:gd name="T6" fmla="*/ 38 w 49"/>
                <a:gd name="T7" fmla="*/ 24 h 79"/>
                <a:gd name="T8" fmla="*/ 45 w 49"/>
                <a:gd name="T9" fmla="*/ 70 h 79"/>
                <a:gd name="T10" fmla="*/ 15 w 49"/>
                <a:gd name="T11" fmla="*/ 65 h 79"/>
              </a:gdLst>
              <a:ahLst/>
              <a:cxnLst>
                <a:cxn ang="0">
                  <a:pos x="T0" y="T1"/>
                </a:cxn>
                <a:cxn ang="0">
                  <a:pos x="T2" y="T3"/>
                </a:cxn>
                <a:cxn ang="0">
                  <a:pos x="T4" y="T5"/>
                </a:cxn>
                <a:cxn ang="0">
                  <a:pos x="T6" y="T7"/>
                </a:cxn>
                <a:cxn ang="0">
                  <a:pos x="T8" y="T9"/>
                </a:cxn>
                <a:cxn ang="0">
                  <a:pos x="T10" y="T11"/>
                </a:cxn>
              </a:cxnLst>
              <a:rect l="0" t="0" r="r" b="b"/>
              <a:pathLst>
                <a:path w="49" h="79">
                  <a:moveTo>
                    <a:pt x="15" y="65"/>
                  </a:moveTo>
                  <a:cubicBezTo>
                    <a:pt x="14" y="59"/>
                    <a:pt x="13" y="58"/>
                    <a:pt x="12" y="54"/>
                  </a:cubicBezTo>
                  <a:cubicBezTo>
                    <a:pt x="11" y="45"/>
                    <a:pt x="10" y="40"/>
                    <a:pt x="8" y="33"/>
                  </a:cubicBezTo>
                  <a:cubicBezTo>
                    <a:pt x="0" y="9"/>
                    <a:pt x="34" y="0"/>
                    <a:pt x="38" y="24"/>
                  </a:cubicBezTo>
                  <a:cubicBezTo>
                    <a:pt x="43" y="43"/>
                    <a:pt x="49" y="60"/>
                    <a:pt x="45" y="70"/>
                  </a:cubicBezTo>
                  <a:cubicBezTo>
                    <a:pt x="38" y="77"/>
                    <a:pt x="19" y="79"/>
                    <a:pt x="15" y="6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accent3"/>
                </a:solidFill>
              </a:endParaRPr>
            </a:p>
          </p:txBody>
        </p:sp>
        <p:sp>
          <p:nvSpPr>
            <p:cNvPr id="27" name="Freeform 85">
              <a:extLst>
                <a:ext uri="{FF2B5EF4-FFF2-40B4-BE49-F238E27FC236}">
                  <a16:creationId xmlns:a16="http://schemas.microsoft.com/office/drawing/2014/main" id="{E990BBBC-E616-4D0E-9917-A6CA72AAEA4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600114">
              <a:off x="7087193" y="757585"/>
              <a:ext cx="427203" cy="775416"/>
            </a:xfrm>
            <a:custGeom>
              <a:avLst/>
              <a:gdLst>
                <a:gd name="T0" fmla="*/ 36 w 36"/>
                <a:gd name="T1" fmla="*/ 15 h 65"/>
                <a:gd name="T2" fmla="*/ 34 w 36"/>
                <a:gd name="T3" fmla="*/ 5 h 65"/>
                <a:gd name="T4" fmla="*/ 28 w 36"/>
                <a:gd name="T5" fmla="*/ 1 h 65"/>
                <a:gd name="T6" fmla="*/ 23 w 36"/>
                <a:gd name="T7" fmla="*/ 0 h 65"/>
                <a:gd name="T8" fmla="*/ 13 w 36"/>
                <a:gd name="T9" fmla="*/ 1 h 65"/>
                <a:gd name="T10" fmla="*/ 7 w 36"/>
                <a:gd name="T11" fmla="*/ 9 h 65"/>
                <a:gd name="T12" fmla="*/ 4 w 36"/>
                <a:gd name="T13" fmla="*/ 19 h 65"/>
                <a:gd name="T14" fmla="*/ 0 w 36"/>
                <a:gd name="T15" fmla="*/ 44 h 65"/>
                <a:gd name="T16" fmla="*/ 1 w 36"/>
                <a:gd name="T17" fmla="*/ 58 h 65"/>
                <a:gd name="T18" fmla="*/ 8 w 36"/>
                <a:gd name="T19" fmla="*/ 64 h 65"/>
                <a:gd name="T20" fmla="*/ 16 w 36"/>
                <a:gd name="T21" fmla="*/ 65 h 65"/>
                <a:gd name="T22" fmla="*/ 25 w 36"/>
                <a:gd name="T23" fmla="*/ 63 h 65"/>
                <a:gd name="T24" fmla="*/ 31 w 36"/>
                <a:gd name="T25" fmla="*/ 55 h 65"/>
                <a:gd name="T26" fmla="*/ 34 w 36"/>
                <a:gd name="T27" fmla="*/ 40 h 65"/>
                <a:gd name="T28" fmla="*/ 36 w 36"/>
                <a:gd name="T29" fmla="*/ 15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6" h="65">
                  <a:moveTo>
                    <a:pt x="36" y="15"/>
                  </a:moveTo>
                  <a:cubicBezTo>
                    <a:pt x="36" y="10"/>
                    <a:pt x="35" y="7"/>
                    <a:pt x="34" y="5"/>
                  </a:cubicBezTo>
                  <a:cubicBezTo>
                    <a:pt x="33" y="3"/>
                    <a:pt x="31" y="2"/>
                    <a:pt x="28" y="1"/>
                  </a:cubicBezTo>
                  <a:cubicBezTo>
                    <a:pt x="27" y="1"/>
                    <a:pt x="25" y="1"/>
                    <a:pt x="23" y="0"/>
                  </a:cubicBezTo>
                  <a:cubicBezTo>
                    <a:pt x="19" y="0"/>
                    <a:pt x="16" y="0"/>
                    <a:pt x="13" y="1"/>
                  </a:cubicBezTo>
                  <a:cubicBezTo>
                    <a:pt x="11" y="2"/>
                    <a:pt x="9" y="4"/>
                    <a:pt x="7" y="9"/>
                  </a:cubicBezTo>
                  <a:cubicBezTo>
                    <a:pt x="6" y="13"/>
                    <a:pt x="5" y="17"/>
                    <a:pt x="4" y="19"/>
                  </a:cubicBezTo>
                  <a:cubicBezTo>
                    <a:pt x="2" y="29"/>
                    <a:pt x="0" y="44"/>
                    <a:pt x="0" y="44"/>
                  </a:cubicBezTo>
                  <a:cubicBezTo>
                    <a:pt x="0" y="50"/>
                    <a:pt x="0" y="55"/>
                    <a:pt x="1" y="58"/>
                  </a:cubicBezTo>
                  <a:cubicBezTo>
                    <a:pt x="2" y="61"/>
                    <a:pt x="5" y="63"/>
                    <a:pt x="8" y="64"/>
                  </a:cubicBezTo>
                  <a:cubicBezTo>
                    <a:pt x="11" y="65"/>
                    <a:pt x="13" y="65"/>
                    <a:pt x="16" y="65"/>
                  </a:cubicBezTo>
                  <a:cubicBezTo>
                    <a:pt x="19" y="65"/>
                    <a:pt x="22" y="64"/>
                    <a:pt x="25" y="63"/>
                  </a:cubicBezTo>
                  <a:cubicBezTo>
                    <a:pt x="28" y="61"/>
                    <a:pt x="30" y="59"/>
                    <a:pt x="31" y="55"/>
                  </a:cubicBezTo>
                  <a:cubicBezTo>
                    <a:pt x="32" y="50"/>
                    <a:pt x="31" y="54"/>
                    <a:pt x="34" y="40"/>
                  </a:cubicBezTo>
                  <a:lnTo>
                    <a:pt x="36" y="1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accent3"/>
                </a:solidFill>
              </a:endParaRPr>
            </a:p>
          </p:txBody>
        </p:sp>
      </p:grpSp>
      <p:grpSp>
        <p:nvGrpSpPr>
          <p:cNvPr id="29" name="Group 28">
            <a:extLst>
              <a:ext uri="{FF2B5EF4-FFF2-40B4-BE49-F238E27FC236}">
                <a16:creationId xmlns:a16="http://schemas.microsoft.com/office/drawing/2014/main" id="{3C9AA14C-80A4-427C-A911-28CD20C56E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17356" y="5503147"/>
            <a:ext cx="2117174" cy="588806"/>
            <a:chOff x="4549904" y="5078157"/>
            <a:chExt cx="3023338" cy="840818"/>
          </a:xfrm>
        </p:grpSpPr>
        <p:sp>
          <p:nvSpPr>
            <p:cNvPr id="30" name="Freeform 80">
              <a:extLst>
                <a:ext uri="{FF2B5EF4-FFF2-40B4-BE49-F238E27FC236}">
                  <a16:creationId xmlns:a16="http://schemas.microsoft.com/office/drawing/2014/main" id="{EF32CDAF-4619-4949-9516-1E042181EBF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5690691" y="5352589"/>
              <a:ext cx="749228" cy="383544"/>
            </a:xfrm>
            <a:custGeom>
              <a:avLst/>
              <a:gdLst>
                <a:gd name="T0" fmla="*/ 53 w 66"/>
                <a:gd name="T1" fmla="*/ 33 h 34"/>
                <a:gd name="T2" fmla="*/ 39 w 66"/>
                <a:gd name="T3" fmla="*/ 33 h 34"/>
                <a:gd name="T4" fmla="*/ 21 w 66"/>
                <a:gd name="T5" fmla="*/ 33 h 34"/>
                <a:gd name="T6" fmla="*/ 12 w 66"/>
                <a:gd name="T7" fmla="*/ 32 h 34"/>
                <a:gd name="T8" fmla="*/ 3 w 66"/>
                <a:gd name="T9" fmla="*/ 28 h 34"/>
                <a:gd name="T10" fmla="*/ 0 w 66"/>
                <a:gd name="T11" fmla="*/ 21 h 34"/>
                <a:gd name="T12" fmla="*/ 0 w 66"/>
                <a:gd name="T13" fmla="*/ 16 h 34"/>
                <a:gd name="T14" fmla="*/ 3 w 66"/>
                <a:gd name="T15" fmla="*/ 7 h 34"/>
                <a:gd name="T16" fmla="*/ 11 w 66"/>
                <a:gd name="T17" fmla="*/ 3 h 34"/>
                <a:gd name="T18" fmla="*/ 23 w 66"/>
                <a:gd name="T19" fmla="*/ 2 h 34"/>
                <a:gd name="T20" fmla="*/ 43 w 66"/>
                <a:gd name="T21" fmla="*/ 0 h 34"/>
                <a:gd name="T22" fmla="*/ 48 w 66"/>
                <a:gd name="T23" fmla="*/ 0 h 34"/>
                <a:gd name="T24" fmla="*/ 62 w 66"/>
                <a:gd name="T25" fmla="*/ 4 h 34"/>
                <a:gd name="T26" fmla="*/ 66 w 66"/>
                <a:gd name="T27" fmla="*/ 13 h 34"/>
                <a:gd name="T28" fmla="*/ 66 w 66"/>
                <a:gd name="T29" fmla="*/ 20 h 34"/>
                <a:gd name="T30" fmla="*/ 62 w 66"/>
                <a:gd name="T31" fmla="*/ 29 h 34"/>
                <a:gd name="T32" fmla="*/ 53 w 66"/>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6" h="34">
                  <a:moveTo>
                    <a:pt x="53" y="33"/>
                  </a:moveTo>
                  <a:cubicBezTo>
                    <a:pt x="47" y="33"/>
                    <a:pt x="53" y="34"/>
                    <a:pt x="39" y="33"/>
                  </a:cubicBezTo>
                  <a:cubicBezTo>
                    <a:pt x="24" y="33"/>
                    <a:pt x="21" y="33"/>
                    <a:pt x="21" y="33"/>
                  </a:cubicBezTo>
                  <a:cubicBezTo>
                    <a:pt x="12" y="32"/>
                    <a:pt x="12" y="32"/>
                    <a:pt x="12" y="32"/>
                  </a:cubicBezTo>
                  <a:cubicBezTo>
                    <a:pt x="7" y="31"/>
                    <a:pt x="4" y="30"/>
                    <a:pt x="3" y="28"/>
                  </a:cubicBezTo>
                  <a:cubicBezTo>
                    <a:pt x="1" y="26"/>
                    <a:pt x="0" y="24"/>
                    <a:pt x="0" y="21"/>
                  </a:cubicBezTo>
                  <a:cubicBezTo>
                    <a:pt x="0" y="21"/>
                    <a:pt x="0" y="19"/>
                    <a:pt x="0" y="16"/>
                  </a:cubicBezTo>
                  <a:cubicBezTo>
                    <a:pt x="0" y="13"/>
                    <a:pt x="1" y="10"/>
                    <a:pt x="3" y="7"/>
                  </a:cubicBezTo>
                  <a:cubicBezTo>
                    <a:pt x="4" y="5"/>
                    <a:pt x="7" y="3"/>
                    <a:pt x="11" y="3"/>
                  </a:cubicBezTo>
                  <a:cubicBezTo>
                    <a:pt x="16" y="2"/>
                    <a:pt x="20" y="2"/>
                    <a:pt x="23" y="2"/>
                  </a:cubicBezTo>
                  <a:cubicBezTo>
                    <a:pt x="32" y="1"/>
                    <a:pt x="37" y="0"/>
                    <a:pt x="43" y="0"/>
                  </a:cubicBezTo>
                  <a:cubicBezTo>
                    <a:pt x="48" y="0"/>
                    <a:pt x="48" y="0"/>
                    <a:pt x="48" y="0"/>
                  </a:cubicBezTo>
                  <a:cubicBezTo>
                    <a:pt x="54" y="1"/>
                    <a:pt x="59" y="3"/>
                    <a:pt x="62" y="4"/>
                  </a:cubicBezTo>
                  <a:cubicBezTo>
                    <a:pt x="65" y="6"/>
                    <a:pt x="66" y="9"/>
                    <a:pt x="66" y="13"/>
                  </a:cubicBezTo>
                  <a:cubicBezTo>
                    <a:pt x="66" y="15"/>
                    <a:pt x="66" y="17"/>
                    <a:pt x="66" y="20"/>
                  </a:cubicBezTo>
                  <a:cubicBezTo>
                    <a:pt x="65" y="23"/>
                    <a:pt x="64" y="26"/>
                    <a:pt x="62" y="29"/>
                  </a:cubicBezTo>
                  <a:cubicBezTo>
                    <a:pt x="60" y="31"/>
                    <a:pt x="57" y="32"/>
                    <a:pt x="53" y="3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accent3"/>
                </a:solidFill>
              </a:endParaRPr>
            </a:p>
          </p:txBody>
        </p:sp>
        <p:sp>
          <p:nvSpPr>
            <p:cNvPr id="31" name="Freeform 84">
              <a:extLst>
                <a:ext uri="{FF2B5EF4-FFF2-40B4-BE49-F238E27FC236}">
                  <a16:creationId xmlns:a16="http://schemas.microsoft.com/office/drawing/2014/main" id="{270C485D-6BA8-4BF7-B72C-2B14A43A664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6274527">
              <a:off x="6910134" y="5062687"/>
              <a:ext cx="647637" cy="678578"/>
            </a:xfrm>
            <a:custGeom>
              <a:avLst/>
              <a:gdLst>
                <a:gd name="T0" fmla="*/ 4 w 57"/>
                <a:gd name="T1" fmla="*/ 34 h 60"/>
                <a:gd name="T2" fmla="*/ 17 w 57"/>
                <a:gd name="T3" fmla="*/ 18 h 60"/>
                <a:gd name="T4" fmla="*/ 26 w 57"/>
                <a:gd name="T5" fmla="*/ 8 h 60"/>
                <a:gd name="T6" fmla="*/ 29 w 57"/>
                <a:gd name="T7" fmla="*/ 5 h 60"/>
                <a:gd name="T8" fmla="*/ 41 w 57"/>
                <a:gd name="T9" fmla="*/ 0 h 60"/>
                <a:gd name="T10" fmla="*/ 51 w 57"/>
                <a:gd name="T11" fmla="*/ 6 h 60"/>
                <a:gd name="T12" fmla="*/ 56 w 57"/>
                <a:gd name="T13" fmla="*/ 16 h 60"/>
                <a:gd name="T14" fmla="*/ 51 w 57"/>
                <a:gd name="T15" fmla="*/ 28 h 60"/>
                <a:gd name="T16" fmla="*/ 29 w 57"/>
                <a:gd name="T17" fmla="*/ 53 h 60"/>
                <a:gd name="T18" fmla="*/ 17 w 57"/>
                <a:gd name="T19" fmla="*/ 59 h 60"/>
                <a:gd name="T20" fmla="*/ 5 w 57"/>
                <a:gd name="T21" fmla="*/ 54 h 60"/>
                <a:gd name="T22" fmla="*/ 0 w 57"/>
                <a:gd name="T23" fmla="*/ 45 h 60"/>
                <a:gd name="T24" fmla="*/ 4 w 57"/>
                <a:gd name="T25"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 h="60">
                  <a:moveTo>
                    <a:pt x="4" y="34"/>
                  </a:moveTo>
                  <a:cubicBezTo>
                    <a:pt x="5" y="33"/>
                    <a:pt x="17" y="18"/>
                    <a:pt x="17" y="18"/>
                  </a:cubicBezTo>
                  <a:cubicBezTo>
                    <a:pt x="21" y="14"/>
                    <a:pt x="24" y="10"/>
                    <a:pt x="26" y="8"/>
                  </a:cubicBezTo>
                  <a:cubicBezTo>
                    <a:pt x="29" y="5"/>
                    <a:pt x="29" y="5"/>
                    <a:pt x="29" y="5"/>
                  </a:cubicBezTo>
                  <a:cubicBezTo>
                    <a:pt x="34" y="2"/>
                    <a:pt x="38" y="0"/>
                    <a:pt x="41" y="0"/>
                  </a:cubicBezTo>
                  <a:cubicBezTo>
                    <a:pt x="44" y="1"/>
                    <a:pt x="47" y="2"/>
                    <a:pt x="51" y="6"/>
                  </a:cubicBezTo>
                  <a:cubicBezTo>
                    <a:pt x="55" y="10"/>
                    <a:pt x="57" y="13"/>
                    <a:pt x="56" y="16"/>
                  </a:cubicBezTo>
                  <a:cubicBezTo>
                    <a:pt x="56" y="19"/>
                    <a:pt x="54" y="23"/>
                    <a:pt x="51" y="28"/>
                  </a:cubicBezTo>
                  <a:cubicBezTo>
                    <a:pt x="51" y="28"/>
                    <a:pt x="33" y="48"/>
                    <a:pt x="29" y="53"/>
                  </a:cubicBezTo>
                  <a:cubicBezTo>
                    <a:pt x="25" y="57"/>
                    <a:pt x="21" y="59"/>
                    <a:pt x="17" y="59"/>
                  </a:cubicBezTo>
                  <a:cubicBezTo>
                    <a:pt x="13" y="60"/>
                    <a:pt x="9" y="58"/>
                    <a:pt x="5" y="54"/>
                  </a:cubicBezTo>
                  <a:cubicBezTo>
                    <a:pt x="2" y="51"/>
                    <a:pt x="0" y="48"/>
                    <a:pt x="0" y="45"/>
                  </a:cubicBezTo>
                  <a:cubicBezTo>
                    <a:pt x="0" y="42"/>
                    <a:pt x="2" y="38"/>
                    <a:pt x="4" y="3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accent3"/>
                </a:solidFill>
              </a:endParaRPr>
            </a:p>
          </p:txBody>
        </p:sp>
        <p:sp>
          <p:nvSpPr>
            <p:cNvPr id="32" name="Freeform 87">
              <a:extLst>
                <a:ext uri="{FF2B5EF4-FFF2-40B4-BE49-F238E27FC236}">
                  <a16:creationId xmlns:a16="http://schemas.microsoft.com/office/drawing/2014/main" id="{79239B91-4327-43B3-AED5-CB9EC1653B4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4430858">
              <a:off x="4571743" y="5071596"/>
              <a:ext cx="626472" cy="670149"/>
            </a:xfrm>
            <a:custGeom>
              <a:avLst/>
              <a:gdLst>
                <a:gd name="T0" fmla="*/ 0 w 55"/>
                <a:gd name="T1" fmla="*/ 17 h 59"/>
                <a:gd name="T2" fmla="*/ 1 w 55"/>
                <a:gd name="T3" fmla="*/ 11 h 59"/>
                <a:gd name="T4" fmla="*/ 4 w 55"/>
                <a:gd name="T5" fmla="*/ 6 h 59"/>
                <a:gd name="T6" fmla="*/ 7 w 55"/>
                <a:gd name="T7" fmla="*/ 4 h 59"/>
                <a:gd name="T8" fmla="*/ 14 w 55"/>
                <a:gd name="T9" fmla="*/ 0 h 59"/>
                <a:gd name="T10" fmla="*/ 23 w 55"/>
                <a:gd name="T11" fmla="*/ 3 h 59"/>
                <a:gd name="T12" fmla="*/ 31 w 55"/>
                <a:gd name="T13" fmla="*/ 11 h 59"/>
                <a:gd name="T14" fmla="*/ 38 w 55"/>
                <a:gd name="T15" fmla="*/ 20 h 59"/>
                <a:gd name="T16" fmla="*/ 48 w 55"/>
                <a:gd name="T17" fmla="*/ 31 h 59"/>
                <a:gd name="T18" fmla="*/ 55 w 55"/>
                <a:gd name="T19" fmla="*/ 43 h 59"/>
                <a:gd name="T20" fmla="*/ 49 w 55"/>
                <a:gd name="T21" fmla="*/ 55 h 59"/>
                <a:gd name="T22" fmla="*/ 38 w 55"/>
                <a:gd name="T23" fmla="*/ 59 h 59"/>
                <a:gd name="T24" fmla="*/ 33 w 55"/>
                <a:gd name="T25" fmla="*/ 58 h 59"/>
                <a:gd name="T26" fmla="*/ 26 w 55"/>
                <a:gd name="T27" fmla="*/ 53 h 59"/>
                <a:gd name="T28" fmla="*/ 5 w 55"/>
                <a:gd name="T29" fmla="*/ 27 h 59"/>
                <a:gd name="T30" fmla="*/ 0 w 55"/>
                <a:gd name="T31" fmla="*/ 17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5" h="59">
                  <a:moveTo>
                    <a:pt x="0" y="17"/>
                  </a:moveTo>
                  <a:cubicBezTo>
                    <a:pt x="0" y="14"/>
                    <a:pt x="0" y="12"/>
                    <a:pt x="1" y="11"/>
                  </a:cubicBezTo>
                  <a:cubicBezTo>
                    <a:pt x="2" y="9"/>
                    <a:pt x="3" y="8"/>
                    <a:pt x="4" y="6"/>
                  </a:cubicBezTo>
                  <a:cubicBezTo>
                    <a:pt x="6" y="5"/>
                    <a:pt x="7" y="4"/>
                    <a:pt x="7" y="4"/>
                  </a:cubicBezTo>
                  <a:cubicBezTo>
                    <a:pt x="9" y="2"/>
                    <a:pt x="12" y="1"/>
                    <a:pt x="14" y="0"/>
                  </a:cubicBezTo>
                  <a:cubicBezTo>
                    <a:pt x="17" y="0"/>
                    <a:pt x="20" y="1"/>
                    <a:pt x="23" y="3"/>
                  </a:cubicBezTo>
                  <a:cubicBezTo>
                    <a:pt x="26" y="4"/>
                    <a:pt x="29" y="7"/>
                    <a:pt x="31" y="11"/>
                  </a:cubicBezTo>
                  <a:cubicBezTo>
                    <a:pt x="38" y="20"/>
                    <a:pt x="38" y="20"/>
                    <a:pt x="38" y="20"/>
                  </a:cubicBezTo>
                  <a:cubicBezTo>
                    <a:pt x="48" y="31"/>
                    <a:pt x="48" y="31"/>
                    <a:pt x="48" y="31"/>
                  </a:cubicBezTo>
                  <a:cubicBezTo>
                    <a:pt x="52" y="36"/>
                    <a:pt x="54" y="40"/>
                    <a:pt x="55" y="43"/>
                  </a:cubicBezTo>
                  <a:cubicBezTo>
                    <a:pt x="55" y="47"/>
                    <a:pt x="54" y="52"/>
                    <a:pt x="49" y="55"/>
                  </a:cubicBezTo>
                  <a:cubicBezTo>
                    <a:pt x="45" y="58"/>
                    <a:pt x="41" y="59"/>
                    <a:pt x="38" y="59"/>
                  </a:cubicBezTo>
                  <a:cubicBezTo>
                    <a:pt x="37" y="59"/>
                    <a:pt x="35" y="59"/>
                    <a:pt x="33" y="58"/>
                  </a:cubicBezTo>
                  <a:cubicBezTo>
                    <a:pt x="31" y="57"/>
                    <a:pt x="29" y="55"/>
                    <a:pt x="26" y="53"/>
                  </a:cubicBezTo>
                  <a:cubicBezTo>
                    <a:pt x="23" y="50"/>
                    <a:pt x="5" y="27"/>
                    <a:pt x="5" y="27"/>
                  </a:cubicBezTo>
                  <a:cubicBezTo>
                    <a:pt x="2" y="23"/>
                    <a:pt x="0" y="19"/>
                    <a:pt x="0" y="1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accent3"/>
                </a:solidFill>
              </a:endParaRPr>
            </a:p>
          </p:txBody>
        </p:sp>
      </p:grpSp>
      <p:pic>
        <p:nvPicPr>
          <p:cNvPr id="4" name="Picture 3" descr="Dessin à la craie de personnes de différents sexes">
            <a:extLst>
              <a:ext uri="{FF2B5EF4-FFF2-40B4-BE49-F238E27FC236}">
                <a16:creationId xmlns:a16="http://schemas.microsoft.com/office/drawing/2014/main" id="{F30B953B-AB39-438D-A982-A32093D0603B}"/>
              </a:ext>
            </a:extLst>
          </p:cNvPr>
          <p:cNvPicPr>
            <a:picLocks noChangeAspect="1"/>
          </p:cNvPicPr>
          <p:nvPr/>
        </p:nvPicPr>
        <p:blipFill rotWithShape="1">
          <a:blip r:embed="rId3"/>
          <a:srcRect l="13139" r="19150" b="2"/>
          <a:stretch/>
        </p:blipFill>
        <p:spPr>
          <a:xfrm>
            <a:off x="6313088" y="602657"/>
            <a:ext cx="5326462" cy="5250743"/>
          </a:xfrm>
          <a:custGeom>
            <a:avLst/>
            <a:gdLst/>
            <a:ahLst/>
            <a:cxnLst/>
            <a:rect l="l" t="t" r="r" b="b"/>
            <a:pathLst>
              <a:path w="5326462" h="5250743">
                <a:moveTo>
                  <a:pt x="2576092" y="0"/>
                </a:moveTo>
                <a:cubicBezTo>
                  <a:pt x="2650583" y="0"/>
                  <a:pt x="2726041" y="967"/>
                  <a:pt x="2803435" y="967"/>
                </a:cubicBezTo>
                <a:cubicBezTo>
                  <a:pt x="3020137" y="967"/>
                  <a:pt x="3205881" y="967"/>
                  <a:pt x="3329710" y="47407"/>
                </a:cubicBezTo>
                <a:cubicBezTo>
                  <a:pt x="3732156" y="124807"/>
                  <a:pt x="4088166" y="387966"/>
                  <a:pt x="4304868" y="573726"/>
                </a:cubicBezTo>
                <a:cubicBezTo>
                  <a:pt x="4537048" y="744005"/>
                  <a:pt x="4893058" y="1069084"/>
                  <a:pt x="5109760" y="1471563"/>
                </a:cubicBezTo>
                <a:cubicBezTo>
                  <a:pt x="5202632" y="2090761"/>
                  <a:pt x="5326462" y="2477760"/>
                  <a:pt x="5326462" y="2694480"/>
                </a:cubicBezTo>
                <a:cubicBezTo>
                  <a:pt x="5326462" y="3267238"/>
                  <a:pt x="5249068" y="3329158"/>
                  <a:pt x="5249068" y="3329158"/>
                </a:cubicBezTo>
                <a:cubicBezTo>
                  <a:pt x="5109760" y="3824516"/>
                  <a:pt x="4784708" y="4288915"/>
                  <a:pt x="4506091" y="4613994"/>
                </a:cubicBezTo>
                <a:cubicBezTo>
                  <a:pt x="4242954" y="4877153"/>
                  <a:pt x="3825029" y="5016473"/>
                  <a:pt x="3329710" y="5233192"/>
                </a:cubicBezTo>
                <a:cubicBezTo>
                  <a:pt x="3020137" y="5233192"/>
                  <a:pt x="2199766" y="5310592"/>
                  <a:pt x="1704448" y="5140313"/>
                </a:cubicBezTo>
                <a:cubicBezTo>
                  <a:pt x="1224608" y="4908113"/>
                  <a:pt x="1069821" y="4861674"/>
                  <a:pt x="667375" y="4505635"/>
                </a:cubicBezTo>
                <a:cubicBezTo>
                  <a:pt x="311365" y="4103156"/>
                  <a:pt x="48228" y="3329158"/>
                  <a:pt x="17270" y="2880239"/>
                </a:cubicBezTo>
                <a:cubicBezTo>
                  <a:pt x="-29166" y="2617080"/>
                  <a:pt x="32749" y="2183641"/>
                  <a:pt x="32749" y="2090761"/>
                </a:cubicBezTo>
                <a:cubicBezTo>
                  <a:pt x="32749" y="1610883"/>
                  <a:pt x="342323" y="1254844"/>
                  <a:pt x="605461" y="929765"/>
                </a:cubicBezTo>
                <a:cubicBezTo>
                  <a:pt x="884077" y="620166"/>
                  <a:pt x="1147215" y="341526"/>
                  <a:pt x="1549661" y="248646"/>
                </a:cubicBezTo>
                <a:cubicBezTo>
                  <a:pt x="1905671" y="78367"/>
                  <a:pt x="1905671" y="78367"/>
                  <a:pt x="1905671" y="78367"/>
                </a:cubicBezTo>
                <a:cubicBezTo>
                  <a:pt x="2137851" y="8707"/>
                  <a:pt x="2352618" y="0"/>
                  <a:pt x="2576092" y="0"/>
                </a:cubicBezTo>
                <a:close/>
              </a:path>
            </a:pathLst>
          </a:custGeom>
        </p:spPr>
      </p:pic>
    </p:spTree>
    <p:extLst>
      <p:ext uri="{BB962C8B-B14F-4D97-AF65-F5344CB8AC3E}">
        <p14:creationId xmlns:p14="http://schemas.microsoft.com/office/powerpoint/2010/main" val="202900254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B7EFF05-A8DA-4B3E-9C21-7A04283D4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65D6A032-F742-47E1-82F2-1EC629434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9AF7C97-BADA-4A0C-82CB-5BB641BAB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Freeform: Shape 15">
            <a:extLst>
              <a:ext uri="{FF2B5EF4-FFF2-40B4-BE49-F238E27FC236}">
                <a16:creationId xmlns:a16="http://schemas.microsoft.com/office/drawing/2014/main" id="{CD9C6F9B-2CB0-4FD8-8F6E-C04D4CE098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760324" cy="6434340"/>
          </a:xfrm>
          <a:custGeom>
            <a:avLst/>
            <a:gdLst>
              <a:gd name="connsiteX0" fmla="*/ 0 w 7760324"/>
              <a:gd name="connsiteY0" fmla="*/ 0 h 6434340"/>
              <a:gd name="connsiteX1" fmla="*/ 7193558 w 7760324"/>
              <a:gd name="connsiteY1" fmla="*/ 0 h 6434340"/>
              <a:gd name="connsiteX2" fmla="*/ 7270378 w 7760324"/>
              <a:gd name="connsiteY2" fmla="*/ 141666 h 6434340"/>
              <a:gd name="connsiteX3" fmla="*/ 7477890 w 7760324"/>
              <a:gd name="connsiteY3" fmla="*/ 744772 h 6434340"/>
              <a:gd name="connsiteX4" fmla="*/ 7459137 w 7760324"/>
              <a:gd name="connsiteY4" fmla="*/ 3396664 h 6434340"/>
              <a:gd name="connsiteX5" fmla="*/ 5749038 w 7760324"/>
              <a:gd name="connsiteY5" fmla="*/ 5643529 h 6434340"/>
              <a:gd name="connsiteX6" fmla="*/ 5004621 w 7760324"/>
              <a:gd name="connsiteY6" fmla="*/ 6096153 h 6434340"/>
              <a:gd name="connsiteX7" fmla="*/ 3484742 w 7760324"/>
              <a:gd name="connsiteY7" fmla="*/ 6399972 h 6434340"/>
              <a:gd name="connsiteX8" fmla="*/ 1300034 w 7760324"/>
              <a:gd name="connsiteY8" fmla="*/ 5884178 h 6434340"/>
              <a:gd name="connsiteX9" fmla="*/ 248715 w 7760324"/>
              <a:gd name="connsiteY9" fmla="*/ 5048740 h 6434340"/>
              <a:gd name="connsiteX10" fmla="*/ 0 w 7760324"/>
              <a:gd name="connsiteY10" fmla="*/ 4799696 h 6434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60324" h="6434340">
                <a:moveTo>
                  <a:pt x="0" y="0"/>
                </a:moveTo>
                <a:lnTo>
                  <a:pt x="7193558" y="0"/>
                </a:lnTo>
                <a:lnTo>
                  <a:pt x="7270378" y="141666"/>
                </a:lnTo>
                <a:cubicBezTo>
                  <a:pt x="7374759" y="354823"/>
                  <a:pt x="7479140" y="567979"/>
                  <a:pt x="7477890" y="744772"/>
                </a:cubicBezTo>
                <a:cubicBezTo>
                  <a:pt x="7860620" y="1526346"/>
                  <a:pt x="7854369" y="2410310"/>
                  <a:pt x="7459137" y="3396664"/>
                </a:cubicBezTo>
                <a:cubicBezTo>
                  <a:pt x="7063906" y="4383018"/>
                  <a:pt x="6458662" y="5119852"/>
                  <a:pt x="5749038" y="5643529"/>
                </a:cubicBezTo>
                <a:cubicBezTo>
                  <a:pt x="5571320" y="5818646"/>
                  <a:pt x="5358807" y="5922711"/>
                  <a:pt x="5004621" y="6096153"/>
                </a:cubicBezTo>
                <a:cubicBezTo>
                  <a:pt x="4508758" y="6338972"/>
                  <a:pt x="3978103" y="6510739"/>
                  <a:pt x="3484742" y="6399972"/>
                </a:cubicBezTo>
                <a:cubicBezTo>
                  <a:pt x="2955337" y="6394946"/>
                  <a:pt x="2250713" y="6211452"/>
                  <a:pt x="1300034" y="5884178"/>
                </a:cubicBezTo>
                <a:cubicBezTo>
                  <a:pt x="904856" y="5615219"/>
                  <a:pt x="554416" y="5336740"/>
                  <a:pt x="248715" y="5048740"/>
                </a:cubicBezTo>
                <a:lnTo>
                  <a:pt x="0" y="4799696"/>
                </a:ln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ABFCE149-DAAC-4DA1-956F-E9856C3D5E83}"/>
              </a:ext>
            </a:extLst>
          </p:cNvPr>
          <p:cNvSpPr>
            <a:spLocks noGrp="1"/>
          </p:cNvSpPr>
          <p:nvPr>
            <p:ph type="title"/>
          </p:nvPr>
        </p:nvSpPr>
        <p:spPr>
          <a:xfrm>
            <a:off x="720000" y="720000"/>
            <a:ext cx="5015638" cy="3136192"/>
          </a:xfrm>
        </p:spPr>
        <p:txBody>
          <a:bodyPr vert="horz" wrap="square" lIns="0" tIns="0" rIns="0" bIns="0" rtlCol="0" anchor="ctr" anchorCtr="0">
            <a:normAutofit/>
          </a:bodyPr>
          <a:lstStyle/>
          <a:p>
            <a:pPr algn="ctr"/>
            <a:r>
              <a:rPr lang="en-US" sz="5600" spc="-100"/>
              <a:t>Définition</a:t>
            </a:r>
          </a:p>
        </p:txBody>
      </p:sp>
      <p:grpSp>
        <p:nvGrpSpPr>
          <p:cNvPr id="18" name="Group 17">
            <a:extLst>
              <a:ext uri="{FF2B5EF4-FFF2-40B4-BE49-F238E27FC236}">
                <a16:creationId xmlns:a16="http://schemas.microsoft.com/office/drawing/2014/main" id="{58CE1DD1-65E2-46E3-8E5D-3D9551ADC0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435063" y="1460855"/>
            <a:ext cx="4904299" cy="5511445"/>
            <a:chOff x="6435063" y="1460855"/>
            <a:chExt cx="4904299" cy="5511445"/>
          </a:xfrm>
        </p:grpSpPr>
        <p:sp>
          <p:nvSpPr>
            <p:cNvPr id="19" name="Freeform 79">
              <a:extLst>
                <a:ext uri="{FF2B5EF4-FFF2-40B4-BE49-F238E27FC236}">
                  <a16:creationId xmlns:a16="http://schemas.microsoft.com/office/drawing/2014/main" id="{BA46EBEE-EDAC-420B-8980-1CC96D332A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0671651" y="5894855"/>
              <a:ext cx="667711" cy="1077445"/>
            </a:xfrm>
            <a:custGeom>
              <a:avLst/>
              <a:gdLst>
                <a:gd name="T0" fmla="*/ 15 w 49"/>
                <a:gd name="T1" fmla="*/ 65 h 79"/>
                <a:gd name="T2" fmla="*/ 12 w 49"/>
                <a:gd name="T3" fmla="*/ 54 h 79"/>
                <a:gd name="T4" fmla="*/ 8 w 49"/>
                <a:gd name="T5" fmla="*/ 33 h 79"/>
                <a:gd name="T6" fmla="*/ 38 w 49"/>
                <a:gd name="T7" fmla="*/ 24 h 79"/>
                <a:gd name="T8" fmla="*/ 45 w 49"/>
                <a:gd name="T9" fmla="*/ 70 h 79"/>
                <a:gd name="T10" fmla="*/ 15 w 49"/>
                <a:gd name="T11" fmla="*/ 65 h 79"/>
              </a:gdLst>
              <a:ahLst/>
              <a:cxnLst>
                <a:cxn ang="0">
                  <a:pos x="T0" y="T1"/>
                </a:cxn>
                <a:cxn ang="0">
                  <a:pos x="T2" y="T3"/>
                </a:cxn>
                <a:cxn ang="0">
                  <a:pos x="T4" y="T5"/>
                </a:cxn>
                <a:cxn ang="0">
                  <a:pos x="T6" y="T7"/>
                </a:cxn>
                <a:cxn ang="0">
                  <a:pos x="T8" y="T9"/>
                </a:cxn>
                <a:cxn ang="0">
                  <a:pos x="T10" y="T11"/>
                </a:cxn>
              </a:cxnLst>
              <a:rect l="0" t="0" r="r" b="b"/>
              <a:pathLst>
                <a:path w="49" h="79">
                  <a:moveTo>
                    <a:pt x="15" y="65"/>
                  </a:moveTo>
                  <a:cubicBezTo>
                    <a:pt x="14" y="59"/>
                    <a:pt x="13" y="58"/>
                    <a:pt x="12" y="54"/>
                  </a:cubicBezTo>
                  <a:cubicBezTo>
                    <a:pt x="11" y="45"/>
                    <a:pt x="10" y="40"/>
                    <a:pt x="8" y="33"/>
                  </a:cubicBezTo>
                  <a:cubicBezTo>
                    <a:pt x="0" y="9"/>
                    <a:pt x="34" y="0"/>
                    <a:pt x="38" y="24"/>
                  </a:cubicBezTo>
                  <a:cubicBezTo>
                    <a:pt x="43" y="43"/>
                    <a:pt x="49" y="60"/>
                    <a:pt x="45" y="70"/>
                  </a:cubicBezTo>
                  <a:cubicBezTo>
                    <a:pt x="38" y="77"/>
                    <a:pt x="19" y="79"/>
                    <a:pt x="15" y="6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accent3"/>
                </a:solidFill>
              </a:endParaRPr>
            </a:p>
          </p:txBody>
        </p:sp>
        <p:sp>
          <p:nvSpPr>
            <p:cNvPr id="20" name="Freeform 80">
              <a:extLst>
                <a:ext uri="{FF2B5EF4-FFF2-40B4-BE49-F238E27FC236}">
                  <a16:creationId xmlns:a16="http://schemas.microsoft.com/office/drawing/2014/main" id="{77940BD3-2762-48F7-9EED-0890C00B163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6435063" y="3856192"/>
              <a:ext cx="895341" cy="460318"/>
            </a:xfrm>
            <a:custGeom>
              <a:avLst/>
              <a:gdLst>
                <a:gd name="T0" fmla="*/ 53 w 66"/>
                <a:gd name="T1" fmla="*/ 33 h 34"/>
                <a:gd name="T2" fmla="*/ 39 w 66"/>
                <a:gd name="T3" fmla="*/ 33 h 34"/>
                <a:gd name="T4" fmla="*/ 21 w 66"/>
                <a:gd name="T5" fmla="*/ 33 h 34"/>
                <a:gd name="T6" fmla="*/ 12 w 66"/>
                <a:gd name="T7" fmla="*/ 32 h 34"/>
                <a:gd name="T8" fmla="*/ 3 w 66"/>
                <a:gd name="T9" fmla="*/ 28 h 34"/>
                <a:gd name="T10" fmla="*/ 0 w 66"/>
                <a:gd name="T11" fmla="*/ 21 h 34"/>
                <a:gd name="T12" fmla="*/ 0 w 66"/>
                <a:gd name="T13" fmla="*/ 16 h 34"/>
                <a:gd name="T14" fmla="*/ 3 w 66"/>
                <a:gd name="T15" fmla="*/ 7 h 34"/>
                <a:gd name="T16" fmla="*/ 11 w 66"/>
                <a:gd name="T17" fmla="*/ 3 h 34"/>
                <a:gd name="T18" fmla="*/ 23 w 66"/>
                <a:gd name="T19" fmla="*/ 2 h 34"/>
                <a:gd name="T20" fmla="*/ 43 w 66"/>
                <a:gd name="T21" fmla="*/ 0 h 34"/>
                <a:gd name="T22" fmla="*/ 48 w 66"/>
                <a:gd name="T23" fmla="*/ 0 h 34"/>
                <a:gd name="T24" fmla="*/ 62 w 66"/>
                <a:gd name="T25" fmla="*/ 4 h 34"/>
                <a:gd name="T26" fmla="*/ 66 w 66"/>
                <a:gd name="T27" fmla="*/ 13 h 34"/>
                <a:gd name="T28" fmla="*/ 66 w 66"/>
                <a:gd name="T29" fmla="*/ 20 h 34"/>
                <a:gd name="T30" fmla="*/ 62 w 66"/>
                <a:gd name="T31" fmla="*/ 29 h 34"/>
                <a:gd name="T32" fmla="*/ 53 w 66"/>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6" h="34">
                  <a:moveTo>
                    <a:pt x="53" y="33"/>
                  </a:moveTo>
                  <a:cubicBezTo>
                    <a:pt x="47" y="33"/>
                    <a:pt x="53" y="34"/>
                    <a:pt x="39" y="33"/>
                  </a:cubicBezTo>
                  <a:cubicBezTo>
                    <a:pt x="24" y="33"/>
                    <a:pt x="21" y="33"/>
                    <a:pt x="21" y="33"/>
                  </a:cubicBezTo>
                  <a:cubicBezTo>
                    <a:pt x="12" y="32"/>
                    <a:pt x="12" y="32"/>
                    <a:pt x="12" y="32"/>
                  </a:cubicBezTo>
                  <a:cubicBezTo>
                    <a:pt x="7" y="31"/>
                    <a:pt x="4" y="30"/>
                    <a:pt x="3" y="28"/>
                  </a:cubicBezTo>
                  <a:cubicBezTo>
                    <a:pt x="1" y="26"/>
                    <a:pt x="0" y="24"/>
                    <a:pt x="0" y="21"/>
                  </a:cubicBezTo>
                  <a:cubicBezTo>
                    <a:pt x="0" y="21"/>
                    <a:pt x="0" y="19"/>
                    <a:pt x="0" y="16"/>
                  </a:cubicBezTo>
                  <a:cubicBezTo>
                    <a:pt x="0" y="13"/>
                    <a:pt x="1" y="10"/>
                    <a:pt x="3" y="7"/>
                  </a:cubicBezTo>
                  <a:cubicBezTo>
                    <a:pt x="4" y="5"/>
                    <a:pt x="7" y="3"/>
                    <a:pt x="11" y="3"/>
                  </a:cubicBezTo>
                  <a:cubicBezTo>
                    <a:pt x="16" y="2"/>
                    <a:pt x="20" y="2"/>
                    <a:pt x="23" y="2"/>
                  </a:cubicBezTo>
                  <a:cubicBezTo>
                    <a:pt x="32" y="1"/>
                    <a:pt x="37" y="0"/>
                    <a:pt x="43" y="0"/>
                  </a:cubicBezTo>
                  <a:cubicBezTo>
                    <a:pt x="48" y="0"/>
                    <a:pt x="48" y="0"/>
                    <a:pt x="48" y="0"/>
                  </a:cubicBezTo>
                  <a:cubicBezTo>
                    <a:pt x="54" y="1"/>
                    <a:pt x="59" y="3"/>
                    <a:pt x="62" y="4"/>
                  </a:cubicBezTo>
                  <a:cubicBezTo>
                    <a:pt x="65" y="6"/>
                    <a:pt x="66" y="9"/>
                    <a:pt x="66" y="13"/>
                  </a:cubicBezTo>
                  <a:cubicBezTo>
                    <a:pt x="66" y="15"/>
                    <a:pt x="66" y="17"/>
                    <a:pt x="66" y="20"/>
                  </a:cubicBezTo>
                  <a:cubicBezTo>
                    <a:pt x="65" y="23"/>
                    <a:pt x="64" y="26"/>
                    <a:pt x="62" y="29"/>
                  </a:cubicBezTo>
                  <a:cubicBezTo>
                    <a:pt x="60" y="31"/>
                    <a:pt x="57" y="32"/>
                    <a:pt x="53" y="3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accent3"/>
                </a:solidFill>
              </a:endParaRPr>
            </a:p>
          </p:txBody>
        </p:sp>
        <p:sp>
          <p:nvSpPr>
            <p:cNvPr id="21" name="Freeform 82">
              <a:extLst>
                <a:ext uri="{FF2B5EF4-FFF2-40B4-BE49-F238E27FC236}">
                  <a16:creationId xmlns:a16="http://schemas.microsoft.com/office/drawing/2014/main" id="{9A8D39D2-38DC-4485-99D4-ED78E34368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0755114" y="1460855"/>
              <a:ext cx="500784" cy="910515"/>
            </a:xfrm>
            <a:custGeom>
              <a:avLst/>
              <a:gdLst>
                <a:gd name="T0" fmla="*/ 3 w 37"/>
                <a:gd name="T1" fmla="*/ 28 h 67"/>
                <a:gd name="T2" fmla="*/ 4 w 37"/>
                <a:gd name="T3" fmla="*/ 19 h 67"/>
                <a:gd name="T4" fmla="*/ 5 w 37"/>
                <a:gd name="T5" fmla="*/ 12 h 67"/>
                <a:gd name="T6" fmla="*/ 13 w 37"/>
                <a:gd name="T7" fmla="*/ 1 h 67"/>
                <a:gd name="T8" fmla="*/ 25 w 37"/>
                <a:gd name="T9" fmla="*/ 1 h 67"/>
                <a:gd name="T10" fmla="*/ 35 w 37"/>
                <a:gd name="T11" fmla="*/ 7 h 67"/>
                <a:gd name="T12" fmla="*/ 33 w 37"/>
                <a:gd name="T13" fmla="*/ 47 h 67"/>
                <a:gd name="T14" fmla="*/ 24 w 37"/>
                <a:gd name="T15" fmla="*/ 65 h 67"/>
                <a:gd name="T16" fmla="*/ 13 w 37"/>
                <a:gd name="T17" fmla="*/ 66 h 67"/>
                <a:gd name="T18" fmla="*/ 2 w 37"/>
                <a:gd name="T19" fmla="*/ 60 h 67"/>
                <a:gd name="T20" fmla="*/ 1 w 37"/>
                <a:gd name="T21" fmla="*/ 48 h 67"/>
                <a:gd name="T22" fmla="*/ 3 w 37"/>
                <a:gd name="T23" fmla="*/ 28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67">
                  <a:moveTo>
                    <a:pt x="3" y="28"/>
                  </a:moveTo>
                  <a:cubicBezTo>
                    <a:pt x="3" y="25"/>
                    <a:pt x="4" y="20"/>
                    <a:pt x="4" y="19"/>
                  </a:cubicBezTo>
                  <a:cubicBezTo>
                    <a:pt x="5" y="12"/>
                    <a:pt x="5" y="12"/>
                    <a:pt x="5" y="12"/>
                  </a:cubicBezTo>
                  <a:cubicBezTo>
                    <a:pt x="7" y="6"/>
                    <a:pt x="10" y="3"/>
                    <a:pt x="13" y="1"/>
                  </a:cubicBezTo>
                  <a:cubicBezTo>
                    <a:pt x="16" y="0"/>
                    <a:pt x="20" y="0"/>
                    <a:pt x="25" y="1"/>
                  </a:cubicBezTo>
                  <a:cubicBezTo>
                    <a:pt x="30" y="2"/>
                    <a:pt x="34" y="4"/>
                    <a:pt x="35" y="7"/>
                  </a:cubicBezTo>
                  <a:cubicBezTo>
                    <a:pt x="37" y="11"/>
                    <a:pt x="33" y="43"/>
                    <a:pt x="33" y="47"/>
                  </a:cubicBezTo>
                  <a:cubicBezTo>
                    <a:pt x="32" y="57"/>
                    <a:pt x="30" y="63"/>
                    <a:pt x="24" y="65"/>
                  </a:cubicBezTo>
                  <a:cubicBezTo>
                    <a:pt x="21" y="67"/>
                    <a:pt x="17" y="67"/>
                    <a:pt x="13" y="66"/>
                  </a:cubicBezTo>
                  <a:cubicBezTo>
                    <a:pt x="8" y="66"/>
                    <a:pt x="4" y="64"/>
                    <a:pt x="2" y="60"/>
                  </a:cubicBezTo>
                  <a:cubicBezTo>
                    <a:pt x="1" y="57"/>
                    <a:pt x="0" y="53"/>
                    <a:pt x="1" y="48"/>
                  </a:cubicBezTo>
                  <a:cubicBezTo>
                    <a:pt x="1" y="48"/>
                    <a:pt x="3" y="30"/>
                    <a:pt x="3" y="2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accent3"/>
                </a:solidFill>
              </a:endParaRPr>
            </a:p>
          </p:txBody>
        </p:sp>
        <p:sp>
          <p:nvSpPr>
            <p:cNvPr id="22" name="Freeform 83">
              <a:extLst>
                <a:ext uri="{FF2B5EF4-FFF2-40B4-BE49-F238E27FC236}">
                  <a16:creationId xmlns:a16="http://schemas.microsoft.com/office/drawing/2014/main" id="{6D44268A-9D5E-4A1A-B4F8-95251A18ACB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8963820" y="1482445"/>
              <a:ext cx="515958" cy="910515"/>
            </a:xfrm>
            <a:custGeom>
              <a:avLst/>
              <a:gdLst>
                <a:gd name="T0" fmla="*/ 36 w 38"/>
                <a:gd name="T1" fmla="*/ 58 h 67"/>
                <a:gd name="T2" fmla="*/ 33 w 38"/>
                <a:gd name="T3" fmla="*/ 63 h 67"/>
                <a:gd name="T4" fmla="*/ 27 w 38"/>
                <a:gd name="T5" fmla="*/ 65 h 67"/>
                <a:gd name="T6" fmla="*/ 24 w 38"/>
                <a:gd name="T7" fmla="*/ 66 h 67"/>
                <a:gd name="T8" fmla="*/ 16 w 38"/>
                <a:gd name="T9" fmla="*/ 65 h 67"/>
                <a:gd name="T10" fmla="*/ 9 w 38"/>
                <a:gd name="T11" fmla="*/ 59 h 67"/>
                <a:gd name="T12" fmla="*/ 6 w 38"/>
                <a:gd name="T13" fmla="*/ 48 h 67"/>
                <a:gd name="T14" fmla="*/ 5 w 38"/>
                <a:gd name="T15" fmla="*/ 37 h 67"/>
                <a:gd name="T16" fmla="*/ 2 w 38"/>
                <a:gd name="T17" fmla="*/ 22 h 67"/>
                <a:gd name="T18" fmla="*/ 1 w 38"/>
                <a:gd name="T19" fmla="*/ 9 h 67"/>
                <a:gd name="T20" fmla="*/ 13 w 38"/>
                <a:gd name="T21" fmla="*/ 1 h 67"/>
                <a:gd name="T22" fmla="*/ 23 w 38"/>
                <a:gd name="T23" fmla="*/ 2 h 67"/>
                <a:gd name="T24" fmla="*/ 28 w 38"/>
                <a:gd name="T25" fmla="*/ 6 h 67"/>
                <a:gd name="T26" fmla="*/ 32 w 38"/>
                <a:gd name="T27" fmla="*/ 14 h 67"/>
                <a:gd name="T28" fmla="*/ 37 w 38"/>
                <a:gd name="T29" fmla="*/ 46 h 67"/>
                <a:gd name="T30" fmla="*/ 36 w 38"/>
                <a:gd name="T31" fmla="*/ 58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8" h="67">
                  <a:moveTo>
                    <a:pt x="36" y="58"/>
                  </a:moveTo>
                  <a:cubicBezTo>
                    <a:pt x="35" y="60"/>
                    <a:pt x="34" y="62"/>
                    <a:pt x="33" y="63"/>
                  </a:cubicBezTo>
                  <a:cubicBezTo>
                    <a:pt x="31" y="64"/>
                    <a:pt x="29" y="64"/>
                    <a:pt x="27" y="65"/>
                  </a:cubicBezTo>
                  <a:cubicBezTo>
                    <a:pt x="26" y="65"/>
                    <a:pt x="25" y="66"/>
                    <a:pt x="24" y="66"/>
                  </a:cubicBezTo>
                  <a:cubicBezTo>
                    <a:pt x="21" y="67"/>
                    <a:pt x="18" y="67"/>
                    <a:pt x="16" y="65"/>
                  </a:cubicBezTo>
                  <a:cubicBezTo>
                    <a:pt x="13" y="64"/>
                    <a:pt x="11" y="62"/>
                    <a:pt x="9" y="59"/>
                  </a:cubicBezTo>
                  <a:cubicBezTo>
                    <a:pt x="7" y="56"/>
                    <a:pt x="6" y="52"/>
                    <a:pt x="6" y="48"/>
                  </a:cubicBezTo>
                  <a:cubicBezTo>
                    <a:pt x="5" y="37"/>
                    <a:pt x="5" y="37"/>
                    <a:pt x="5" y="37"/>
                  </a:cubicBezTo>
                  <a:cubicBezTo>
                    <a:pt x="2" y="22"/>
                    <a:pt x="2" y="22"/>
                    <a:pt x="2" y="22"/>
                  </a:cubicBezTo>
                  <a:cubicBezTo>
                    <a:pt x="0" y="16"/>
                    <a:pt x="0" y="12"/>
                    <a:pt x="1" y="9"/>
                  </a:cubicBezTo>
                  <a:cubicBezTo>
                    <a:pt x="3" y="5"/>
                    <a:pt x="7" y="1"/>
                    <a:pt x="13" y="1"/>
                  </a:cubicBezTo>
                  <a:cubicBezTo>
                    <a:pt x="18" y="0"/>
                    <a:pt x="21" y="2"/>
                    <a:pt x="23" y="2"/>
                  </a:cubicBezTo>
                  <a:cubicBezTo>
                    <a:pt x="25" y="3"/>
                    <a:pt x="26" y="4"/>
                    <a:pt x="28" y="6"/>
                  </a:cubicBezTo>
                  <a:cubicBezTo>
                    <a:pt x="29" y="8"/>
                    <a:pt x="30" y="10"/>
                    <a:pt x="32" y="14"/>
                  </a:cubicBezTo>
                  <a:cubicBezTo>
                    <a:pt x="33" y="18"/>
                    <a:pt x="37" y="46"/>
                    <a:pt x="37" y="46"/>
                  </a:cubicBezTo>
                  <a:cubicBezTo>
                    <a:pt x="38" y="52"/>
                    <a:pt x="37" y="56"/>
                    <a:pt x="36" y="5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accent3"/>
                </a:solidFill>
              </a:endParaRPr>
            </a:p>
          </p:txBody>
        </p:sp>
        <p:sp>
          <p:nvSpPr>
            <p:cNvPr id="23" name="Freeform 84">
              <a:extLst>
                <a:ext uri="{FF2B5EF4-FFF2-40B4-BE49-F238E27FC236}">
                  <a16:creationId xmlns:a16="http://schemas.microsoft.com/office/drawing/2014/main" id="{F0E273A2-7C37-438A-A4F5-7864B2DD2C7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7185417" y="5361771"/>
              <a:ext cx="773940" cy="814407"/>
            </a:xfrm>
            <a:custGeom>
              <a:avLst/>
              <a:gdLst>
                <a:gd name="T0" fmla="*/ 4 w 57"/>
                <a:gd name="T1" fmla="*/ 34 h 60"/>
                <a:gd name="T2" fmla="*/ 17 w 57"/>
                <a:gd name="T3" fmla="*/ 18 h 60"/>
                <a:gd name="T4" fmla="*/ 26 w 57"/>
                <a:gd name="T5" fmla="*/ 8 h 60"/>
                <a:gd name="T6" fmla="*/ 29 w 57"/>
                <a:gd name="T7" fmla="*/ 5 h 60"/>
                <a:gd name="T8" fmla="*/ 41 w 57"/>
                <a:gd name="T9" fmla="*/ 0 h 60"/>
                <a:gd name="T10" fmla="*/ 51 w 57"/>
                <a:gd name="T11" fmla="*/ 6 h 60"/>
                <a:gd name="T12" fmla="*/ 56 w 57"/>
                <a:gd name="T13" fmla="*/ 16 h 60"/>
                <a:gd name="T14" fmla="*/ 51 w 57"/>
                <a:gd name="T15" fmla="*/ 28 h 60"/>
                <a:gd name="T16" fmla="*/ 29 w 57"/>
                <a:gd name="T17" fmla="*/ 53 h 60"/>
                <a:gd name="T18" fmla="*/ 17 w 57"/>
                <a:gd name="T19" fmla="*/ 59 h 60"/>
                <a:gd name="T20" fmla="*/ 5 w 57"/>
                <a:gd name="T21" fmla="*/ 54 h 60"/>
                <a:gd name="T22" fmla="*/ 0 w 57"/>
                <a:gd name="T23" fmla="*/ 45 h 60"/>
                <a:gd name="T24" fmla="*/ 4 w 57"/>
                <a:gd name="T25"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 h="60">
                  <a:moveTo>
                    <a:pt x="4" y="34"/>
                  </a:moveTo>
                  <a:cubicBezTo>
                    <a:pt x="5" y="33"/>
                    <a:pt x="17" y="18"/>
                    <a:pt x="17" y="18"/>
                  </a:cubicBezTo>
                  <a:cubicBezTo>
                    <a:pt x="21" y="14"/>
                    <a:pt x="24" y="10"/>
                    <a:pt x="26" y="8"/>
                  </a:cubicBezTo>
                  <a:cubicBezTo>
                    <a:pt x="29" y="5"/>
                    <a:pt x="29" y="5"/>
                    <a:pt x="29" y="5"/>
                  </a:cubicBezTo>
                  <a:cubicBezTo>
                    <a:pt x="34" y="2"/>
                    <a:pt x="38" y="0"/>
                    <a:pt x="41" y="0"/>
                  </a:cubicBezTo>
                  <a:cubicBezTo>
                    <a:pt x="44" y="1"/>
                    <a:pt x="47" y="2"/>
                    <a:pt x="51" y="6"/>
                  </a:cubicBezTo>
                  <a:cubicBezTo>
                    <a:pt x="55" y="10"/>
                    <a:pt x="57" y="13"/>
                    <a:pt x="56" y="16"/>
                  </a:cubicBezTo>
                  <a:cubicBezTo>
                    <a:pt x="56" y="19"/>
                    <a:pt x="54" y="23"/>
                    <a:pt x="51" y="28"/>
                  </a:cubicBezTo>
                  <a:cubicBezTo>
                    <a:pt x="51" y="28"/>
                    <a:pt x="33" y="48"/>
                    <a:pt x="29" y="53"/>
                  </a:cubicBezTo>
                  <a:cubicBezTo>
                    <a:pt x="25" y="57"/>
                    <a:pt x="21" y="59"/>
                    <a:pt x="17" y="59"/>
                  </a:cubicBezTo>
                  <a:cubicBezTo>
                    <a:pt x="13" y="60"/>
                    <a:pt x="9" y="58"/>
                    <a:pt x="5" y="54"/>
                  </a:cubicBezTo>
                  <a:cubicBezTo>
                    <a:pt x="2" y="51"/>
                    <a:pt x="0" y="48"/>
                    <a:pt x="0" y="45"/>
                  </a:cubicBezTo>
                  <a:cubicBezTo>
                    <a:pt x="0" y="42"/>
                    <a:pt x="2" y="38"/>
                    <a:pt x="4" y="3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accent3"/>
                </a:solidFill>
              </a:endParaRPr>
            </a:p>
          </p:txBody>
        </p:sp>
        <p:sp>
          <p:nvSpPr>
            <p:cNvPr id="24" name="Freeform 85">
              <a:extLst>
                <a:ext uri="{FF2B5EF4-FFF2-40B4-BE49-F238E27FC236}">
                  <a16:creationId xmlns:a16="http://schemas.microsoft.com/office/drawing/2014/main" id="{9C5A859B-CCA2-4744-9DFE-B734A9AEE4C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8879512" y="5973150"/>
              <a:ext cx="485608" cy="885225"/>
            </a:xfrm>
            <a:custGeom>
              <a:avLst/>
              <a:gdLst>
                <a:gd name="T0" fmla="*/ 36 w 36"/>
                <a:gd name="T1" fmla="*/ 15 h 65"/>
                <a:gd name="T2" fmla="*/ 34 w 36"/>
                <a:gd name="T3" fmla="*/ 5 h 65"/>
                <a:gd name="T4" fmla="*/ 28 w 36"/>
                <a:gd name="T5" fmla="*/ 1 h 65"/>
                <a:gd name="T6" fmla="*/ 23 w 36"/>
                <a:gd name="T7" fmla="*/ 0 h 65"/>
                <a:gd name="T8" fmla="*/ 13 w 36"/>
                <a:gd name="T9" fmla="*/ 1 h 65"/>
                <a:gd name="T10" fmla="*/ 7 w 36"/>
                <a:gd name="T11" fmla="*/ 9 h 65"/>
                <a:gd name="T12" fmla="*/ 4 w 36"/>
                <a:gd name="T13" fmla="*/ 19 h 65"/>
                <a:gd name="T14" fmla="*/ 0 w 36"/>
                <a:gd name="T15" fmla="*/ 44 h 65"/>
                <a:gd name="T16" fmla="*/ 1 w 36"/>
                <a:gd name="T17" fmla="*/ 58 h 65"/>
                <a:gd name="T18" fmla="*/ 8 w 36"/>
                <a:gd name="T19" fmla="*/ 64 h 65"/>
                <a:gd name="T20" fmla="*/ 16 w 36"/>
                <a:gd name="T21" fmla="*/ 65 h 65"/>
                <a:gd name="T22" fmla="*/ 25 w 36"/>
                <a:gd name="T23" fmla="*/ 63 h 65"/>
                <a:gd name="T24" fmla="*/ 31 w 36"/>
                <a:gd name="T25" fmla="*/ 55 h 65"/>
                <a:gd name="T26" fmla="*/ 34 w 36"/>
                <a:gd name="T27" fmla="*/ 40 h 65"/>
                <a:gd name="T28" fmla="*/ 36 w 36"/>
                <a:gd name="T29" fmla="*/ 15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6" h="65">
                  <a:moveTo>
                    <a:pt x="36" y="15"/>
                  </a:moveTo>
                  <a:cubicBezTo>
                    <a:pt x="36" y="10"/>
                    <a:pt x="35" y="7"/>
                    <a:pt x="34" y="5"/>
                  </a:cubicBezTo>
                  <a:cubicBezTo>
                    <a:pt x="33" y="3"/>
                    <a:pt x="31" y="2"/>
                    <a:pt x="28" y="1"/>
                  </a:cubicBezTo>
                  <a:cubicBezTo>
                    <a:pt x="27" y="1"/>
                    <a:pt x="25" y="1"/>
                    <a:pt x="23" y="0"/>
                  </a:cubicBezTo>
                  <a:cubicBezTo>
                    <a:pt x="19" y="0"/>
                    <a:pt x="16" y="0"/>
                    <a:pt x="13" y="1"/>
                  </a:cubicBezTo>
                  <a:cubicBezTo>
                    <a:pt x="11" y="2"/>
                    <a:pt x="9" y="4"/>
                    <a:pt x="7" y="9"/>
                  </a:cubicBezTo>
                  <a:cubicBezTo>
                    <a:pt x="6" y="13"/>
                    <a:pt x="5" y="17"/>
                    <a:pt x="4" y="19"/>
                  </a:cubicBezTo>
                  <a:cubicBezTo>
                    <a:pt x="2" y="29"/>
                    <a:pt x="0" y="44"/>
                    <a:pt x="0" y="44"/>
                  </a:cubicBezTo>
                  <a:cubicBezTo>
                    <a:pt x="0" y="50"/>
                    <a:pt x="0" y="55"/>
                    <a:pt x="1" y="58"/>
                  </a:cubicBezTo>
                  <a:cubicBezTo>
                    <a:pt x="2" y="61"/>
                    <a:pt x="5" y="63"/>
                    <a:pt x="8" y="64"/>
                  </a:cubicBezTo>
                  <a:cubicBezTo>
                    <a:pt x="11" y="65"/>
                    <a:pt x="13" y="65"/>
                    <a:pt x="16" y="65"/>
                  </a:cubicBezTo>
                  <a:cubicBezTo>
                    <a:pt x="19" y="65"/>
                    <a:pt x="22" y="64"/>
                    <a:pt x="25" y="63"/>
                  </a:cubicBezTo>
                  <a:cubicBezTo>
                    <a:pt x="28" y="61"/>
                    <a:pt x="30" y="59"/>
                    <a:pt x="31" y="55"/>
                  </a:cubicBezTo>
                  <a:cubicBezTo>
                    <a:pt x="32" y="50"/>
                    <a:pt x="31" y="54"/>
                    <a:pt x="34" y="40"/>
                  </a:cubicBezTo>
                  <a:lnTo>
                    <a:pt x="36" y="1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accent3"/>
                </a:solidFill>
              </a:endParaRPr>
            </a:p>
          </p:txBody>
        </p:sp>
        <p:sp>
          <p:nvSpPr>
            <p:cNvPr id="25" name="Freeform 87">
              <a:extLst>
                <a:ext uri="{FF2B5EF4-FFF2-40B4-BE49-F238E27FC236}">
                  <a16:creationId xmlns:a16="http://schemas.microsoft.com/office/drawing/2014/main" id="{F941723D-F68C-46C9-9763-281E9A4D239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7232755" y="2056731"/>
              <a:ext cx="748646" cy="804290"/>
            </a:xfrm>
            <a:custGeom>
              <a:avLst/>
              <a:gdLst>
                <a:gd name="T0" fmla="*/ 0 w 55"/>
                <a:gd name="T1" fmla="*/ 17 h 59"/>
                <a:gd name="T2" fmla="*/ 1 w 55"/>
                <a:gd name="T3" fmla="*/ 11 h 59"/>
                <a:gd name="T4" fmla="*/ 4 w 55"/>
                <a:gd name="T5" fmla="*/ 6 h 59"/>
                <a:gd name="T6" fmla="*/ 7 w 55"/>
                <a:gd name="T7" fmla="*/ 4 h 59"/>
                <a:gd name="T8" fmla="*/ 14 w 55"/>
                <a:gd name="T9" fmla="*/ 0 h 59"/>
                <a:gd name="T10" fmla="*/ 23 w 55"/>
                <a:gd name="T11" fmla="*/ 3 h 59"/>
                <a:gd name="T12" fmla="*/ 31 w 55"/>
                <a:gd name="T13" fmla="*/ 11 h 59"/>
                <a:gd name="T14" fmla="*/ 38 w 55"/>
                <a:gd name="T15" fmla="*/ 20 h 59"/>
                <a:gd name="T16" fmla="*/ 48 w 55"/>
                <a:gd name="T17" fmla="*/ 31 h 59"/>
                <a:gd name="T18" fmla="*/ 55 w 55"/>
                <a:gd name="T19" fmla="*/ 43 h 59"/>
                <a:gd name="T20" fmla="*/ 49 w 55"/>
                <a:gd name="T21" fmla="*/ 55 h 59"/>
                <a:gd name="T22" fmla="*/ 38 w 55"/>
                <a:gd name="T23" fmla="*/ 59 h 59"/>
                <a:gd name="T24" fmla="*/ 33 w 55"/>
                <a:gd name="T25" fmla="*/ 58 h 59"/>
                <a:gd name="T26" fmla="*/ 26 w 55"/>
                <a:gd name="T27" fmla="*/ 53 h 59"/>
                <a:gd name="T28" fmla="*/ 5 w 55"/>
                <a:gd name="T29" fmla="*/ 27 h 59"/>
                <a:gd name="T30" fmla="*/ 0 w 55"/>
                <a:gd name="T31" fmla="*/ 17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5" h="59">
                  <a:moveTo>
                    <a:pt x="0" y="17"/>
                  </a:moveTo>
                  <a:cubicBezTo>
                    <a:pt x="0" y="14"/>
                    <a:pt x="0" y="12"/>
                    <a:pt x="1" y="11"/>
                  </a:cubicBezTo>
                  <a:cubicBezTo>
                    <a:pt x="2" y="9"/>
                    <a:pt x="3" y="8"/>
                    <a:pt x="4" y="6"/>
                  </a:cubicBezTo>
                  <a:cubicBezTo>
                    <a:pt x="6" y="5"/>
                    <a:pt x="7" y="4"/>
                    <a:pt x="7" y="4"/>
                  </a:cubicBezTo>
                  <a:cubicBezTo>
                    <a:pt x="9" y="2"/>
                    <a:pt x="12" y="1"/>
                    <a:pt x="14" y="0"/>
                  </a:cubicBezTo>
                  <a:cubicBezTo>
                    <a:pt x="17" y="0"/>
                    <a:pt x="20" y="1"/>
                    <a:pt x="23" y="3"/>
                  </a:cubicBezTo>
                  <a:cubicBezTo>
                    <a:pt x="26" y="4"/>
                    <a:pt x="29" y="7"/>
                    <a:pt x="31" y="11"/>
                  </a:cubicBezTo>
                  <a:cubicBezTo>
                    <a:pt x="38" y="20"/>
                    <a:pt x="38" y="20"/>
                    <a:pt x="38" y="20"/>
                  </a:cubicBezTo>
                  <a:cubicBezTo>
                    <a:pt x="48" y="31"/>
                    <a:pt x="48" y="31"/>
                    <a:pt x="48" y="31"/>
                  </a:cubicBezTo>
                  <a:cubicBezTo>
                    <a:pt x="52" y="36"/>
                    <a:pt x="54" y="40"/>
                    <a:pt x="55" y="43"/>
                  </a:cubicBezTo>
                  <a:cubicBezTo>
                    <a:pt x="55" y="47"/>
                    <a:pt x="54" y="52"/>
                    <a:pt x="49" y="55"/>
                  </a:cubicBezTo>
                  <a:cubicBezTo>
                    <a:pt x="45" y="58"/>
                    <a:pt x="41" y="59"/>
                    <a:pt x="38" y="59"/>
                  </a:cubicBezTo>
                  <a:cubicBezTo>
                    <a:pt x="37" y="59"/>
                    <a:pt x="35" y="59"/>
                    <a:pt x="33" y="58"/>
                  </a:cubicBezTo>
                  <a:cubicBezTo>
                    <a:pt x="31" y="57"/>
                    <a:pt x="29" y="55"/>
                    <a:pt x="26" y="53"/>
                  </a:cubicBezTo>
                  <a:cubicBezTo>
                    <a:pt x="23" y="50"/>
                    <a:pt x="5" y="27"/>
                    <a:pt x="5" y="27"/>
                  </a:cubicBezTo>
                  <a:cubicBezTo>
                    <a:pt x="2" y="23"/>
                    <a:pt x="0" y="19"/>
                    <a:pt x="0" y="1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accent3"/>
                </a:solidFill>
              </a:endParaRPr>
            </a:p>
          </p:txBody>
        </p:sp>
      </p:grpSp>
      <p:sp>
        <p:nvSpPr>
          <p:cNvPr id="3" name="Espace réservé du contenu 2">
            <a:extLst>
              <a:ext uri="{FF2B5EF4-FFF2-40B4-BE49-F238E27FC236}">
                <a16:creationId xmlns:a16="http://schemas.microsoft.com/office/drawing/2014/main" id="{D3E1B9EB-3103-403E-ACFA-8E66BBEAF0AC}"/>
              </a:ext>
            </a:extLst>
          </p:cNvPr>
          <p:cNvSpPr>
            <a:spLocks noGrp="1"/>
          </p:cNvSpPr>
          <p:nvPr>
            <p:ph idx="1"/>
          </p:nvPr>
        </p:nvSpPr>
        <p:spPr>
          <a:xfrm>
            <a:off x="8364537" y="2636838"/>
            <a:ext cx="3107463" cy="3132137"/>
          </a:xfrm>
        </p:spPr>
        <p:txBody>
          <a:bodyPr vert="horz" lIns="0" tIns="0" rIns="0" bIns="0" rtlCol="0" anchor="ctr">
            <a:normAutofit/>
          </a:bodyPr>
          <a:lstStyle/>
          <a:p>
            <a:pPr marL="0" indent="0" algn="ctr">
              <a:buNone/>
            </a:pPr>
            <a:r>
              <a:rPr lang="en-US" sz="2800">
                <a:solidFill>
                  <a:schemeClr val="tx2">
                    <a:lumMod val="90000"/>
                  </a:schemeClr>
                </a:solidFill>
              </a:rPr>
              <a:t>Attitude de ceux qui souhaitent que les droits des femmes soient les mêmes que ceux des hommes.</a:t>
            </a:r>
          </a:p>
        </p:txBody>
      </p:sp>
    </p:spTree>
    <p:extLst>
      <p:ext uri="{BB962C8B-B14F-4D97-AF65-F5344CB8AC3E}">
        <p14:creationId xmlns:p14="http://schemas.microsoft.com/office/powerpoint/2010/main" val="96689321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2BFB0E95-9CAE-4968-A118-2B9F7C8BBB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0">
            <a:extLst>
              <a:ext uri="{FF2B5EF4-FFF2-40B4-BE49-F238E27FC236}">
                <a16:creationId xmlns:a16="http://schemas.microsoft.com/office/drawing/2014/main" id="{90BBC371-361C-45F7-9235-C3252E336B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A75FCFB-AB77-4E51-A1AA-5CEEB00F81A6}"/>
              </a:ext>
            </a:extLst>
          </p:cNvPr>
          <p:cNvSpPr>
            <a:spLocks noGrp="1"/>
          </p:cNvSpPr>
          <p:nvPr>
            <p:ph type="title"/>
          </p:nvPr>
        </p:nvSpPr>
        <p:spPr>
          <a:xfrm>
            <a:off x="720000" y="619200"/>
            <a:ext cx="10728322" cy="681586"/>
          </a:xfrm>
        </p:spPr>
        <p:txBody>
          <a:bodyPr wrap="square">
            <a:normAutofit/>
          </a:bodyPr>
          <a:lstStyle/>
          <a:p>
            <a:r>
              <a:rPr lang="fr-FR" dirty="0">
                <a:ea typeface="+mj-lt"/>
                <a:cs typeface="+mj-lt"/>
              </a:rPr>
              <a:t>Naissance d'un mot</a:t>
            </a:r>
            <a:endParaRPr lang="fr-FR" dirty="0"/>
          </a:p>
        </p:txBody>
      </p:sp>
      <p:sp useBgFill="1">
        <p:nvSpPr>
          <p:cNvPr id="8" name="Freeform: Shape 12">
            <a:extLst>
              <a:ext uri="{FF2B5EF4-FFF2-40B4-BE49-F238E27FC236}">
                <a16:creationId xmlns:a16="http://schemas.microsoft.com/office/drawing/2014/main" id="{4172FA92-6FD3-495F-95A0-4FD85861D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0" y="1734458"/>
            <a:ext cx="12191501" cy="5123544"/>
          </a:xfrm>
          <a:custGeom>
            <a:avLst/>
            <a:gdLst>
              <a:gd name="connsiteX0" fmla="*/ 9255953 w 12191501"/>
              <a:gd name="connsiteY0" fmla="*/ 0 h 4430825"/>
              <a:gd name="connsiteX1" fmla="*/ 10762189 w 12191501"/>
              <a:gd name="connsiteY1" fmla="*/ 67992 h 4430825"/>
              <a:gd name="connsiteX2" fmla="*/ 11364025 w 12191501"/>
              <a:gd name="connsiteY2" fmla="*/ 57486 h 4430825"/>
              <a:gd name="connsiteX3" fmla="*/ 12096632 w 12191501"/>
              <a:gd name="connsiteY3" fmla="*/ 44699 h 4430825"/>
              <a:gd name="connsiteX4" fmla="*/ 12191501 w 12191501"/>
              <a:gd name="connsiteY4" fmla="*/ 43042 h 4430825"/>
              <a:gd name="connsiteX5" fmla="*/ 12191501 w 12191501"/>
              <a:gd name="connsiteY5" fmla="*/ 4430825 h 4430825"/>
              <a:gd name="connsiteX6" fmla="*/ 0 w 12191501"/>
              <a:gd name="connsiteY6" fmla="*/ 4430825 h 4430825"/>
              <a:gd name="connsiteX7" fmla="*/ 10182 w 12191501"/>
              <a:gd name="connsiteY7" fmla="*/ 95053 h 4430825"/>
              <a:gd name="connsiteX8" fmla="*/ 70972 w 12191501"/>
              <a:gd name="connsiteY8" fmla="*/ 97164 h 4430825"/>
              <a:gd name="connsiteX9" fmla="*/ 1281624 w 12191501"/>
              <a:gd name="connsiteY9" fmla="*/ 139193 h 4430825"/>
              <a:gd name="connsiteX10" fmla="*/ 2485297 w 12191501"/>
              <a:gd name="connsiteY10" fmla="*/ 118183 h 4430825"/>
              <a:gd name="connsiteX11" fmla="*/ 3237591 w 12191501"/>
              <a:gd name="connsiteY11" fmla="*/ 105051 h 4430825"/>
              <a:gd name="connsiteX12" fmla="*/ 3989887 w 12191501"/>
              <a:gd name="connsiteY12" fmla="*/ 91920 h 4430825"/>
              <a:gd name="connsiteX13" fmla="*/ 9255953 w 12191501"/>
              <a:gd name="connsiteY13" fmla="*/ 0 h 443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501" h="4430825">
                <a:moveTo>
                  <a:pt x="9255953" y="0"/>
                </a:moveTo>
                <a:cubicBezTo>
                  <a:pt x="10762189" y="67992"/>
                  <a:pt x="10762189" y="67992"/>
                  <a:pt x="10762189" y="67992"/>
                </a:cubicBezTo>
                <a:cubicBezTo>
                  <a:pt x="11364025" y="57486"/>
                  <a:pt x="11364025" y="57486"/>
                  <a:pt x="11364025" y="57486"/>
                </a:cubicBezTo>
                <a:cubicBezTo>
                  <a:pt x="11589714" y="53547"/>
                  <a:pt x="11836561" y="49238"/>
                  <a:pt x="12096632" y="44699"/>
                </a:cubicBezTo>
                <a:lnTo>
                  <a:pt x="12191501" y="43042"/>
                </a:lnTo>
                <a:lnTo>
                  <a:pt x="12191501" y="4430825"/>
                </a:lnTo>
                <a:lnTo>
                  <a:pt x="0" y="4430825"/>
                </a:lnTo>
                <a:lnTo>
                  <a:pt x="10182" y="95053"/>
                </a:lnTo>
                <a:lnTo>
                  <a:pt x="70972" y="97164"/>
                </a:lnTo>
                <a:cubicBezTo>
                  <a:pt x="1281624" y="139193"/>
                  <a:pt x="1281624" y="139193"/>
                  <a:pt x="1281624" y="139193"/>
                </a:cubicBezTo>
                <a:cubicBezTo>
                  <a:pt x="2485297" y="118183"/>
                  <a:pt x="2485297" y="118183"/>
                  <a:pt x="2485297" y="118183"/>
                </a:cubicBezTo>
                <a:cubicBezTo>
                  <a:pt x="2786215" y="112930"/>
                  <a:pt x="2936672" y="110304"/>
                  <a:pt x="3237591" y="105051"/>
                </a:cubicBezTo>
                <a:cubicBezTo>
                  <a:pt x="3538508" y="99800"/>
                  <a:pt x="3839426" y="94546"/>
                  <a:pt x="3989887" y="91920"/>
                </a:cubicBezTo>
                <a:cubicBezTo>
                  <a:pt x="9255953" y="0"/>
                  <a:pt x="9255953" y="0"/>
                  <a:pt x="9255953" y="0"/>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graphicFrame>
        <p:nvGraphicFramePr>
          <p:cNvPr id="10" name="Espace réservé du contenu 2">
            <a:extLst>
              <a:ext uri="{FF2B5EF4-FFF2-40B4-BE49-F238E27FC236}">
                <a16:creationId xmlns:a16="http://schemas.microsoft.com/office/drawing/2014/main" id="{6F7D4219-DF0B-4B05-917A-3C881095AC74}"/>
              </a:ext>
            </a:extLst>
          </p:cNvPr>
          <p:cNvGraphicFramePr>
            <a:graphicFrameLocks noGrp="1"/>
          </p:cNvGraphicFramePr>
          <p:nvPr>
            <p:ph idx="1"/>
            <p:extLst>
              <p:ext uri="{D42A27DB-BD31-4B8C-83A1-F6EECF244321}">
                <p14:modId xmlns:p14="http://schemas.microsoft.com/office/powerpoint/2010/main" val="301584546"/>
              </p:ext>
            </p:extLst>
          </p:nvPr>
        </p:nvGraphicFramePr>
        <p:xfrm>
          <a:off x="720725" y="2541588"/>
          <a:ext cx="10728325" cy="35877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8248781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5ED9E2D9-EE69-4775-8CE5-9EAC35AD2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D75B673-1FA7-415E-8B2E-7A0550C8BD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B1A516CF-58ED-4ABF-A962-D7CA85FF7502}"/>
              </a:ext>
            </a:extLst>
          </p:cNvPr>
          <p:cNvSpPr>
            <a:spLocks noGrp="1"/>
          </p:cNvSpPr>
          <p:nvPr>
            <p:ph type="title"/>
          </p:nvPr>
        </p:nvSpPr>
        <p:spPr>
          <a:xfrm>
            <a:off x="6480000" y="619200"/>
            <a:ext cx="4991961" cy="1477328"/>
          </a:xfrm>
        </p:spPr>
        <p:txBody>
          <a:bodyPr vert="horz" wrap="square" lIns="0" tIns="0" rIns="0" bIns="0" rtlCol="0" anchor="ctr" anchorCtr="0">
            <a:normAutofit/>
          </a:bodyPr>
          <a:lstStyle/>
          <a:p>
            <a:r>
              <a:rPr lang="en-US"/>
              <a:t>Naissance d'un mouvement</a:t>
            </a:r>
          </a:p>
        </p:txBody>
      </p:sp>
      <p:pic>
        <p:nvPicPr>
          <p:cNvPr id="5" name="Image 5" descr="Une image contenant texte, personne&#10;&#10;Description générée automatiquement">
            <a:extLst>
              <a:ext uri="{FF2B5EF4-FFF2-40B4-BE49-F238E27FC236}">
                <a16:creationId xmlns:a16="http://schemas.microsoft.com/office/drawing/2014/main" id="{6C1F6BD3-B68E-4C38-9ABC-3C68EBE4503F}"/>
              </a:ext>
            </a:extLst>
          </p:cNvPr>
          <p:cNvPicPr>
            <a:picLocks noGrp="1" noChangeAspect="1"/>
          </p:cNvPicPr>
          <p:nvPr>
            <p:ph sz="half" idx="1"/>
          </p:nvPr>
        </p:nvPicPr>
        <p:blipFill rotWithShape="1">
          <a:blip r:embed="rId2"/>
          <a:srcRect l="1333" r="12583"/>
          <a:stretch/>
        </p:blipFill>
        <p:spPr>
          <a:xfrm>
            <a:off x="20" y="10"/>
            <a:ext cx="5903704" cy="6857990"/>
          </a:xfrm>
          <a:custGeom>
            <a:avLst/>
            <a:gdLst/>
            <a:ahLst/>
            <a:cxnLst/>
            <a:rect l="l" t="t" r="r" b="b"/>
            <a:pathLst>
              <a:path w="5903724" h="6858000">
                <a:moveTo>
                  <a:pt x="0" y="0"/>
                </a:moveTo>
                <a:lnTo>
                  <a:pt x="5886178" y="0"/>
                </a:lnTo>
                <a:lnTo>
                  <a:pt x="5890522" y="42009"/>
                </a:lnTo>
                <a:cubicBezTo>
                  <a:pt x="5948302" y="788432"/>
                  <a:pt x="5795211" y="5194623"/>
                  <a:pt x="5836720" y="6279216"/>
                </a:cubicBezTo>
                <a:cubicBezTo>
                  <a:pt x="5842686" y="6384211"/>
                  <a:pt x="5845802" y="6526851"/>
                  <a:pt x="5846540" y="6699667"/>
                </a:cubicBezTo>
                <a:lnTo>
                  <a:pt x="5846508" y="6858000"/>
                </a:lnTo>
                <a:lnTo>
                  <a:pt x="0" y="6858000"/>
                </a:lnTo>
                <a:close/>
              </a:path>
            </a:pathLst>
          </a:custGeom>
        </p:spPr>
      </p:pic>
      <p:sp>
        <p:nvSpPr>
          <p:cNvPr id="4" name="Espace réservé du contenu 3">
            <a:extLst>
              <a:ext uri="{FF2B5EF4-FFF2-40B4-BE49-F238E27FC236}">
                <a16:creationId xmlns:a16="http://schemas.microsoft.com/office/drawing/2014/main" id="{81BBB669-7346-4A66-9BA2-6D0B56D2F638}"/>
              </a:ext>
            </a:extLst>
          </p:cNvPr>
          <p:cNvSpPr>
            <a:spLocks noGrp="1"/>
          </p:cNvSpPr>
          <p:nvPr>
            <p:ph sz="half" idx="2"/>
          </p:nvPr>
        </p:nvSpPr>
        <p:spPr>
          <a:xfrm>
            <a:off x="6480000" y="2541600"/>
            <a:ext cx="4991962" cy="3216273"/>
          </a:xfrm>
        </p:spPr>
        <p:txBody>
          <a:bodyPr vert="horz" lIns="0" tIns="0" rIns="0" bIns="0" rtlCol="0" anchor="t">
            <a:normAutofit/>
          </a:bodyPr>
          <a:lstStyle/>
          <a:p>
            <a:r>
              <a:rPr lang="fr-FR" sz="2800" dirty="0"/>
              <a:t>Mary Wollstonecraft : première philosophe féministe au XVIIIe siècle.</a:t>
            </a:r>
            <a:endParaRPr lang="fr-FR" sz="2800" dirty="0">
              <a:solidFill>
                <a:srgbClr val="FFFFFF">
                  <a:alpha val="58000"/>
                </a:srgbClr>
              </a:solidFill>
            </a:endParaRPr>
          </a:p>
          <a:p>
            <a:r>
              <a:rPr lang="fr-FR" sz="2800" dirty="0"/>
              <a:t>Pamphlet: </a:t>
            </a:r>
            <a:r>
              <a:rPr lang="fr-FR" sz="2800" u="sng" dirty="0"/>
              <a:t>Défense des droits de la femme</a:t>
            </a:r>
            <a:endParaRPr lang="fr-FR" sz="2800" u="sng" dirty="0">
              <a:solidFill>
                <a:srgbClr val="FFFFFF">
                  <a:alpha val="58000"/>
                </a:srgbClr>
              </a:solidFill>
            </a:endParaRPr>
          </a:p>
          <a:p>
            <a:endParaRPr lang="fr-FR" sz="2800" dirty="0">
              <a:solidFill>
                <a:srgbClr val="FFFFFF">
                  <a:alpha val="58000"/>
                </a:srgbClr>
              </a:solidFill>
            </a:endParaRPr>
          </a:p>
          <a:p>
            <a:endParaRPr lang="fr-FR" sz="2800" dirty="0">
              <a:solidFill>
                <a:srgbClr val="FFFFFF">
                  <a:alpha val="58000"/>
                </a:srgbClr>
              </a:solidFill>
            </a:endParaRPr>
          </a:p>
          <a:p>
            <a:endParaRPr lang="fr-FR" sz="2800" dirty="0">
              <a:solidFill>
                <a:srgbClr val="FFFFFF">
                  <a:alpha val="58000"/>
                </a:srgbClr>
              </a:solidFill>
            </a:endParaRPr>
          </a:p>
        </p:txBody>
      </p:sp>
    </p:spTree>
    <p:extLst>
      <p:ext uri="{BB962C8B-B14F-4D97-AF65-F5344CB8AC3E}">
        <p14:creationId xmlns:p14="http://schemas.microsoft.com/office/powerpoint/2010/main" val="424654504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E9D6223-8D87-4038-BE74-D5224B024F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46FBF49-EC0D-4E09-A77B-DB4E8257E7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3AA13D0-BF0A-4B8F-9FD6-CAE2DCD93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9705717" cy="6858000"/>
          </a:xfrm>
          <a:custGeom>
            <a:avLst/>
            <a:gdLst>
              <a:gd name="connsiteX0" fmla="*/ 0 w 9705717"/>
              <a:gd name="connsiteY0" fmla="*/ 0 h 6858000"/>
              <a:gd name="connsiteX1" fmla="*/ 8892014 w 9705717"/>
              <a:gd name="connsiteY1" fmla="*/ 0 h 6858000"/>
              <a:gd name="connsiteX2" fmla="*/ 8948109 w 9705717"/>
              <a:gd name="connsiteY2" fmla="*/ 119185 h 6858000"/>
              <a:gd name="connsiteX3" fmla="*/ 9361712 w 9705717"/>
              <a:gd name="connsiteY3" fmla="*/ 1009060 h 6858000"/>
              <a:gd name="connsiteX4" fmla="*/ 9569814 w 9705717"/>
              <a:gd name="connsiteY4" fmla="*/ 4722415 h 6858000"/>
              <a:gd name="connsiteX5" fmla="*/ 8937785 w 9705717"/>
              <a:gd name="connsiteY5" fmla="*/ 6619105 h 6858000"/>
              <a:gd name="connsiteX6" fmla="*/ 8749280 w 9705717"/>
              <a:gd name="connsiteY6" fmla="*/ 6858000 h 6858000"/>
              <a:gd name="connsiteX7" fmla="*/ 0 w 9705717"/>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05717" h="6858000">
                <a:moveTo>
                  <a:pt x="0" y="0"/>
                </a:moveTo>
                <a:lnTo>
                  <a:pt x="8892014" y="0"/>
                </a:lnTo>
                <a:lnTo>
                  <a:pt x="8948109" y="119185"/>
                </a:lnTo>
                <a:cubicBezTo>
                  <a:pt x="9080774" y="406683"/>
                  <a:pt x="9216041" y="706568"/>
                  <a:pt x="9361712" y="1009060"/>
                </a:cubicBezTo>
                <a:cubicBezTo>
                  <a:pt x="9986018" y="2093861"/>
                  <a:pt x="9569814" y="4346908"/>
                  <a:pt x="9569814" y="4722415"/>
                </a:cubicBezTo>
                <a:cubicBezTo>
                  <a:pt x="9569814" y="5635108"/>
                  <a:pt x="9260912" y="6189243"/>
                  <a:pt x="8937785" y="6619105"/>
                </a:cubicBezTo>
                <a:lnTo>
                  <a:pt x="8749280" y="6858000"/>
                </a:lnTo>
                <a:lnTo>
                  <a:pt x="0" y="6858000"/>
                </a:lnTo>
                <a:close/>
              </a:path>
            </a:pathLst>
          </a:custGeom>
          <a:solidFill>
            <a:schemeClr val="bg2"/>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2" name="Titre 1">
            <a:extLst>
              <a:ext uri="{FF2B5EF4-FFF2-40B4-BE49-F238E27FC236}">
                <a16:creationId xmlns:a16="http://schemas.microsoft.com/office/drawing/2014/main" id="{DB4B62FC-244E-4E40-90DA-5BAE3759971B}"/>
              </a:ext>
            </a:extLst>
          </p:cNvPr>
          <p:cNvSpPr>
            <a:spLocks noGrp="1"/>
          </p:cNvSpPr>
          <p:nvPr>
            <p:ph type="title"/>
          </p:nvPr>
        </p:nvSpPr>
        <p:spPr>
          <a:xfrm>
            <a:off x="720000" y="619200"/>
            <a:ext cx="6911974" cy="1477328"/>
          </a:xfrm>
        </p:spPr>
        <p:txBody>
          <a:bodyPr wrap="square" anchor="ctr">
            <a:normAutofit/>
          </a:bodyPr>
          <a:lstStyle/>
          <a:p>
            <a:r>
              <a:rPr lang="fr-FR" dirty="0"/>
              <a:t>1ère </a:t>
            </a:r>
            <a:r>
              <a:rPr lang="fr-FR"/>
              <a:t>vage</a:t>
            </a:r>
          </a:p>
        </p:txBody>
      </p:sp>
      <p:sp>
        <p:nvSpPr>
          <p:cNvPr id="3" name="Espace réservé du contenu 2">
            <a:extLst>
              <a:ext uri="{FF2B5EF4-FFF2-40B4-BE49-F238E27FC236}">
                <a16:creationId xmlns:a16="http://schemas.microsoft.com/office/drawing/2014/main" id="{11ABB9D6-DE93-4F80-8523-C36C190A288E}"/>
              </a:ext>
            </a:extLst>
          </p:cNvPr>
          <p:cNvSpPr>
            <a:spLocks noGrp="1"/>
          </p:cNvSpPr>
          <p:nvPr>
            <p:ph idx="1"/>
          </p:nvPr>
        </p:nvSpPr>
        <p:spPr>
          <a:xfrm>
            <a:off x="806264" y="2469713"/>
            <a:ext cx="6926352" cy="3877631"/>
          </a:xfrm>
        </p:spPr>
        <p:txBody>
          <a:bodyPr vert="horz" lIns="0" tIns="0" rIns="0" bIns="0" rtlCol="0" anchor="t">
            <a:noAutofit/>
          </a:bodyPr>
          <a:lstStyle/>
          <a:p>
            <a:r>
              <a:rPr lang="fr-FR" sz="2800" dirty="0">
                <a:ea typeface="+mn-lt"/>
                <a:cs typeface="+mn-lt"/>
              </a:rPr>
              <a:t>Fin XIXe siècle et début XXe siècle. Revendications principales:</a:t>
            </a:r>
            <a:endParaRPr lang="fr-FR" sz="2800" dirty="0">
              <a:solidFill>
                <a:srgbClr val="FFFFFF">
                  <a:alpha val="58000"/>
                </a:srgbClr>
              </a:solidFill>
              <a:ea typeface="+mn-lt"/>
              <a:cs typeface="+mn-lt"/>
            </a:endParaRPr>
          </a:p>
          <a:p>
            <a:pPr lvl="1"/>
            <a:r>
              <a:rPr lang="fr-FR" sz="2800" dirty="0">
                <a:ea typeface="+mn-lt"/>
                <a:cs typeface="+mn-lt"/>
              </a:rPr>
              <a:t>Le suffrage</a:t>
            </a:r>
            <a:endParaRPr lang="fr-FR" sz="2800" dirty="0">
              <a:solidFill>
                <a:srgbClr val="FFFFFF">
                  <a:alpha val="58000"/>
                </a:srgbClr>
              </a:solidFill>
            </a:endParaRPr>
          </a:p>
          <a:p>
            <a:pPr lvl="1"/>
            <a:r>
              <a:rPr lang="fr-FR" sz="2800" dirty="0">
                <a:ea typeface="+mn-lt"/>
                <a:cs typeface="+mn-lt"/>
              </a:rPr>
              <a:t>L'éducation</a:t>
            </a:r>
            <a:endParaRPr lang="fr-FR" sz="2800" dirty="0">
              <a:solidFill>
                <a:srgbClr val="FFFFFF">
                  <a:alpha val="58000"/>
                </a:srgbClr>
              </a:solidFill>
            </a:endParaRPr>
          </a:p>
          <a:p>
            <a:pPr lvl="1"/>
            <a:r>
              <a:rPr lang="fr-FR" sz="2800" dirty="0">
                <a:ea typeface="+mn-lt"/>
                <a:cs typeface="+mn-lt"/>
              </a:rPr>
              <a:t>L'amélioration des milieux de travail</a:t>
            </a:r>
            <a:endParaRPr lang="fr-FR" sz="2800" dirty="0">
              <a:solidFill>
                <a:srgbClr val="FFFFFF">
                  <a:alpha val="58000"/>
                </a:srgbClr>
              </a:solidFill>
            </a:endParaRPr>
          </a:p>
          <a:p>
            <a:r>
              <a:rPr lang="fr-FR" sz="2800" dirty="0">
                <a:ea typeface="+mn-lt"/>
                <a:cs typeface="+mn-lt"/>
              </a:rPr>
              <a:t>Principalement les femmes blanches de milieux aisés</a:t>
            </a:r>
            <a:endParaRPr lang="fr-FR" sz="2800" dirty="0">
              <a:solidFill>
                <a:srgbClr val="FFFFFF">
                  <a:alpha val="58000"/>
                </a:srgbClr>
              </a:solidFill>
            </a:endParaRPr>
          </a:p>
          <a:p>
            <a:endParaRPr lang="fr-FR" sz="2800" dirty="0">
              <a:solidFill>
                <a:srgbClr val="FFFFFF">
                  <a:alpha val="58000"/>
                </a:srgbClr>
              </a:solidFill>
            </a:endParaRPr>
          </a:p>
          <a:p>
            <a:endParaRPr lang="fr-FR" sz="2800" dirty="0">
              <a:solidFill>
                <a:srgbClr val="FFFFFF">
                  <a:alpha val="58000"/>
                </a:srgbClr>
              </a:solidFill>
            </a:endParaRPr>
          </a:p>
          <a:p>
            <a:endParaRPr lang="fr-FR" sz="2800" dirty="0">
              <a:solidFill>
                <a:srgbClr val="FFFFFF">
                  <a:alpha val="58000"/>
                </a:srgbClr>
              </a:solidFill>
            </a:endParaRPr>
          </a:p>
        </p:txBody>
      </p:sp>
      <p:sp>
        <p:nvSpPr>
          <p:cNvPr id="14" name="Freeform 10">
            <a:extLst>
              <a:ext uri="{FF2B5EF4-FFF2-40B4-BE49-F238E27FC236}">
                <a16:creationId xmlns:a16="http://schemas.microsoft.com/office/drawing/2014/main" id="{15BE2CF8-7196-4BC3-B312-B0EE486D9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5824556">
            <a:off x="8226571" y="2916066"/>
            <a:ext cx="3518890" cy="3293724"/>
          </a:xfrm>
          <a:custGeom>
            <a:avLst/>
            <a:gdLst>
              <a:gd name="T0" fmla="*/ 43 w 250"/>
              <a:gd name="T1" fmla="*/ 167 h 234"/>
              <a:gd name="T2" fmla="*/ 70 w 250"/>
              <a:gd name="T3" fmla="*/ 133 h 234"/>
              <a:gd name="T4" fmla="*/ 48 w 250"/>
              <a:gd name="T5" fmla="*/ 134 h 234"/>
              <a:gd name="T6" fmla="*/ 19 w 250"/>
              <a:gd name="T7" fmla="*/ 130 h 234"/>
              <a:gd name="T8" fmla="*/ 6 w 250"/>
              <a:gd name="T9" fmla="*/ 123 h 234"/>
              <a:gd name="T10" fmla="*/ 1 w 250"/>
              <a:gd name="T11" fmla="*/ 103 h 234"/>
              <a:gd name="T12" fmla="*/ 11 w 250"/>
              <a:gd name="T13" fmla="*/ 81 h 234"/>
              <a:gd name="T14" fmla="*/ 23 w 250"/>
              <a:gd name="T15" fmla="*/ 76 h 234"/>
              <a:gd name="T16" fmla="*/ 81 w 250"/>
              <a:gd name="T17" fmla="*/ 78 h 234"/>
              <a:gd name="T18" fmla="*/ 65 w 250"/>
              <a:gd name="T19" fmla="*/ 49 h 234"/>
              <a:gd name="T20" fmla="*/ 57 w 250"/>
              <a:gd name="T21" fmla="*/ 27 h 234"/>
              <a:gd name="T22" fmla="*/ 67 w 250"/>
              <a:gd name="T23" fmla="*/ 12 h 234"/>
              <a:gd name="T24" fmla="*/ 85 w 250"/>
              <a:gd name="T25" fmla="*/ 1 h 234"/>
              <a:gd name="T26" fmla="*/ 101 w 250"/>
              <a:gd name="T27" fmla="*/ 8 h 234"/>
              <a:gd name="T28" fmla="*/ 107 w 250"/>
              <a:gd name="T29" fmla="*/ 15 h 234"/>
              <a:gd name="T30" fmla="*/ 120 w 250"/>
              <a:gd name="T31" fmla="*/ 37 h 234"/>
              <a:gd name="T32" fmla="*/ 131 w 250"/>
              <a:gd name="T33" fmla="*/ 60 h 234"/>
              <a:gd name="T34" fmla="*/ 164 w 250"/>
              <a:gd name="T35" fmla="*/ 25 h 234"/>
              <a:gd name="T36" fmla="*/ 187 w 250"/>
              <a:gd name="T37" fmla="*/ 11 h 234"/>
              <a:gd name="T38" fmla="*/ 205 w 250"/>
              <a:gd name="T39" fmla="*/ 19 h 234"/>
              <a:gd name="T40" fmla="*/ 214 w 250"/>
              <a:gd name="T41" fmla="*/ 34 h 234"/>
              <a:gd name="T42" fmla="*/ 203 w 250"/>
              <a:gd name="T43" fmla="*/ 57 h 234"/>
              <a:gd name="T44" fmla="*/ 166 w 250"/>
              <a:gd name="T45" fmla="*/ 100 h 234"/>
              <a:gd name="T46" fmla="*/ 217 w 250"/>
              <a:gd name="T47" fmla="*/ 98 h 234"/>
              <a:gd name="T48" fmla="*/ 244 w 250"/>
              <a:gd name="T49" fmla="*/ 104 h 234"/>
              <a:gd name="T50" fmla="*/ 249 w 250"/>
              <a:gd name="T51" fmla="*/ 115 h 234"/>
              <a:gd name="T52" fmla="*/ 247 w 250"/>
              <a:gd name="T53" fmla="*/ 129 h 234"/>
              <a:gd name="T54" fmla="*/ 245 w 250"/>
              <a:gd name="T55" fmla="*/ 134 h 234"/>
              <a:gd name="T56" fmla="*/ 241 w 250"/>
              <a:gd name="T57" fmla="*/ 141 h 234"/>
              <a:gd name="T58" fmla="*/ 227 w 250"/>
              <a:gd name="T59" fmla="*/ 147 h 234"/>
              <a:gd name="T60" fmla="*/ 187 w 250"/>
              <a:gd name="T61" fmla="*/ 151 h 234"/>
              <a:gd name="T62" fmla="*/ 160 w 250"/>
              <a:gd name="T63" fmla="*/ 148 h 234"/>
              <a:gd name="T64" fmla="*/ 168 w 250"/>
              <a:gd name="T65" fmla="*/ 168 h 234"/>
              <a:gd name="T66" fmla="*/ 176 w 250"/>
              <a:gd name="T67" fmla="*/ 194 h 234"/>
              <a:gd name="T68" fmla="*/ 176 w 250"/>
              <a:gd name="T69" fmla="*/ 211 h 234"/>
              <a:gd name="T70" fmla="*/ 170 w 250"/>
              <a:gd name="T71" fmla="*/ 221 h 234"/>
              <a:gd name="T72" fmla="*/ 156 w 250"/>
              <a:gd name="T73" fmla="*/ 230 h 234"/>
              <a:gd name="T74" fmla="*/ 130 w 250"/>
              <a:gd name="T75" fmla="*/ 226 h 234"/>
              <a:gd name="T76" fmla="*/ 122 w 250"/>
              <a:gd name="T77" fmla="*/ 213 h 234"/>
              <a:gd name="T78" fmla="*/ 110 w 250"/>
              <a:gd name="T79" fmla="*/ 169 h 234"/>
              <a:gd name="T80" fmla="*/ 92 w 250"/>
              <a:gd name="T81" fmla="*/ 192 h 234"/>
              <a:gd name="T82" fmla="*/ 87 w 250"/>
              <a:gd name="T83" fmla="*/ 197 h 234"/>
              <a:gd name="T84" fmla="*/ 84 w 250"/>
              <a:gd name="T85" fmla="*/ 201 h 234"/>
              <a:gd name="T86" fmla="*/ 65 w 250"/>
              <a:gd name="T87" fmla="*/ 212 h 234"/>
              <a:gd name="T88" fmla="*/ 50 w 250"/>
              <a:gd name="T89" fmla="*/ 204 h 234"/>
              <a:gd name="T90" fmla="*/ 44 w 250"/>
              <a:gd name="T91" fmla="*/ 198 h 234"/>
              <a:gd name="T92" fmla="*/ 38 w 250"/>
              <a:gd name="T93" fmla="*/ 185 h 234"/>
              <a:gd name="T94" fmla="*/ 43 w 250"/>
              <a:gd name="T95" fmla="*/ 167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0" h="234">
                <a:moveTo>
                  <a:pt x="43" y="167"/>
                </a:moveTo>
                <a:cubicBezTo>
                  <a:pt x="70" y="133"/>
                  <a:pt x="70" y="133"/>
                  <a:pt x="70" y="133"/>
                </a:cubicBezTo>
                <a:cubicBezTo>
                  <a:pt x="60" y="134"/>
                  <a:pt x="61" y="134"/>
                  <a:pt x="48" y="134"/>
                </a:cubicBezTo>
                <a:cubicBezTo>
                  <a:pt x="34" y="133"/>
                  <a:pt x="24" y="132"/>
                  <a:pt x="19" y="130"/>
                </a:cubicBezTo>
                <a:cubicBezTo>
                  <a:pt x="13" y="128"/>
                  <a:pt x="9" y="126"/>
                  <a:pt x="6" y="123"/>
                </a:cubicBezTo>
                <a:cubicBezTo>
                  <a:pt x="1" y="119"/>
                  <a:pt x="0" y="112"/>
                  <a:pt x="1" y="103"/>
                </a:cubicBezTo>
                <a:cubicBezTo>
                  <a:pt x="2" y="93"/>
                  <a:pt x="6" y="86"/>
                  <a:pt x="11" y="81"/>
                </a:cubicBezTo>
                <a:cubicBezTo>
                  <a:pt x="15" y="77"/>
                  <a:pt x="18" y="76"/>
                  <a:pt x="23" y="76"/>
                </a:cubicBezTo>
                <a:cubicBezTo>
                  <a:pt x="81" y="78"/>
                  <a:pt x="81" y="78"/>
                  <a:pt x="81" y="78"/>
                </a:cubicBezTo>
                <a:cubicBezTo>
                  <a:pt x="65" y="49"/>
                  <a:pt x="65" y="49"/>
                  <a:pt x="65" y="49"/>
                </a:cubicBezTo>
                <a:cubicBezTo>
                  <a:pt x="58" y="40"/>
                  <a:pt x="56" y="33"/>
                  <a:pt x="57" y="27"/>
                </a:cubicBezTo>
                <a:cubicBezTo>
                  <a:pt x="58" y="21"/>
                  <a:pt x="62" y="16"/>
                  <a:pt x="67" y="12"/>
                </a:cubicBezTo>
                <a:cubicBezTo>
                  <a:pt x="74" y="6"/>
                  <a:pt x="80" y="2"/>
                  <a:pt x="85" y="1"/>
                </a:cubicBezTo>
                <a:cubicBezTo>
                  <a:pt x="90" y="0"/>
                  <a:pt x="95" y="2"/>
                  <a:pt x="101" y="8"/>
                </a:cubicBezTo>
                <a:cubicBezTo>
                  <a:pt x="104" y="11"/>
                  <a:pt x="106" y="13"/>
                  <a:pt x="107" y="15"/>
                </a:cubicBezTo>
                <a:cubicBezTo>
                  <a:pt x="110" y="19"/>
                  <a:pt x="112" y="20"/>
                  <a:pt x="120" y="37"/>
                </a:cubicBezTo>
                <a:cubicBezTo>
                  <a:pt x="129" y="55"/>
                  <a:pt x="128" y="51"/>
                  <a:pt x="131" y="60"/>
                </a:cubicBezTo>
                <a:cubicBezTo>
                  <a:pt x="164" y="25"/>
                  <a:pt x="164" y="25"/>
                  <a:pt x="164" y="25"/>
                </a:cubicBezTo>
                <a:cubicBezTo>
                  <a:pt x="173" y="16"/>
                  <a:pt x="180" y="11"/>
                  <a:pt x="187" y="11"/>
                </a:cubicBezTo>
                <a:cubicBezTo>
                  <a:pt x="193" y="10"/>
                  <a:pt x="200" y="13"/>
                  <a:pt x="205" y="19"/>
                </a:cubicBezTo>
                <a:cubicBezTo>
                  <a:pt x="210" y="24"/>
                  <a:pt x="213" y="29"/>
                  <a:pt x="214" y="34"/>
                </a:cubicBezTo>
                <a:cubicBezTo>
                  <a:pt x="214" y="39"/>
                  <a:pt x="211" y="47"/>
                  <a:pt x="203" y="57"/>
                </a:cubicBezTo>
                <a:cubicBezTo>
                  <a:pt x="166" y="100"/>
                  <a:pt x="166" y="100"/>
                  <a:pt x="166" y="100"/>
                </a:cubicBezTo>
                <a:cubicBezTo>
                  <a:pt x="217" y="98"/>
                  <a:pt x="217" y="98"/>
                  <a:pt x="217" y="98"/>
                </a:cubicBezTo>
                <a:cubicBezTo>
                  <a:pt x="229" y="96"/>
                  <a:pt x="238" y="98"/>
                  <a:pt x="244" y="104"/>
                </a:cubicBezTo>
                <a:cubicBezTo>
                  <a:pt x="247" y="107"/>
                  <a:pt x="249" y="111"/>
                  <a:pt x="249" y="115"/>
                </a:cubicBezTo>
                <a:cubicBezTo>
                  <a:pt x="250" y="120"/>
                  <a:pt x="249" y="124"/>
                  <a:pt x="247" y="129"/>
                </a:cubicBezTo>
                <a:cubicBezTo>
                  <a:pt x="247" y="130"/>
                  <a:pt x="246" y="132"/>
                  <a:pt x="245" y="134"/>
                </a:cubicBezTo>
                <a:cubicBezTo>
                  <a:pt x="244" y="137"/>
                  <a:pt x="243" y="140"/>
                  <a:pt x="241" y="141"/>
                </a:cubicBezTo>
                <a:cubicBezTo>
                  <a:pt x="239" y="144"/>
                  <a:pt x="234" y="146"/>
                  <a:pt x="227" y="147"/>
                </a:cubicBezTo>
                <a:cubicBezTo>
                  <a:pt x="221" y="149"/>
                  <a:pt x="207" y="150"/>
                  <a:pt x="187" y="151"/>
                </a:cubicBezTo>
                <a:cubicBezTo>
                  <a:pt x="175" y="152"/>
                  <a:pt x="161" y="148"/>
                  <a:pt x="160" y="148"/>
                </a:cubicBezTo>
                <a:cubicBezTo>
                  <a:pt x="161" y="151"/>
                  <a:pt x="165" y="161"/>
                  <a:pt x="168" y="168"/>
                </a:cubicBezTo>
                <a:cubicBezTo>
                  <a:pt x="168" y="171"/>
                  <a:pt x="173" y="181"/>
                  <a:pt x="176" y="194"/>
                </a:cubicBezTo>
                <a:cubicBezTo>
                  <a:pt x="179" y="206"/>
                  <a:pt x="176" y="203"/>
                  <a:pt x="176" y="211"/>
                </a:cubicBezTo>
                <a:cubicBezTo>
                  <a:pt x="176" y="214"/>
                  <a:pt x="174" y="217"/>
                  <a:pt x="170" y="221"/>
                </a:cubicBezTo>
                <a:cubicBezTo>
                  <a:pt x="166" y="226"/>
                  <a:pt x="161" y="228"/>
                  <a:pt x="156" y="230"/>
                </a:cubicBezTo>
                <a:cubicBezTo>
                  <a:pt x="147" y="234"/>
                  <a:pt x="137" y="233"/>
                  <a:pt x="130" y="226"/>
                </a:cubicBezTo>
                <a:cubicBezTo>
                  <a:pt x="127" y="223"/>
                  <a:pt x="125" y="219"/>
                  <a:pt x="122" y="213"/>
                </a:cubicBezTo>
                <a:cubicBezTo>
                  <a:pt x="118" y="188"/>
                  <a:pt x="117" y="189"/>
                  <a:pt x="110" y="169"/>
                </a:cubicBezTo>
                <a:cubicBezTo>
                  <a:pt x="92" y="192"/>
                  <a:pt x="92" y="192"/>
                  <a:pt x="92" y="192"/>
                </a:cubicBezTo>
                <a:cubicBezTo>
                  <a:pt x="90" y="193"/>
                  <a:pt x="88" y="195"/>
                  <a:pt x="87" y="197"/>
                </a:cubicBezTo>
                <a:cubicBezTo>
                  <a:pt x="86" y="198"/>
                  <a:pt x="85" y="200"/>
                  <a:pt x="84" y="201"/>
                </a:cubicBezTo>
                <a:cubicBezTo>
                  <a:pt x="76" y="209"/>
                  <a:pt x="70" y="212"/>
                  <a:pt x="65" y="212"/>
                </a:cubicBezTo>
                <a:cubicBezTo>
                  <a:pt x="60" y="211"/>
                  <a:pt x="55" y="209"/>
                  <a:pt x="50" y="204"/>
                </a:cubicBezTo>
                <a:cubicBezTo>
                  <a:pt x="50" y="203"/>
                  <a:pt x="48" y="202"/>
                  <a:pt x="44" y="198"/>
                </a:cubicBezTo>
                <a:cubicBezTo>
                  <a:pt x="41" y="195"/>
                  <a:pt x="39" y="191"/>
                  <a:pt x="38" y="185"/>
                </a:cubicBezTo>
                <a:cubicBezTo>
                  <a:pt x="37" y="179"/>
                  <a:pt x="39" y="173"/>
                  <a:pt x="43" y="16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9363851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44A00C45-023C-431E-B774-053A3C686B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A8151FD-E26B-480E-A623-CFBFE3713A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Freeform: Shape 15">
            <a:extLst>
              <a:ext uri="{FF2B5EF4-FFF2-40B4-BE49-F238E27FC236}">
                <a16:creationId xmlns:a16="http://schemas.microsoft.com/office/drawing/2014/main" id="{6BE63264-F1B8-4AB7-AD1C-4180A9D2B1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342615" y="342615"/>
            <a:ext cx="6858000" cy="6172768"/>
          </a:xfrm>
          <a:custGeom>
            <a:avLst/>
            <a:gdLst>
              <a:gd name="connsiteX0" fmla="*/ 6858000 w 6858000"/>
              <a:gd name="connsiteY0" fmla="*/ 0 h 5780582"/>
              <a:gd name="connsiteX1" fmla="*/ 6858000 w 6858000"/>
              <a:gd name="connsiteY1" fmla="*/ 5780582 h 5780582"/>
              <a:gd name="connsiteX2" fmla="*/ 6766523 w 6858000"/>
              <a:gd name="connsiteY2" fmla="*/ 5777266 h 5780582"/>
              <a:gd name="connsiteX3" fmla="*/ 5437222 w 6858000"/>
              <a:gd name="connsiteY3" fmla="*/ 5734742 h 5780582"/>
              <a:gd name="connsiteX4" fmla="*/ 4440498 w 6858000"/>
              <a:gd name="connsiteY4" fmla="*/ 5734742 h 5780582"/>
              <a:gd name="connsiteX5" fmla="*/ 582209 w 6858000"/>
              <a:gd name="connsiteY5" fmla="*/ 4121983 h 5780582"/>
              <a:gd name="connsiteX6" fmla="*/ 73548 w 6858000"/>
              <a:gd name="connsiteY6" fmla="*/ 3184291 h 5780582"/>
              <a:gd name="connsiteX7" fmla="*/ 0 w 6858000"/>
              <a:gd name="connsiteY7" fmla="*/ 2994994 h 5780582"/>
              <a:gd name="connsiteX8" fmla="*/ 0 w 6858000"/>
              <a:gd name="connsiteY8" fmla="*/ 0 h 5780582"/>
              <a:gd name="connsiteX0" fmla="*/ 6858000 w 6858000"/>
              <a:gd name="connsiteY0" fmla="*/ 0 h 5878098"/>
              <a:gd name="connsiteX1" fmla="*/ 6858000 w 6858000"/>
              <a:gd name="connsiteY1" fmla="*/ 5780582 h 5878098"/>
              <a:gd name="connsiteX2" fmla="*/ 6766523 w 6858000"/>
              <a:gd name="connsiteY2" fmla="*/ 5777266 h 5878098"/>
              <a:gd name="connsiteX3" fmla="*/ 5437222 w 6858000"/>
              <a:gd name="connsiteY3" fmla="*/ 5734742 h 5878098"/>
              <a:gd name="connsiteX4" fmla="*/ 4440498 w 6858000"/>
              <a:gd name="connsiteY4" fmla="*/ 5734742 h 5878098"/>
              <a:gd name="connsiteX5" fmla="*/ 582209 w 6858000"/>
              <a:gd name="connsiteY5" fmla="*/ 4121983 h 5878098"/>
              <a:gd name="connsiteX6" fmla="*/ 73548 w 6858000"/>
              <a:gd name="connsiteY6" fmla="*/ 3184291 h 5878098"/>
              <a:gd name="connsiteX7" fmla="*/ 0 w 6858000"/>
              <a:gd name="connsiteY7" fmla="*/ 2994994 h 5878098"/>
              <a:gd name="connsiteX8" fmla="*/ 0 w 6858000"/>
              <a:gd name="connsiteY8" fmla="*/ 0 h 5878098"/>
              <a:gd name="connsiteX9" fmla="*/ 6858000 w 6858000"/>
              <a:gd name="connsiteY9" fmla="*/ 0 h 5878098"/>
              <a:gd name="connsiteX0" fmla="*/ 6858000 w 6858000"/>
              <a:gd name="connsiteY0" fmla="*/ 0 h 5780582"/>
              <a:gd name="connsiteX1" fmla="*/ 6858000 w 6858000"/>
              <a:gd name="connsiteY1" fmla="*/ 5780582 h 5780582"/>
              <a:gd name="connsiteX2" fmla="*/ 6766523 w 6858000"/>
              <a:gd name="connsiteY2" fmla="*/ 5777266 h 5780582"/>
              <a:gd name="connsiteX3" fmla="*/ 5437222 w 6858000"/>
              <a:gd name="connsiteY3" fmla="*/ 5734742 h 5780582"/>
              <a:gd name="connsiteX4" fmla="*/ 3010841 w 6858000"/>
              <a:gd name="connsiteY4" fmla="*/ 5469518 h 5780582"/>
              <a:gd name="connsiteX5" fmla="*/ 582209 w 6858000"/>
              <a:gd name="connsiteY5" fmla="*/ 4121983 h 5780582"/>
              <a:gd name="connsiteX6" fmla="*/ 73548 w 6858000"/>
              <a:gd name="connsiteY6" fmla="*/ 3184291 h 5780582"/>
              <a:gd name="connsiteX7" fmla="*/ 0 w 6858000"/>
              <a:gd name="connsiteY7" fmla="*/ 2994994 h 5780582"/>
              <a:gd name="connsiteX8" fmla="*/ 0 w 6858000"/>
              <a:gd name="connsiteY8" fmla="*/ 0 h 5780582"/>
              <a:gd name="connsiteX9" fmla="*/ 6858000 w 6858000"/>
              <a:gd name="connsiteY9" fmla="*/ 0 h 5780582"/>
              <a:gd name="connsiteX0" fmla="*/ 6858000 w 6858000"/>
              <a:gd name="connsiteY0" fmla="*/ 0 h 5780582"/>
              <a:gd name="connsiteX1" fmla="*/ 6858000 w 6858000"/>
              <a:gd name="connsiteY1" fmla="*/ 5780582 h 5780582"/>
              <a:gd name="connsiteX2" fmla="*/ 6766523 w 6858000"/>
              <a:gd name="connsiteY2" fmla="*/ 5777266 h 5780582"/>
              <a:gd name="connsiteX3" fmla="*/ 5437222 w 6858000"/>
              <a:gd name="connsiteY3" fmla="*/ 5734742 h 5780582"/>
              <a:gd name="connsiteX4" fmla="*/ 3010841 w 6858000"/>
              <a:gd name="connsiteY4" fmla="*/ 5469518 h 5780582"/>
              <a:gd name="connsiteX5" fmla="*/ 582209 w 6858000"/>
              <a:gd name="connsiteY5" fmla="*/ 4121983 h 5780582"/>
              <a:gd name="connsiteX6" fmla="*/ 73548 w 6858000"/>
              <a:gd name="connsiteY6" fmla="*/ 3184291 h 5780582"/>
              <a:gd name="connsiteX7" fmla="*/ 0 w 6858000"/>
              <a:gd name="connsiteY7" fmla="*/ 2994994 h 5780582"/>
              <a:gd name="connsiteX8" fmla="*/ 0 w 6858000"/>
              <a:gd name="connsiteY8" fmla="*/ 0 h 5780582"/>
              <a:gd name="connsiteX9" fmla="*/ 6858000 w 6858000"/>
              <a:gd name="connsiteY9" fmla="*/ 0 h 5780582"/>
              <a:gd name="connsiteX0" fmla="*/ 6858000 w 6858000"/>
              <a:gd name="connsiteY0" fmla="*/ 0 h 5780582"/>
              <a:gd name="connsiteX1" fmla="*/ 6858000 w 6858000"/>
              <a:gd name="connsiteY1" fmla="*/ 5780582 h 5780582"/>
              <a:gd name="connsiteX2" fmla="*/ 6766523 w 6858000"/>
              <a:gd name="connsiteY2" fmla="*/ 5777266 h 5780582"/>
              <a:gd name="connsiteX3" fmla="*/ 5437222 w 6858000"/>
              <a:gd name="connsiteY3" fmla="*/ 5734742 h 5780582"/>
              <a:gd name="connsiteX4" fmla="*/ 3010841 w 6858000"/>
              <a:gd name="connsiteY4" fmla="*/ 5469518 h 5780582"/>
              <a:gd name="connsiteX5" fmla="*/ 582209 w 6858000"/>
              <a:gd name="connsiteY5" fmla="*/ 4121983 h 5780582"/>
              <a:gd name="connsiteX6" fmla="*/ 73548 w 6858000"/>
              <a:gd name="connsiteY6" fmla="*/ 3184291 h 5780582"/>
              <a:gd name="connsiteX7" fmla="*/ 0 w 6858000"/>
              <a:gd name="connsiteY7" fmla="*/ 2994994 h 5780582"/>
              <a:gd name="connsiteX8" fmla="*/ 0 w 6858000"/>
              <a:gd name="connsiteY8" fmla="*/ 0 h 5780582"/>
              <a:gd name="connsiteX9" fmla="*/ 6858000 w 6858000"/>
              <a:gd name="connsiteY9" fmla="*/ 0 h 5780582"/>
              <a:gd name="connsiteX0" fmla="*/ 6858000 w 6858000"/>
              <a:gd name="connsiteY0" fmla="*/ 0 h 5780582"/>
              <a:gd name="connsiteX1" fmla="*/ 6858000 w 6858000"/>
              <a:gd name="connsiteY1" fmla="*/ 5780582 h 5780582"/>
              <a:gd name="connsiteX2" fmla="*/ 6766523 w 6858000"/>
              <a:gd name="connsiteY2" fmla="*/ 5777266 h 5780582"/>
              <a:gd name="connsiteX3" fmla="*/ 5437222 w 6858000"/>
              <a:gd name="connsiteY3" fmla="*/ 5734742 h 5780582"/>
              <a:gd name="connsiteX4" fmla="*/ 3010841 w 6858000"/>
              <a:gd name="connsiteY4" fmla="*/ 5469518 h 5780582"/>
              <a:gd name="connsiteX5" fmla="*/ 582209 w 6858000"/>
              <a:gd name="connsiteY5" fmla="*/ 4121983 h 5780582"/>
              <a:gd name="connsiteX6" fmla="*/ 0 w 6858000"/>
              <a:gd name="connsiteY6" fmla="*/ 2994994 h 5780582"/>
              <a:gd name="connsiteX7" fmla="*/ 0 w 6858000"/>
              <a:gd name="connsiteY7" fmla="*/ 0 h 5780582"/>
              <a:gd name="connsiteX8" fmla="*/ 6858000 w 6858000"/>
              <a:gd name="connsiteY8" fmla="*/ 0 h 5780582"/>
              <a:gd name="connsiteX0" fmla="*/ 6858000 w 6858000"/>
              <a:gd name="connsiteY0" fmla="*/ 0 h 5780582"/>
              <a:gd name="connsiteX1" fmla="*/ 6858000 w 6858000"/>
              <a:gd name="connsiteY1" fmla="*/ 5780582 h 5780582"/>
              <a:gd name="connsiteX2" fmla="*/ 6766523 w 6858000"/>
              <a:gd name="connsiteY2" fmla="*/ 5777266 h 5780582"/>
              <a:gd name="connsiteX3" fmla="*/ 5437222 w 6858000"/>
              <a:gd name="connsiteY3" fmla="*/ 5734742 h 5780582"/>
              <a:gd name="connsiteX4" fmla="*/ 3010841 w 6858000"/>
              <a:gd name="connsiteY4" fmla="*/ 5469518 h 5780582"/>
              <a:gd name="connsiteX5" fmla="*/ 582209 w 6858000"/>
              <a:gd name="connsiteY5" fmla="*/ 4121983 h 5780582"/>
              <a:gd name="connsiteX6" fmla="*/ 0 w 6858000"/>
              <a:gd name="connsiteY6" fmla="*/ 2994994 h 5780582"/>
              <a:gd name="connsiteX7" fmla="*/ 0 w 6858000"/>
              <a:gd name="connsiteY7" fmla="*/ 0 h 5780582"/>
              <a:gd name="connsiteX8" fmla="*/ 6858000 w 6858000"/>
              <a:gd name="connsiteY8" fmla="*/ 0 h 5780582"/>
              <a:gd name="connsiteX0" fmla="*/ 6858000 w 6858000"/>
              <a:gd name="connsiteY0" fmla="*/ 0 h 5780582"/>
              <a:gd name="connsiteX1" fmla="*/ 6858000 w 6858000"/>
              <a:gd name="connsiteY1" fmla="*/ 5780582 h 5780582"/>
              <a:gd name="connsiteX2" fmla="*/ 6766523 w 6858000"/>
              <a:gd name="connsiteY2" fmla="*/ 5777266 h 5780582"/>
              <a:gd name="connsiteX3" fmla="*/ 5437222 w 6858000"/>
              <a:gd name="connsiteY3" fmla="*/ 5734742 h 5780582"/>
              <a:gd name="connsiteX4" fmla="*/ 3010841 w 6858000"/>
              <a:gd name="connsiteY4" fmla="*/ 5469518 h 5780582"/>
              <a:gd name="connsiteX5" fmla="*/ 959581 w 6858000"/>
              <a:gd name="connsiteY5" fmla="*/ 4373609 h 5780582"/>
              <a:gd name="connsiteX6" fmla="*/ 0 w 6858000"/>
              <a:gd name="connsiteY6" fmla="*/ 2994994 h 5780582"/>
              <a:gd name="connsiteX7" fmla="*/ 0 w 6858000"/>
              <a:gd name="connsiteY7" fmla="*/ 0 h 5780582"/>
              <a:gd name="connsiteX8" fmla="*/ 6858000 w 6858000"/>
              <a:gd name="connsiteY8" fmla="*/ 0 h 5780582"/>
              <a:gd name="connsiteX0" fmla="*/ 6858000 w 6858000"/>
              <a:gd name="connsiteY0" fmla="*/ 0 h 5780582"/>
              <a:gd name="connsiteX1" fmla="*/ 6858000 w 6858000"/>
              <a:gd name="connsiteY1" fmla="*/ 5780582 h 5780582"/>
              <a:gd name="connsiteX2" fmla="*/ 6766523 w 6858000"/>
              <a:gd name="connsiteY2" fmla="*/ 5777266 h 5780582"/>
              <a:gd name="connsiteX3" fmla="*/ 3010841 w 6858000"/>
              <a:gd name="connsiteY3" fmla="*/ 5469518 h 5780582"/>
              <a:gd name="connsiteX4" fmla="*/ 959581 w 6858000"/>
              <a:gd name="connsiteY4" fmla="*/ 4373609 h 5780582"/>
              <a:gd name="connsiteX5" fmla="*/ 0 w 6858000"/>
              <a:gd name="connsiteY5" fmla="*/ 2994994 h 5780582"/>
              <a:gd name="connsiteX6" fmla="*/ 0 w 6858000"/>
              <a:gd name="connsiteY6" fmla="*/ 0 h 5780582"/>
              <a:gd name="connsiteX7" fmla="*/ 6858000 w 6858000"/>
              <a:gd name="connsiteY7" fmla="*/ 0 h 5780582"/>
              <a:gd name="connsiteX0" fmla="*/ 6858000 w 6858000"/>
              <a:gd name="connsiteY0" fmla="*/ 0 h 5780582"/>
              <a:gd name="connsiteX1" fmla="*/ 6858000 w 6858000"/>
              <a:gd name="connsiteY1" fmla="*/ 5780582 h 5780582"/>
              <a:gd name="connsiteX2" fmla="*/ 3010841 w 6858000"/>
              <a:gd name="connsiteY2" fmla="*/ 5469518 h 5780582"/>
              <a:gd name="connsiteX3" fmla="*/ 959581 w 6858000"/>
              <a:gd name="connsiteY3" fmla="*/ 4373609 h 5780582"/>
              <a:gd name="connsiteX4" fmla="*/ 0 w 6858000"/>
              <a:gd name="connsiteY4" fmla="*/ 2994994 h 5780582"/>
              <a:gd name="connsiteX5" fmla="*/ 0 w 6858000"/>
              <a:gd name="connsiteY5" fmla="*/ 0 h 5780582"/>
              <a:gd name="connsiteX6" fmla="*/ 6858000 w 6858000"/>
              <a:gd name="connsiteY6" fmla="*/ 0 h 5780582"/>
              <a:gd name="connsiteX0" fmla="*/ 6858000 w 6858000"/>
              <a:gd name="connsiteY0" fmla="*/ 0 h 5780582"/>
              <a:gd name="connsiteX1" fmla="*/ 6858000 w 6858000"/>
              <a:gd name="connsiteY1" fmla="*/ 5780582 h 5780582"/>
              <a:gd name="connsiteX2" fmla="*/ 3010841 w 6858000"/>
              <a:gd name="connsiteY2" fmla="*/ 5469518 h 5780582"/>
              <a:gd name="connsiteX3" fmla="*/ 959581 w 6858000"/>
              <a:gd name="connsiteY3" fmla="*/ 4373609 h 5780582"/>
              <a:gd name="connsiteX4" fmla="*/ 0 w 6858000"/>
              <a:gd name="connsiteY4" fmla="*/ 2994994 h 5780582"/>
              <a:gd name="connsiteX5" fmla="*/ 0 w 6858000"/>
              <a:gd name="connsiteY5" fmla="*/ 0 h 5780582"/>
              <a:gd name="connsiteX6" fmla="*/ 6858000 w 6858000"/>
              <a:gd name="connsiteY6" fmla="*/ 0 h 5780582"/>
              <a:gd name="connsiteX0" fmla="*/ 6858000 w 6858000"/>
              <a:gd name="connsiteY0" fmla="*/ 0 h 5780582"/>
              <a:gd name="connsiteX1" fmla="*/ 6858000 w 6858000"/>
              <a:gd name="connsiteY1" fmla="*/ 5780582 h 5780582"/>
              <a:gd name="connsiteX2" fmla="*/ 3010841 w 6858000"/>
              <a:gd name="connsiteY2" fmla="*/ 5469518 h 5780582"/>
              <a:gd name="connsiteX3" fmla="*/ 959581 w 6858000"/>
              <a:gd name="connsiteY3" fmla="*/ 4373609 h 5780582"/>
              <a:gd name="connsiteX4" fmla="*/ 0 w 6858000"/>
              <a:gd name="connsiteY4" fmla="*/ 2994994 h 5780582"/>
              <a:gd name="connsiteX5" fmla="*/ 0 w 6858000"/>
              <a:gd name="connsiteY5" fmla="*/ 0 h 5780582"/>
              <a:gd name="connsiteX6" fmla="*/ 6858000 w 6858000"/>
              <a:gd name="connsiteY6" fmla="*/ 0 h 5780582"/>
              <a:gd name="connsiteX0" fmla="*/ 6858000 w 6858000"/>
              <a:gd name="connsiteY0" fmla="*/ 0 h 5780582"/>
              <a:gd name="connsiteX1" fmla="*/ 6858000 w 6858000"/>
              <a:gd name="connsiteY1" fmla="*/ 5780582 h 5780582"/>
              <a:gd name="connsiteX2" fmla="*/ 3264841 w 6858000"/>
              <a:gd name="connsiteY2" fmla="*/ 5442316 h 5780582"/>
              <a:gd name="connsiteX3" fmla="*/ 959581 w 6858000"/>
              <a:gd name="connsiteY3" fmla="*/ 4373609 h 5780582"/>
              <a:gd name="connsiteX4" fmla="*/ 0 w 6858000"/>
              <a:gd name="connsiteY4" fmla="*/ 2994994 h 5780582"/>
              <a:gd name="connsiteX5" fmla="*/ 0 w 6858000"/>
              <a:gd name="connsiteY5" fmla="*/ 0 h 5780582"/>
              <a:gd name="connsiteX6" fmla="*/ 6858000 w 6858000"/>
              <a:gd name="connsiteY6" fmla="*/ 0 h 5780582"/>
              <a:gd name="connsiteX0" fmla="*/ 6858000 w 6858000"/>
              <a:gd name="connsiteY0" fmla="*/ 0 h 5784516"/>
              <a:gd name="connsiteX1" fmla="*/ 6858000 w 6858000"/>
              <a:gd name="connsiteY1" fmla="*/ 5780582 h 5784516"/>
              <a:gd name="connsiteX2" fmla="*/ 3264841 w 6858000"/>
              <a:gd name="connsiteY2" fmla="*/ 5442316 h 5784516"/>
              <a:gd name="connsiteX3" fmla="*/ 959581 w 6858000"/>
              <a:gd name="connsiteY3" fmla="*/ 4373609 h 5784516"/>
              <a:gd name="connsiteX4" fmla="*/ 0 w 6858000"/>
              <a:gd name="connsiteY4" fmla="*/ 2994994 h 5784516"/>
              <a:gd name="connsiteX5" fmla="*/ 0 w 6858000"/>
              <a:gd name="connsiteY5" fmla="*/ 0 h 5784516"/>
              <a:gd name="connsiteX6" fmla="*/ 6858000 w 6858000"/>
              <a:gd name="connsiteY6" fmla="*/ 0 h 5784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5784516">
                <a:moveTo>
                  <a:pt x="6858000" y="0"/>
                </a:moveTo>
                <a:lnTo>
                  <a:pt x="6858000" y="5780582"/>
                </a:lnTo>
                <a:cubicBezTo>
                  <a:pt x="4704756" y="5812908"/>
                  <a:pt x="4198884" y="5641214"/>
                  <a:pt x="3264841" y="5442316"/>
                </a:cubicBezTo>
                <a:cubicBezTo>
                  <a:pt x="2330798" y="5243418"/>
                  <a:pt x="1503721" y="4781496"/>
                  <a:pt x="959581" y="4373609"/>
                </a:cubicBezTo>
                <a:cubicBezTo>
                  <a:pt x="415441" y="3965722"/>
                  <a:pt x="198635" y="3573180"/>
                  <a:pt x="0" y="2994994"/>
                </a:cubicBezTo>
                <a:lnTo>
                  <a:pt x="0" y="0"/>
                </a:lnTo>
                <a:lnTo>
                  <a:pt x="6858000" y="0"/>
                </a:lnTo>
                <a:close/>
              </a:path>
            </a:pathLst>
          </a:custGeom>
          <a:ln>
            <a:noFill/>
          </a:ln>
        </p:spPr>
        <p:txBody>
          <a:bodyPr vert="horz" wrap="square" lIns="91440" tIns="45720" rIns="91440" bIns="45720" numCol="1" anchor="t" anchorCtr="0" compatLnSpc="1">
            <a:prstTxWarp prst="textNoShape">
              <a:avLst/>
            </a:prstTxWarp>
            <a:noAutofit/>
          </a:bodyPr>
          <a:lstStyle/>
          <a:p>
            <a:endParaRPr lang="en-US"/>
          </a:p>
        </p:txBody>
      </p:sp>
      <p:sp>
        <p:nvSpPr>
          <p:cNvPr id="2" name="Titre 1">
            <a:extLst>
              <a:ext uri="{FF2B5EF4-FFF2-40B4-BE49-F238E27FC236}">
                <a16:creationId xmlns:a16="http://schemas.microsoft.com/office/drawing/2014/main" id="{1D78B229-FE84-4FEE-94D2-B5AC7B2D4436}"/>
              </a:ext>
            </a:extLst>
          </p:cNvPr>
          <p:cNvSpPr>
            <a:spLocks noGrp="1"/>
          </p:cNvSpPr>
          <p:nvPr>
            <p:ph type="title"/>
          </p:nvPr>
        </p:nvSpPr>
        <p:spPr>
          <a:xfrm>
            <a:off x="720000" y="619200"/>
            <a:ext cx="5015505" cy="1477328"/>
          </a:xfrm>
        </p:spPr>
        <p:txBody>
          <a:bodyPr vert="horz" wrap="square" lIns="0" tIns="0" rIns="0" bIns="0" rtlCol="0" anchor="t" anchorCtr="0">
            <a:normAutofit/>
          </a:bodyPr>
          <a:lstStyle/>
          <a:p>
            <a:r>
              <a:rPr lang="en-US"/>
              <a:t>2e vague</a:t>
            </a:r>
          </a:p>
        </p:txBody>
      </p:sp>
      <p:pic>
        <p:nvPicPr>
          <p:cNvPr id="5" name="Image 5" descr="Une image contenant personne, mur, intérieur&#10;&#10;Description générée automatiquement">
            <a:extLst>
              <a:ext uri="{FF2B5EF4-FFF2-40B4-BE49-F238E27FC236}">
                <a16:creationId xmlns:a16="http://schemas.microsoft.com/office/drawing/2014/main" id="{1C4AD323-73D9-4A86-90FB-71CD395326B8}"/>
              </a:ext>
            </a:extLst>
          </p:cNvPr>
          <p:cNvPicPr>
            <a:picLocks noGrp="1" noChangeAspect="1"/>
          </p:cNvPicPr>
          <p:nvPr>
            <p:ph sz="half" idx="2"/>
          </p:nvPr>
        </p:nvPicPr>
        <p:blipFill rotWithShape="1">
          <a:blip r:embed="rId2"/>
          <a:srcRect l="16551" r="-3" b="-3"/>
          <a:stretch/>
        </p:blipFill>
        <p:spPr>
          <a:xfrm>
            <a:off x="656644" y="2626187"/>
            <a:ext cx="5078861" cy="3180022"/>
          </a:xfrm>
          <a:custGeom>
            <a:avLst/>
            <a:gdLst/>
            <a:ahLst/>
            <a:cxnLst/>
            <a:rect l="l" t="t" r="r" b="b"/>
            <a:pathLst>
              <a:path w="5078861" h="3180022">
                <a:moveTo>
                  <a:pt x="3276428" y="2"/>
                </a:moveTo>
                <a:cubicBezTo>
                  <a:pt x="3304302" y="21"/>
                  <a:pt x="3329599" y="233"/>
                  <a:pt x="3351926" y="662"/>
                </a:cubicBezTo>
                <a:cubicBezTo>
                  <a:pt x="3709493" y="17196"/>
                  <a:pt x="4341946" y="169233"/>
                  <a:pt x="4641167" y="448987"/>
                </a:cubicBezTo>
                <a:cubicBezTo>
                  <a:pt x="4946649" y="631788"/>
                  <a:pt x="5056849" y="1024552"/>
                  <a:pt x="5077430" y="1613913"/>
                </a:cubicBezTo>
                <a:cubicBezTo>
                  <a:pt x="5091263" y="2010042"/>
                  <a:pt x="5005018" y="2303257"/>
                  <a:pt x="4809735" y="2513219"/>
                </a:cubicBezTo>
                <a:cubicBezTo>
                  <a:pt x="4627124" y="2809799"/>
                  <a:pt x="4047725" y="3071868"/>
                  <a:pt x="3654311" y="3133974"/>
                </a:cubicBezTo>
                <a:cubicBezTo>
                  <a:pt x="3260559" y="3186418"/>
                  <a:pt x="2883382" y="3160895"/>
                  <a:pt x="2594283" y="3170991"/>
                </a:cubicBezTo>
                <a:cubicBezTo>
                  <a:pt x="2199182" y="3184788"/>
                  <a:pt x="1533580" y="3188685"/>
                  <a:pt x="1300277" y="3138791"/>
                </a:cubicBezTo>
                <a:cubicBezTo>
                  <a:pt x="1096221" y="3097550"/>
                  <a:pt x="527513" y="2836879"/>
                  <a:pt x="328033" y="2650376"/>
                </a:cubicBezTo>
                <a:cubicBezTo>
                  <a:pt x="128553" y="2463873"/>
                  <a:pt x="18354" y="2071110"/>
                  <a:pt x="1147" y="1578365"/>
                </a:cubicBezTo>
                <a:cubicBezTo>
                  <a:pt x="-16060" y="1085620"/>
                  <a:pt x="163176" y="692423"/>
                  <a:pt x="348823" y="482798"/>
                </a:cubicBezTo>
                <a:cubicBezTo>
                  <a:pt x="640811" y="279132"/>
                  <a:pt x="1347172" y="60997"/>
                  <a:pt x="1607361" y="51911"/>
                </a:cubicBezTo>
                <a:cubicBezTo>
                  <a:pt x="1860322" y="43077"/>
                  <a:pt x="2858319" y="-276"/>
                  <a:pt x="3276428" y="2"/>
                </a:cubicBezTo>
                <a:close/>
              </a:path>
            </a:pathLst>
          </a:custGeom>
        </p:spPr>
      </p:pic>
      <p:sp>
        <p:nvSpPr>
          <p:cNvPr id="3" name="Espace réservé du contenu 2">
            <a:extLst>
              <a:ext uri="{FF2B5EF4-FFF2-40B4-BE49-F238E27FC236}">
                <a16:creationId xmlns:a16="http://schemas.microsoft.com/office/drawing/2014/main" id="{E3428473-9260-4F7D-A024-B612656B3546}"/>
              </a:ext>
            </a:extLst>
          </p:cNvPr>
          <p:cNvSpPr>
            <a:spLocks noGrp="1"/>
          </p:cNvSpPr>
          <p:nvPr>
            <p:ph sz="half" idx="1"/>
          </p:nvPr>
        </p:nvSpPr>
        <p:spPr>
          <a:xfrm>
            <a:off x="6480000" y="619222"/>
            <a:ext cx="5423282" cy="6084280"/>
          </a:xfrm>
        </p:spPr>
        <p:txBody>
          <a:bodyPr vert="horz" lIns="0" tIns="0" rIns="0" bIns="0" rtlCol="0" anchor="t">
            <a:normAutofit/>
          </a:bodyPr>
          <a:lstStyle/>
          <a:p>
            <a:r>
              <a:rPr lang="fr-FR" sz="2400" dirty="0"/>
              <a:t>Aux ÉU: fin des années 60</a:t>
            </a:r>
            <a:endParaRPr lang="fr-FR" sz="2400" dirty="0">
              <a:solidFill>
                <a:srgbClr val="FFFFFF">
                  <a:alpha val="58000"/>
                </a:srgbClr>
              </a:solidFill>
            </a:endParaRPr>
          </a:p>
          <a:p>
            <a:r>
              <a:rPr lang="fr-FR" sz="2400" dirty="0"/>
              <a:t>En France: début des années 70</a:t>
            </a:r>
            <a:endParaRPr lang="fr-FR" sz="2400" dirty="0">
              <a:solidFill>
                <a:srgbClr val="FFFFFF">
                  <a:alpha val="58000"/>
                </a:srgbClr>
              </a:solidFill>
            </a:endParaRPr>
          </a:p>
          <a:p>
            <a:r>
              <a:rPr lang="fr-FR" sz="2400" dirty="0"/>
              <a:t>Texte fondateur: </a:t>
            </a:r>
            <a:r>
              <a:rPr lang="fr-FR" sz="2400" u="sng" dirty="0"/>
              <a:t>Le Deuxième sexe</a:t>
            </a:r>
            <a:r>
              <a:rPr lang="fr-FR" sz="2400" dirty="0"/>
              <a:t> de Simone de Beauvoir (1949) </a:t>
            </a:r>
            <a:endParaRPr lang="fr-FR" sz="2400" dirty="0">
              <a:solidFill>
                <a:srgbClr val="FFFFFF">
                  <a:alpha val="58000"/>
                </a:srgbClr>
              </a:solidFill>
            </a:endParaRPr>
          </a:p>
          <a:p>
            <a:r>
              <a:rPr lang="fr-FR" sz="2400" dirty="0"/>
              <a:t>Revendications liées :</a:t>
            </a:r>
            <a:endParaRPr lang="fr-FR" sz="2400" dirty="0">
              <a:solidFill>
                <a:srgbClr val="FFFFFF">
                  <a:alpha val="58000"/>
                </a:srgbClr>
              </a:solidFill>
            </a:endParaRPr>
          </a:p>
          <a:p>
            <a:pPr lvl="1"/>
            <a:r>
              <a:rPr lang="fr-FR" sz="2400" dirty="0"/>
              <a:t>à la sexualité</a:t>
            </a:r>
            <a:endParaRPr lang="fr-FR" sz="2400" dirty="0">
              <a:solidFill>
                <a:srgbClr val="FFFFFF">
                  <a:alpha val="58000"/>
                </a:srgbClr>
              </a:solidFill>
            </a:endParaRPr>
          </a:p>
          <a:p>
            <a:pPr lvl="1"/>
            <a:r>
              <a:rPr lang="fr-FR" sz="2400" dirty="0"/>
              <a:t>la contraception</a:t>
            </a:r>
            <a:endParaRPr lang="fr-FR" sz="2400" dirty="0">
              <a:solidFill>
                <a:srgbClr val="FFFFFF">
                  <a:alpha val="58000"/>
                </a:srgbClr>
              </a:solidFill>
            </a:endParaRPr>
          </a:p>
          <a:p>
            <a:pPr lvl="1"/>
            <a:r>
              <a:rPr lang="fr-FR" sz="2400" dirty="0"/>
              <a:t>l'avortement</a:t>
            </a:r>
            <a:endParaRPr lang="fr-FR" sz="2400" dirty="0">
              <a:solidFill>
                <a:srgbClr val="FFFFFF">
                  <a:alpha val="58000"/>
                </a:srgbClr>
              </a:solidFill>
            </a:endParaRPr>
          </a:p>
          <a:p>
            <a:pPr lvl="1"/>
            <a:r>
              <a:rPr lang="fr-FR" sz="2400" dirty="0"/>
              <a:t>au travail</a:t>
            </a:r>
            <a:endParaRPr lang="fr-FR" sz="2400" dirty="0">
              <a:solidFill>
                <a:srgbClr val="FFFFFF">
                  <a:alpha val="58000"/>
                </a:srgbClr>
              </a:solidFill>
            </a:endParaRPr>
          </a:p>
          <a:p>
            <a:pPr lvl="1"/>
            <a:r>
              <a:rPr lang="fr-FR" sz="2400" dirty="0"/>
              <a:t>à la famille</a:t>
            </a:r>
            <a:endParaRPr lang="fr-FR" sz="2400" dirty="0">
              <a:solidFill>
                <a:srgbClr val="FFFFFF">
                  <a:alpha val="58000"/>
                </a:srgbClr>
              </a:solidFill>
            </a:endParaRPr>
          </a:p>
          <a:p>
            <a:endParaRPr lang="fr-FR" sz="2400" dirty="0">
              <a:solidFill>
                <a:srgbClr val="FFFFFF">
                  <a:alpha val="58000"/>
                </a:srgbClr>
              </a:solidFill>
            </a:endParaRPr>
          </a:p>
        </p:txBody>
      </p:sp>
    </p:spTree>
    <p:extLst>
      <p:ext uri="{BB962C8B-B14F-4D97-AF65-F5344CB8AC3E}">
        <p14:creationId xmlns:p14="http://schemas.microsoft.com/office/powerpoint/2010/main" val="120407886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21">
            <a:extLst>
              <a:ext uri="{FF2B5EF4-FFF2-40B4-BE49-F238E27FC236}">
                <a16:creationId xmlns:a16="http://schemas.microsoft.com/office/drawing/2014/main" id="{79D9F103-7A2C-4DEF-9BDD-E97BADDCE5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D5E1A83-4C4B-4B83-92AB-289F0A8E31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5465171-F81D-42C6-8E1F-370E24EF11D2}"/>
              </a:ext>
            </a:extLst>
          </p:cNvPr>
          <p:cNvSpPr>
            <a:spLocks noGrp="1"/>
          </p:cNvSpPr>
          <p:nvPr>
            <p:ph type="title"/>
          </p:nvPr>
        </p:nvSpPr>
        <p:spPr>
          <a:xfrm>
            <a:off x="720000" y="619201"/>
            <a:ext cx="3095626" cy="1477328"/>
          </a:xfrm>
        </p:spPr>
        <p:txBody>
          <a:bodyPr vert="horz" wrap="square" lIns="0" tIns="0" rIns="0" bIns="0" rtlCol="0" anchor="t" anchorCtr="0">
            <a:normAutofit/>
          </a:bodyPr>
          <a:lstStyle/>
          <a:p>
            <a:r>
              <a:rPr lang="en-US"/>
              <a:t>3e vague</a:t>
            </a:r>
          </a:p>
        </p:txBody>
      </p:sp>
      <p:sp>
        <p:nvSpPr>
          <p:cNvPr id="3" name="Espace réservé du contenu 2">
            <a:extLst>
              <a:ext uri="{FF2B5EF4-FFF2-40B4-BE49-F238E27FC236}">
                <a16:creationId xmlns:a16="http://schemas.microsoft.com/office/drawing/2014/main" id="{C79A6CFF-0935-4425-8B07-E55DB6822435}"/>
              </a:ext>
            </a:extLst>
          </p:cNvPr>
          <p:cNvSpPr>
            <a:spLocks noGrp="1"/>
          </p:cNvSpPr>
          <p:nvPr>
            <p:ph sz="half" idx="1"/>
          </p:nvPr>
        </p:nvSpPr>
        <p:spPr>
          <a:xfrm>
            <a:off x="4548188" y="633600"/>
            <a:ext cx="6900137" cy="1282513"/>
          </a:xfrm>
        </p:spPr>
        <p:txBody>
          <a:bodyPr vert="horz" lIns="0" tIns="0" rIns="0" bIns="0" rtlCol="0" anchor="t">
            <a:normAutofit fontScale="92500" lnSpcReduction="10000"/>
          </a:bodyPr>
          <a:lstStyle/>
          <a:p>
            <a:r>
              <a:rPr lang="fr-FR" sz="2400" dirty="0"/>
              <a:t>À partir des années 1990.</a:t>
            </a:r>
            <a:endParaRPr lang="fr-FR" sz="2400" dirty="0">
              <a:solidFill>
                <a:srgbClr val="FFFFFF">
                  <a:alpha val="58000"/>
                </a:srgbClr>
              </a:solidFill>
            </a:endParaRPr>
          </a:p>
          <a:p>
            <a:r>
              <a:rPr lang="fr-FR" sz="2400" dirty="0"/>
              <a:t>Le mouvement s'attarde à la diversité au sein des groupes féministes.</a:t>
            </a:r>
            <a:endParaRPr lang="fr-FR" sz="2400" dirty="0">
              <a:solidFill>
                <a:srgbClr val="FFFFFF">
                  <a:alpha val="58000"/>
                </a:srgbClr>
              </a:solidFill>
            </a:endParaRPr>
          </a:p>
          <a:p>
            <a:endParaRPr lang="fr-FR" sz="2400" dirty="0">
              <a:solidFill>
                <a:srgbClr val="FFFFFF">
                  <a:alpha val="58000"/>
                </a:srgbClr>
              </a:solidFill>
            </a:endParaRPr>
          </a:p>
          <a:p>
            <a:endParaRPr lang="fr-FR" sz="2400" dirty="0">
              <a:solidFill>
                <a:srgbClr val="FFFFFF">
                  <a:alpha val="58000"/>
                </a:srgbClr>
              </a:solidFill>
            </a:endParaRPr>
          </a:p>
        </p:txBody>
      </p:sp>
      <p:sp useBgFill="1">
        <p:nvSpPr>
          <p:cNvPr id="26" name="Freeform: Shape 25">
            <a:extLst>
              <a:ext uri="{FF2B5EF4-FFF2-40B4-BE49-F238E27FC236}">
                <a16:creationId xmlns:a16="http://schemas.microsoft.com/office/drawing/2014/main" id="{C27C1BEB-0B53-40C1-BFC6-73739970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flipH="1">
            <a:off x="4524373" y="-809624"/>
            <a:ext cx="3143251" cy="12192000"/>
          </a:xfrm>
          <a:custGeom>
            <a:avLst/>
            <a:gdLst>
              <a:gd name="connsiteX0" fmla="*/ 508 w 2932134"/>
              <a:gd name="connsiteY0" fmla="*/ 4431100 h 12192000"/>
              <a:gd name="connsiteX1" fmla="*/ 137030 w 2932134"/>
              <a:gd name="connsiteY1" fmla="*/ 177371 h 12192000"/>
              <a:gd name="connsiteX2" fmla="*/ 145443 w 2932134"/>
              <a:gd name="connsiteY2" fmla="*/ 0 h 12192000"/>
              <a:gd name="connsiteX3" fmla="*/ 2932134 w 2932134"/>
              <a:gd name="connsiteY3" fmla="*/ 0 h 12192000"/>
              <a:gd name="connsiteX4" fmla="*/ 2932133 w 2932134"/>
              <a:gd name="connsiteY4" fmla="*/ 12192000 h 12192000"/>
              <a:gd name="connsiteX5" fmla="*/ 172151 w 2932134"/>
              <a:gd name="connsiteY5" fmla="*/ 12192000 h 12192000"/>
              <a:gd name="connsiteX6" fmla="*/ 169761 w 2932134"/>
              <a:gd name="connsiteY6" fmla="*/ 12180928 h 12192000"/>
              <a:gd name="connsiteX7" fmla="*/ 169761 w 2932134"/>
              <a:gd name="connsiteY7" fmla="*/ 7234593 h 12192000"/>
              <a:gd name="connsiteX8" fmla="*/ 508 w 2932134"/>
              <a:gd name="connsiteY8" fmla="*/ 44311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32134" h="12192000">
                <a:moveTo>
                  <a:pt x="508" y="4431100"/>
                </a:moveTo>
                <a:cubicBezTo>
                  <a:pt x="-7698" y="2846728"/>
                  <a:pt x="85554" y="1238574"/>
                  <a:pt x="137030" y="177371"/>
                </a:cubicBezTo>
                <a:lnTo>
                  <a:pt x="145443" y="0"/>
                </a:lnTo>
                <a:lnTo>
                  <a:pt x="2932134" y="0"/>
                </a:lnTo>
                <a:lnTo>
                  <a:pt x="2932133" y="12192000"/>
                </a:lnTo>
                <a:lnTo>
                  <a:pt x="172151" y="12192000"/>
                </a:lnTo>
                <a:lnTo>
                  <a:pt x="169761" y="12180928"/>
                </a:lnTo>
                <a:cubicBezTo>
                  <a:pt x="169761" y="11800439"/>
                  <a:pt x="169761" y="10278492"/>
                  <a:pt x="169761" y="7234593"/>
                </a:cubicBezTo>
                <a:cubicBezTo>
                  <a:pt x="50398" y="6402277"/>
                  <a:pt x="5637" y="5421334"/>
                  <a:pt x="508" y="4431100"/>
                </a:cubicBezTo>
                <a:close/>
              </a:path>
            </a:pathLst>
          </a:custGeom>
          <a:ln>
            <a:noFill/>
          </a:ln>
        </p:spPr>
        <p:txBody>
          <a:bodyPr vert="horz" wrap="square" lIns="91440" tIns="45720" rIns="91440" bIns="45720" numCol="1" anchor="t" anchorCtr="0" compatLnSpc="1">
            <a:prstTxWarp prst="textNoShape">
              <a:avLst/>
            </a:prstTxWarp>
            <a:noAutofit/>
          </a:bodyPr>
          <a:lstStyle/>
          <a:p>
            <a:endParaRPr lang="en-US"/>
          </a:p>
        </p:txBody>
      </p:sp>
      <p:pic>
        <p:nvPicPr>
          <p:cNvPr id="6" name="Image 6" descr="Une image contenant jouet, poupée&#10;&#10;Description générée automatiquement">
            <a:extLst>
              <a:ext uri="{FF2B5EF4-FFF2-40B4-BE49-F238E27FC236}">
                <a16:creationId xmlns:a16="http://schemas.microsoft.com/office/drawing/2014/main" id="{4F818DC1-C627-46E3-BA0B-74B4D0CB171A}"/>
              </a:ext>
            </a:extLst>
          </p:cNvPr>
          <p:cNvPicPr>
            <a:picLocks noGrp="1" noChangeAspect="1"/>
          </p:cNvPicPr>
          <p:nvPr>
            <p:ph sz="half" idx="2"/>
          </p:nvPr>
        </p:nvPicPr>
        <p:blipFill rotWithShape="1">
          <a:blip r:embed="rId2"/>
          <a:srcRect t="13201" b="7432"/>
          <a:stretch/>
        </p:blipFill>
        <p:spPr>
          <a:xfrm>
            <a:off x="536980" y="2573353"/>
            <a:ext cx="10923181" cy="3619482"/>
          </a:xfrm>
          <a:custGeom>
            <a:avLst/>
            <a:gdLst/>
            <a:ahLst/>
            <a:cxnLst/>
            <a:rect l="l" t="t" r="r" b="b"/>
            <a:pathLst>
              <a:path w="10923181" h="3619482">
                <a:moveTo>
                  <a:pt x="5162684" y="70"/>
                </a:moveTo>
                <a:cubicBezTo>
                  <a:pt x="5873377" y="-1471"/>
                  <a:pt x="6711399" y="23189"/>
                  <a:pt x="7311018" y="23189"/>
                </a:cubicBezTo>
                <a:cubicBezTo>
                  <a:pt x="8120143" y="34150"/>
                  <a:pt x="8726986" y="45110"/>
                  <a:pt x="9276035" y="34150"/>
                </a:cubicBezTo>
                <a:cubicBezTo>
                  <a:pt x="9969570" y="23189"/>
                  <a:pt x="10923181" y="691768"/>
                  <a:pt x="10923181" y="1908361"/>
                </a:cubicBezTo>
                <a:cubicBezTo>
                  <a:pt x="10923181" y="2357733"/>
                  <a:pt x="10730532" y="2796145"/>
                  <a:pt x="10537884" y="3015351"/>
                </a:cubicBezTo>
                <a:cubicBezTo>
                  <a:pt x="10345235" y="3234557"/>
                  <a:pt x="9767289" y="3530485"/>
                  <a:pt x="9468683" y="3563366"/>
                </a:cubicBezTo>
                <a:cubicBezTo>
                  <a:pt x="9227873" y="3596247"/>
                  <a:pt x="8245364" y="3519525"/>
                  <a:pt x="8004553" y="3574326"/>
                </a:cubicBezTo>
                <a:cubicBezTo>
                  <a:pt x="7763743" y="3618167"/>
                  <a:pt x="5596445" y="3574326"/>
                  <a:pt x="5076293" y="3607207"/>
                </a:cubicBezTo>
                <a:cubicBezTo>
                  <a:pt x="4556142" y="3651048"/>
                  <a:pt x="2042076" y="3563366"/>
                  <a:pt x="1753103" y="3563366"/>
                </a:cubicBezTo>
                <a:cubicBezTo>
                  <a:pt x="1454498" y="3563366"/>
                  <a:pt x="1454498" y="3563366"/>
                  <a:pt x="1454498" y="3563366"/>
                </a:cubicBezTo>
                <a:cubicBezTo>
                  <a:pt x="876552" y="3453763"/>
                  <a:pt x="491254" y="3234557"/>
                  <a:pt x="298605" y="3015351"/>
                </a:cubicBezTo>
                <a:cubicBezTo>
                  <a:pt x="96324" y="2686542"/>
                  <a:pt x="0" y="2357733"/>
                  <a:pt x="0" y="1689155"/>
                </a:cubicBezTo>
                <a:cubicBezTo>
                  <a:pt x="0" y="1141140"/>
                  <a:pt x="96324" y="812331"/>
                  <a:pt x="394930" y="582165"/>
                </a:cubicBezTo>
                <a:cubicBezTo>
                  <a:pt x="587579" y="362959"/>
                  <a:pt x="1165525" y="67031"/>
                  <a:pt x="1550822" y="34150"/>
                </a:cubicBezTo>
                <a:cubicBezTo>
                  <a:pt x="1945752" y="1269"/>
                  <a:pt x="2600758" y="88951"/>
                  <a:pt x="4507980" y="12229"/>
                </a:cubicBezTo>
                <a:cubicBezTo>
                  <a:pt x="4703037" y="4009"/>
                  <a:pt x="4925787" y="584"/>
                  <a:pt x="5162684" y="70"/>
                </a:cubicBezTo>
                <a:close/>
              </a:path>
            </a:pathLst>
          </a:custGeom>
        </p:spPr>
      </p:pic>
    </p:spTree>
    <p:extLst>
      <p:ext uri="{BB962C8B-B14F-4D97-AF65-F5344CB8AC3E}">
        <p14:creationId xmlns:p14="http://schemas.microsoft.com/office/powerpoint/2010/main" val="61527870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5BB3780B-63EB-450D-A804-D6AA12F98E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E0847A5-A329-48CD-B3A7-3892FF6DA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B4B5AF80-3FDD-4E70-BF6E-09B9894645EC}"/>
              </a:ext>
            </a:extLst>
          </p:cNvPr>
          <p:cNvSpPr>
            <a:spLocks noGrp="1"/>
          </p:cNvSpPr>
          <p:nvPr>
            <p:ph type="title"/>
          </p:nvPr>
        </p:nvSpPr>
        <p:spPr>
          <a:xfrm>
            <a:off x="720000" y="619200"/>
            <a:ext cx="4991961" cy="1477328"/>
          </a:xfrm>
        </p:spPr>
        <p:txBody>
          <a:bodyPr vert="horz" wrap="square" lIns="0" tIns="0" rIns="0" bIns="0" rtlCol="0" anchor="ctr" anchorCtr="0">
            <a:normAutofit/>
          </a:bodyPr>
          <a:lstStyle/>
          <a:p>
            <a:r>
              <a:rPr lang="en-US"/>
              <a:t>4e vague</a:t>
            </a:r>
          </a:p>
        </p:txBody>
      </p:sp>
      <p:sp>
        <p:nvSpPr>
          <p:cNvPr id="3" name="Espace réservé du contenu 2">
            <a:extLst>
              <a:ext uri="{FF2B5EF4-FFF2-40B4-BE49-F238E27FC236}">
                <a16:creationId xmlns:a16="http://schemas.microsoft.com/office/drawing/2014/main" id="{1734A5F8-3BF7-48F2-8CA8-A2C51F7DA18F}"/>
              </a:ext>
            </a:extLst>
          </p:cNvPr>
          <p:cNvSpPr>
            <a:spLocks noGrp="1"/>
          </p:cNvSpPr>
          <p:nvPr>
            <p:ph sz="half" idx="1"/>
          </p:nvPr>
        </p:nvSpPr>
        <p:spPr>
          <a:xfrm>
            <a:off x="518717" y="2541600"/>
            <a:ext cx="5193245" cy="3978273"/>
          </a:xfrm>
        </p:spPr>
        <p:txBody>
          <a:bodyPr vert="horz" lIns="0" tIns="0" rIns="0" bIns="0" rtlCol="0" anchor="t">
            <a:normAutofit/>
          </a:bodyPr>
          <a:lstStyle/>
          <a:p>
            <a:r>
              <a:rPr lang="fr-FR" sz="2800" dirty="0"/>
              <a:t>Depuis les années 2010.</a:t>
            </a:r>
            <a:endParaRPr lang="fr-FR" sz="2800" dirty="0">
              <a:solidFill>
                <a:srgbClr val="FFFFFF">
                  <a:alpha val="58000"/>
                </a:srgbClr>
              </a:solidFill>
            </a:endParaRPr>
          </a:p>
          <a:p>
            <a:r>
              <a:rPr lang="fr-FR" sz="2800" dirty="0"/>
              <a:t>Réflexions autour des sujets suivants :</a:t>
            </a:r>
            <a:endParaRPr lang="fr-FR" sz="2800" dirty="0">
              <a:solidFill>
                <a:srgbClr val="FFFFFF">
                  <a:alpha val="58000"/>
                </a:srgbClr>
              </a:solidFill>
            </a:endParaRPr>
          </a:p>
          <a:p>
            <a:pPr lvl="1"/>
            <a:r>
              <a:rPr lang="fr-FR" sz="2800" dirty="0"/>
              <a:t>Le harcèlement de rue;</a:t>
            </a:r>
            <a:endParaRPr lang="fr-FR" sz="2800" dirty="0">
              <a:solidFill>
                <a:srgbClr val="FFFFFF">
                  <a:alpha val="58000"/>
                </a:srgbClr>
              </a:solidFill>
            </a:endParaRPr>
          </a:p>
          <a:p>
            <a:pPr lvl="1"/>
            <a:r>
              <a:rPr lang="fr-FR" sz="2800" dirty="0"/>
              <a:t>Les agressions sexuelles;</a:t>
            </a:r>
            <a:endParaRPr lang="fr-FR" sz="2800" dirty="0">
              <a:solidFill>
                <a:srgbClr val="FFFFFF">
                  <a:alpha val="58000"/>
                </a:srgbClr>
              </a:solidFill>
            </a:endParaRPr>
          </a:p>
          <a:p>
            <a:pPr lvl="1"/>
            <a:r>
              <a:rPr lang="fr-FR" sz="2800" dirty="0"/>
              <a:t>La culture du viol;</a:t>
            </a:r>
            <a:endParaRPr lang="fr-FR" sz="2800" dirty="0">
              <a:solidFill>
                <a:srgbClr val="FFFFFF">
                  <a:alpha val="58000"/>
                </a:srgbClr>
              </a:solidFill>
            </a:endParaRPr>
          </a:p>
          <a:p>
            <a:pPr lvl="1"/>
            <a:r>
              <a:rPr lang="fr-FR" sz="2800" dirty="0"/>
              <a:t>La discrimination.</a:t>
            </a:r>
            <a:endParaRPr lang="fr-FR" sz="2800" dirty="0">
              <a:solidFill>
                <a:srgbClr val="FFFFFF">
                  <a:alpha val="58000"/>
                </a:srgbClr>
              </a:solidFill>
            </a:endParaRPr>
          </a:p>
          <a:p>
            <a:pPr lvl="1"/>
            <a:endParaRPr lang="fr-FR" sz="2800" dirty="0">
              <a:solidFill>
                <a:srgbClr val="FFFFFF">
                  <a:alpha val="58000"/>
                </a:srgbClr>
              </a:solidFill>
            </a:endParaRPr>
          </a:p>
        </p:txBody>
      </p:sp>
      <p:pic>
        <p:nvPicPr>
          <p:cNvPr id="5" name="Image 5" descr="Une image contenant texte, personne, gens&#10;&#10;Description générée automatiquement">
            <a:extLst>
              <a:ext uri="{FF2B5EF4-FFF2-40B4-BE49-F238E27FC236}">
                <a16:creationId xmlns:a16="http://schemas.microsoft.com/office/drawing/2014/main" id="{F3F9A167-0042-4885-803A-24A8BF6CA570}"/>
              </a:ext>
            </a:extLst>
          </p:cNvPr>
          <p:cNvPicPr>
            <a:picLocks noGrp="1" noChangeAspect="1"/>
          </p:cNvPicPr>
          <p:nvPr>
            <p:ph sz="half" idx="2"/>
          </p:nvPr>
        </p:nvPicPr>
        <p:blipFill rotWithShape="1">
          <a:blip r:embed="rId2"/>
          <a:srcRect l="5200" r="20392" b="2"/>
          <a:stretch/>
        </p:blipFill>
        <p:spPr>
          <a:xfrm>
            <a:off x="6257657" y="566767"/>
            <a:ext cx="5361537" cy="5404109"/>
          </a:xfrm>
          <a:custGeom>
            <a:avLst/>
            <a:gdLst/>
            <a:ahLst/>
            <a:cxnLst/>
            <a:rect l="l" t="t" r="r" b="b"/>
            <a:pathLst>
              <a:path w="5361537" h="5404109">
                <a:moveTo>
                  <a:pt x="2870828" y="1041"/>
                </a:moveTo>
                <a:cubicBezTo>
                  <a:pt x="3203581" y="14830"/>
                  <a:pt x="3513736" y="163111"/>
                  <a:pt x="3800184" y="290250"/>
                </a:cubicBezTo>
                <a:cubicBezTo>
                  <a:pt x="4171154" y="479730"/>
                  <a:pt x="4508586" y="661721"/>
                  <a:pt x="4702438" y="1026076"/>
                </a:cubicBezTo>
                <a:lnTo>
                  <a:pt x="4959549" y="1326248"/>
                </a:lnTo>
                <a:cubicBezTo>
                  <a:pt x="5129003" y="1601579"/>
                  <a:pt x="5186377" y="1874538"/>
                  <a:pt x="5266423" y="2173276"/>
                </a:cubicBezTo>
                <a:cubicBezTo>
                  <a:pt x="5322579" y="2382854"/>
                  <a:pt x="5370498" y="2561686"/>
                  <a:pt x="5358128" y="2694064"/>
                </a:cubicBezTo>
                <a:cubicBezTo>
                  <a:pt x="5387135" y="3102588"/>
                  <a:pt x="5225012" y="3513996"/>
                  <a:pt x="5101614" y="3771685"/>
                </a:cubicBezTo>
                <a:cubicBezTo>
                  <a:pt x="4997551" y="4040670"/>
                  <a:pt x="4756585" y="4494622"/>
                  <a:pt x="4442699" y="4781934"/>
                </a:cubicBezTo>
                <a:cubicBezTo>
                  <a:pt x="4128813" y="5069245"/>
                  <a:pt x="3867535" y="5122778"/>
                  <a:pt x="3526897" y="5225036"/>
                </a:cubicBezTo>
                <a:cubicBezTo>
                  <a:pt x="3186396" y="5327806"/>
                  <a:pt x="2777866" y="5432329"/>
                  <a:pt x="2398771" y="5397154"/>
                </a:cubicBezTo>
                <a:cubicBezTo>
                  <a:pt x="2019540" y="5361468"/>
                  <a:pt x="1637694" y="5196321"/>
                  <a:pt x="1251137" y="5011566"/>
                </a:cubicBezTo>
                <a:cubicBezTo>
                  <a:pt x="928921" y="4825498"/>
                  <a:pt x="428548" y="4335676"/>
                  <a:pt x="348364" y="4036426"/>
                </a:cubicBezTo>
                <a:cubicBezTo>
                  <a:pt x="268180" y="3737176"/>
                  <a:pt x="-82248" y="2964977"/>
                  <a:pt x="17820" y="2441683"/>
                </a:cubicBezTo>
                <a:cubicBezTo>
                  <a:pt x="117889" y="1918389"/>
                  <a:pt x="122569" y="1757316"/>
                  <a:pt x="362894" y="1276624"/>
                </a:cubicBezTo>
                <a:cubicBezTo>
                  <a:pt x="659155" y="828176"/>
                  <a:pt x="1338551" y="373177"/>
                  <a:pt x="1764257" y="227256"/>
                </a:cubicBezTo>
                <a:cubicBezTo>
                  <a:pt x="2005919" y="114722"/>
                  <a:pt x="2440806" y="61902"/>
                  <a:pt x="2530583" y="37846"/>
                </a:cubicBezTo>
                <a:cubicBezTo>
                  <a:pt x="2646482" y="6791"/>
                  <a:pt x="2759910" y="-3556"/>
                  <a:pt x="2870828" y="1041"/>
                </a:cubicBezTo>
                <a:close/>
              </a:path>
            </a:pathLst>
          </a:custGeom>
        </p:spPr>
      </p:pic>
    </p:spTree>
    <p:extLst>
      <p:ext uri="{BB962C8B-B14F-4D97-AF65-F5344CB8AC3E}">
        <p14:creationId xmlns:p14="http://schemas.microsoft.com/office/powerpoint/2010/main" val="105563492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468DC7FA-55C9-47D5-B8A0-022B4C9AAC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905CBC2-EECC-4468-90C4-C0176E9B0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C1FC4C0-1A67-45C2-8201-A6D3889300F3}"/>
              </a:ext>
            </a:extLst>
          </p:cNvPr>
          <p:cNvSpPr>
            <a:spLocks noGrp="1"/>
          </p:cNvSpPr>
          <p:nvPr>
            <p:ph type="title"/>
          </p:nvPr>
        </p:nvSpPr>
        <p:spPr>
          <a:xfrm>
            <a:off x="6480000" y="619200"/>
            <a:ext cx="4991961" cy="1477328"/>
          </a:xfrm>
        </p:spPr>
        <p:txBody>
          <a:bodyPr vert="horz" wrap="square" lIns="0" tIns="0" rIns="0" bIns="0" rtlCol="0" anchor="ctr" anchorCtr="0">
            <a:normAutofit/>
          </a:bodyPr>
          <a:lstStyle/>
          <a:p>
            <a:r>
              <a:rPr lang="en-US"/>
              <a:t>Les courant de pensée du féminisme</a:t>
            </a:r>
          </a:p>
        </p:txBody>
      </p:sp>
      <p:sp useBgFill="1">
        <p:nvSpPr>
          <p:cNvPr id="25" name="Freeform: Shape 24">
            <a:extLst>
              <a:ext uri="{FF2B5EF4-FFF2-40B4-BE49-F238E27FC236}">
                <a16:creationId xmlns:a16="http://schemas.microsoft.com/office/drawing/2014/main" id="{97D0825D-5142-4F4A-A141-3CCD5E99C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flipH="1">
            <a:off x="-533334" y="533334"/>
            <a:ext cx="6858000" cy="5791331"/>
          </a:xfrm>
          <a:custGeom>
            <a:avLst/>
            <a:gdLst>
              <a:gd name="connsiteX0" fmla="*/ 6858000 w 6858000"/>
              <a:gd name="connsiteY0" fmla="*/ 14535 h 5791331"/>
              <a:gd name="connsiteX1" fmla="*/ 6858000 w 6858000"/>
              <a:gd name="connsiteY1" fmla="*/ 5791331 h 5791331"/>
              <a:gd name="connsiteX2" fmla="*/ 0 w 6858000"/>
              <a:gd name="connsiteY2" fmla="*/ 5791330 h 5791331"/>
              <a:gd name="connsiteX3" fmla="*/ 0 w 6858000"/>
              <a:gd name="connsiteY3" fmla="*/ 0 h 5791331"/>
              <a:gd name="connsiteX4" fmla="*/ 145832 w 6858000"/>
              <a:gd name="connsiteY4" fmla="*/ 1175 h 5791331"/>
              <a:gd name="connsiteX5" fmla="*/ 2611132 w 6858000"/>
              <a:gd name="connsiteY5" fmla="*/ 48625 h 5791331"/>
              <a:gd name="connsiteX6" fmla="*/ 6643031 w 6858000"/>
              <a:gd name="connsiteY6" fmla="*/ 15010 h 5791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5791331">
                <a:moveTo>
                  <a:pt x="6858000" y="14535"/>
                </a:moveTo>
                <a:lnTo>
                  <a:pt x="6858000" y="5791331"/>
                </a:lnTo>
                <a:lnTo>
                  <a:pt x="0" y="5791330"/>
                </a:lnTo>
                <a:lnTo>
                  <a:pt x="0" y="0"/>
                </a:lnTo>
                <a:lnTo>
                  <a:pt x="145832" y="1175"/>
                </a:lnTo>
                <a:cubicBezTo>
                  <a:pt x="886907" y="14750"/>
                  <a:pt x="2228596" y="125101"/>
                  <a:pt x="2611132" y="48625"/>
                </a:cubicBezTo>
                <a:cubicBezTo>
                  <a:pt x="2933352" y="-3056"/>
                  <a:pt x="5032814" y="16325"/>
                  <a:pt x="6643031" y="15010"/>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pic>
        <p:nvPicPr>
          <p:cNvPr id="5" name="Image 5" descr="Une image contenant carte&#10;&#10;Description générée automatiquement">
            <a:extLst>
              <a:ext uri="{FF2B5EF4-FFF2-40B4-BE49-F238E27FC236}">
                <a16:creationId xmlns:a16="http://schemas.microsoft.com/office/drawing/2014/main" id="{EAA2C92C-5A52-4D5D-8013-3524A49A7A97}"/>
              </a:ext>
            </a:extLst>
          </p:cNvPr>
          <p:cNvPicPr>
            <a:picLocks noGrp="1" noChangeAspect="1"/>
          </p:cNvPicPr>
          <p:nvPr>
            <p:ph sz="half" idx="2"/>
          </p:nvPr>
        </p:nvPicPr>
        <p:blipFill rotWithShape="1">
          <a:blip r:embed="rId2"/>
          <a:srcRect l="13648" r="267"/>
          <a:stretch/>
        </p:blipFill>
        <p:spPr>
          <a:xfrm>
            <a:off x="720000" y="936431"/>
            <a:ext cx="4284000" cy="4976475"/>
          </a:xfrm>
          <a:custGeom>
            <a:avLst/>
            <a:gdLst/>
            <a:ahLst/>
            <a:cxnLst/>
            <a:rect l="l" t="t" r="r" b="b"/>
            <a:pathLst>
              <a:path w="4284000" h="5409338">
                <a:moveTo>
                  <a:pt x="0" y="0"/>
                </a:moveTo>
                <a:lnTo>
                  <a:pt x="4284000" y="0"/>
                </a:lnTo>
                <a:lnTo>
                  <a:pt x="4284000" y="5409338"/>
                </a:lnTo>
                <a:lnTo>
                  <a:pt x="0" y="5409338"/>
                </a:lnTo>
                <a:close/>
              </a:path>
            </a:pathLst>
          </a:custGeom>
        </p:spPr>
      </p:pic>
      <p:sp>
        <p:nvSpPr>
          <p:cNvPr id="3" name="Espace réservé du contenu 2">
            <a:extLst>
              <a:ext uri="{FF2B5EF4-FFF2-40B4-BE49-F238E27FC236}">
                <a16:creationId xmlns:a16="http://schemas.microsoft.com/office/drawing/2014/main" id="{B69D925B-2A3D-4148-ACE3-C259AF6A31E7}"/>
              </a:ext>
            </a:extLst>
          </p:cNvPr>
          <p:cNvSpPr>
            <a:spLocks noGrp="1"/>
          </p:cNvSpPr>
          <p:nvPr>
            <p:ph sz="half" idx="1"/>
          </p:nvPr>
        </p:nvSpPr>
        <p:spPr>
          <a:xfrm>
            <a:off x="6137910" y="2096528"/>
            <a:ext cx="5680710" cy="4384282"/>
          </a:xfrm>
        </p:spPr>
        <p:txBody>
          <a:bodyPr vert="horz" lIns="0" tIns="0" rIns="0" bIns="0" rtlCol="0">
            <a:noAutofit/>
          </a:bodyPr>
          <a:lstStyle/>
          <a:p>
            <a:r>
              <a:rPr lang="fr-FR" sz="2400" dirty="0"/>
              <a:t>Le féminisme égalitaire</a:t>
            </a:r>
          </a:p>
          <a:p>
            <a:pPr lvl="1"/>
            <a:r>
              <a:rPr lang="fr-FR" sz="2400" dirty="0"/>
              <a:t>Il prône l’égalité complète entre les hommes et les femmes. Cette égalité cherche à neutraliser les différences à tous les niveaux. Le sexe masculin ou féminin n’est donc plus considéré comme un trait naturel qui détermine les capacités de </a:t>
            </a:r>
            <a:r>
              <a:rPr lang="fr-FR" sz="2400" dirty="0" err="1"/>
              <a:t>chacunE</a:t>
            </a:r>
            <a:r>
              <a:rPr lang="fr-FR" sz="2400" dirty="0"/>
              <a:t>. </a:t>
            </a:r>
          </a:p>
        </p:txBody>
      </p:sp>
    </p:spTree>
    <p:extLst>
      <p:ext uri="{BB962C8B-B14F-4D97-AF65-F5344CB8AC3E}">
        <p14:creationId xmlns:p14="http://schemas.microsoft.com/office/powerpoint/2010/main" val="36563242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05D1035C-3BF0-4FE0-B3A3-1062F8600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A258B773-324D-43A9-BF54-866F610A9F68}"/>
              </a:ext>
            </a:extLst>
          </p:cNvPr>
          <p:cNvSpPr>
            <a:spLocks noGrp="1"/>
          </p:cNvSpPr>
          <p:nvPr>
            <p:ph type="title"/>
          </p:nvPr>
        </p:nvSpPr>
        <p:spPr>
          <a:xfrm>
            <a:off x="720000" y="619200"/>
            <a:ext cx="4991961" cy="1477328"/>
          </a:xfrm>
        </p:spPr>
        <p:txBody>
          <a:bodyPr vert="horz" wrap="square" lIns="0" tIns="0" rIns="0" bIns="0" rtlCol="0" anchor="ctr" anchorCtr="0">
            <a:normAutofit/>
          </a:bodyPr>
          <a:lstStyle/>
          <a:p>
            <a:r>
              <a:rPr lang="en-US"/>
              <a:t>Les courant de pensée du féminisme</a:t>
            </a:r>
          </a:p>
          <a:p>
            <a:endParaRPr lang="en-US"/>
          </a:p>
        </p:txBody>
      </p:sp>
      <p:sp>
        <p:nvSpPr>
          <p:cNvPr id="4" name="Espace réservé du contenu 3">
            <a:extLst>
              <a:ext uri="{FF2B5EF4-FFF2-40B4-BE49-F238E27FC236}">
                <a16:creationId xmlns:a16="http://schemas.microsoft.com/office/drawing/2014/main" id="{C225C10C-E691-4620-982D-BD94C6D23304}"/>
              </a:ext>
            </a:extLst>
          </p:cNvPr>
          <p:cNvSpPr>
            <a:spLocks noGrp="1"/>
          </p:cNvSpPr>
          <p:nvPr>
            <p:ph sz="half" idx="2"/>
          </p:nvPr>
        </p:nvSpPr>
        <p:spPr>
          <a:xfrm>
            <a:off x="308610" y="1920240"/>
            <a:ext cx="6093465" cy="4714651"/>
          </a:xfrm>
        </p:spPr>
        <p:txBody>
          <a:bodyPr vert="horz" lIns="0" tIns="0" rIns="0" bIns="0" rtlCol="0" anchor="t">
            <a:noAutofit/>
          </a:bodyPr>
          <a:lstStyle/>
          <a:p>
            <a:pPr>
              <a:lnSpc>
                <a:spcPct val="110000"/>
              </a:lnSpc>
            </a:pPr>
            <a:r>
              <a:rPr lang="fr-FR" sz="2400" dirty="0"/>
              <a:t>Féminisme de la différence</a:t>
            </a:r>
            <a:endParaRPr lang="fr-FR" sz="2400" dirty="0">
              <a:solidFill>
                <a:srgbClr val="FFFFFF">
                  <a:alpha val="58000"/>
                </a:srgbClr>
              </a:solidFill>
            </a:endParaRPr>
          </a:p>
          <a:p>
            <a:pPr lvl="1">
              <a:lnSpc>
                <a:spcPct val="110000"/>
              </a:lnSpc>
            </a:pPr>
            <a:r>
              <a:rPr lang="fr-FR" sz="2400" dirty="0"/>
              <a:t>Il explique la domination des femmes par le système patriarcal, qui se manifeste par le contrôle du corps des femmes par les hommes. </a:t>
            </a:r>
            <a:endParaRPr lang="fr-FR" sz="2400" dirty="0">
              <a:solidFill>
                <a:srgbClr val="FFFFFF">
                  <a:alpha val="58000"/>
                </a:srgbClr>
              </a:solidFill>
            </a:endParaRPr>
          </a:p>
          <a:p>
            <a:pPr lvl="1">
              <a:lnSpc>
                <a:spcPct val="110000"/>
              </a:lnSpc>
            </a:pPr>
            <a:r>
              <a:rPr lang="fr-FR" sz="2400" dirty="0"/>
              <a:t>Le courant de la différence se fonde sur une définition de la femme liée à son essence construite à travers l’expérience de son corps et de la maternité. </a:t>
            </a:r>
            <a:endParaRPr lang="fr-FR" sz="2400" dirty="0">
              <a:solidFill>
                <a:srgbClr val="FFFFFF">
                  <a:alpha val="58000"/>
                </a:srgbClr>
              </a:solidFill>
            </a:endParaRPr>
          </a:p>
          <a:p>
            <a:pPr>
              <a:lnSpc>
                <a:spcPct val="110000"/>
              </a:lnSpc>
            </a:pPr>
            <a:endParaRPr lang="fr-FR" sz="2400" dirty="0">
              <a:solidFill>
                <a:srgbClr val="FFFFFF">
                  <a:alpha val="58000"/>
                </a:srgbClr>
              </a:solidFill>
            </a:endParaRPr>
          </a:p>
        </p:txBody>
      </p:sp>
      <p:pic>
        <p:nvPicPr>
          <p:cNvPr id="5" name="Image 5" descr="Une image contenant texte, livre, jaune&#10;&#10;Description générée automatiquement">
            <a:extLst>
              <a:ext uri="{FF2B5EF4-FFF2-40B4-BE49-F238E27FC236}">
                <a16:creationId xmlns:a16="http://schemas.microsoft.com/office/drawing/2014/main" id="{5EF3991D-4777-42FC-88B5-77078A84EB67}"/>
              </a:ext>
            </a:extLst>
          </p:cNvPr>
          <p:cNvPicPr>
            <a:picLocks noGrp="1" noChangeAspect="1"/>
          </p:cNvPicPr>
          <p:nvPr>
            <p:ph sz="half" idx="1"/>
          </p:nvPr>
        </p:nvPicPr>
        <p:blipFill rotWithShape="1">
          <a:blip r:embed="rId2"/>
          <a:srcRect r="36417" b="-1"/>
          <a:stretch/>
        </p:blipFill>
        <p:spPr>
          <a:xfrm>
            <a:off x="6529065" y="10"/>
            <a:ext cx="5662937" cy="6857990"/>
          </a:xfrm>
          <a:custGeom>
            <a:avLst/>
            <a:gdLst/>
            <a:ahLst/>
            <a:cxnLst/>
            <a:rect l="l" t="t" r="r" b="b"/>
            <a:pathLst>
              <a:path w="5662937" h="6858000">
                <a:moveTo>
                  <a:pt x="598332" y="0"/>
                </a:moveTo>
                <a:lnTo>
                  <a:pt x="5662937" y="0"/>
                </a:lnTo>
                <a:lnTo>
                  <a:pt x="5662937" y="6858000"/>
                </a:lnTo>
                <a:lnTo>
                  <a:pt x="0" y="6858000"/>
                </a:lnTo>
                <a:lnTo>
                  <a:pt x="78957" y="6777438"/>
                </a:lnTo>
                <a:cubicBezTo>
                  <a:pt x="291624" y="6544265"/>
                  <a:pt x="490445" y="6275955"/>
                  <a:pt x="672224" y="5969316"/>
                </a:cubicBezTo>
                <a:cubicBezTo>
                  <a:pt x="914596" y="5515036"/>
                  <a:pt x="1066079" y="5030470"/>
                  <a:pt x="1217562" y="4515619"/>
                </a:cubicBezTo>
                <a:cubicBezTo>
                  <a:pt x="1338748" y="3970483"/>
                  <a:pt x="1399341" y="3516203"/>
                  <a:pt x="1399341" y="3061922"/>
                </a:cubicBezTo>
                <a:cubicBezTo>
                  <a:pt x="1399341" y="1948936"/>
                  <a:pt x="1190579" y="1021447"/>
                  <a:pt x="773055" y="279455"/>
                </a:cubicBezTo>
                <a:close/>
              </a:path>
            </a:pathLst>
          </a:custGeom>
        </p:spPr>
      </p:pic>
    </p:spTree>
    <p:extLst>
      <p:ext uri="{BB962C8B-B14F-4D97-AF65-F5344CB8AC3E}">
        <p14:creationId xmlns:p14="http://schemas.microsoft.com/office/powerpoint/2010/main" val="19531307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01D3B63D-97A2-43B6-B140-7FADB9C54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99AB3E9-A7F5-451B-8FC3-9BBE53056F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B31EF1F-9E0E-432D-8B37-BB0A55044ED6}"/>
              </a:ext>
            </a:extLst>
          </p:cNvPr>
          <p:cNvSpPr>
            <a:spLocks noGrp="1"/>
          </p:cNvSpPr>
          <p:nvPr>
            <p:ph type="title"/>
          </p:nvPr>
        </p:nvSpPr>
        <p:spPr>
          <a:xfrm>
            <a:off x="720000" y="619200"/>
            <a:ext cx="4991961" cy="1477328"/>
          </a:xfrm>
        </p:spPr>
        <p:txBody>
          <a:bodyPr vert="horz" wrap="square" lIns="0" tIns="0" rIns="0" bIns="0" rtlCol="0" anchor="ctr" anchorCtr="0">
            <a:normAutofit/>
          </a:bodyPr>
          <a:lstStyle/>
          <a:p>
            <a:r>
              <a:rPr lang="en-US"/>
              <a:t>Les courant de pensée du féminisme</a:t>
            </a:r>
          </a:p>
          <a:p>
            <a:endParaRPr lang="en-US"/>
          </a:p>
        </p:txBody>
      </p:sp>
      <p:sp>
        <p:nvSpPr>
          <p:cNvPr id="3" name="Espace réservé du contenu 2">
            <a:extLst>
              <a:ext uri="{FF2B5EF4-FFF2-40B4-BE49-F238E27FC236}">
                <a16:creationId xmlns:a16="http://schemas.microsoft.com/office/drawing/2014/main" id="{9DB442D2-0ADF-4784-8E29-A65C2172E85C}"/>
              </a:ext>
            </a:extLst>
          </p:cNvPr>
          <p:cNvSpPr>
            <a:spLocks noGrp="1"/>
          </p:cNvSpPr>
          <p:nvPr>
            <p:ph sz="half" idx="1"/>
          </p:nvPr>
        </p:nvSpPr>
        <p:spPr>
          <a:xfrm>
            <a:off x="297181" y="1748790"/>
            <a:ext cx="5414782" cy="4699196"/>
          </a:xfrm>
        </p:spPr>
        <p:txBody>
          <a:bodyPr vert="horz" lIns="0" tIns="0" rIns="0" bIns="0" rtlCol="0" anchor="t">
            <a:noAutofit/>
          </a:bodyPr>
          <a:lstStyle/>
          <a:p>
            <a:pPr>
              <a:lnSpc>
                <a:spcPct val="110000"/>
              </a:lnSpc>
            </a:pPr>
            <a:r>
              <a:rPr lang="fr-FR" dirty="0"/>
              <a:t>Le féminisme radical</a:t>
            </a:r>
            <a:endParaRPr lang="fr-FR" dirty="0">
              <a:solidFill>
                <a:srgbClr val="FFFFFF">
                  <a:alpha val="58000"/>
                </a:srgbClr>
              </a:solidFill>
            </a:endParaRPr>
          </a:p>
          <a:p>
            <a:pPr lvl="1">
              <a:lnSpc>
                <a:spcPct val="110000"/>
              </a:lnSpc>
            </a:pPr>
            <a:r>
              <a:rPr lang="fr-FR" dirty="0"/>
              <a:t>Pose les femmes en tant que classe politique dominée par la classe des hommes et définit les rapports de sexe comme des rapports de pouvoir. </a:t>
            </a:r>
            <a:endParaRPr lang="fr-FR" dirty="0">
              <a:solidFill>
                <a:srgbClr val="FFFFFF">
                  <a:alpha val="58000"/>
                </a:srgbClr>
              </a:solidFill>
            </a:endParaRPr>
          </a:p>
          <a:p>
            <a:pPr lvl="1">
              <a:lnSpc>
                <a:spcPct val="110000"/>
              </a:lnSpc>
            </a:pPr>
            <a:r>
              <a:rPr lang="fr-FR" dirty="0"/>
              <a:t>Ce courant est axé sur le système patriarcal en tant que source première et principale de l’oppression vécue par les femmes. </a:t>
            </a:r>
            <a:endParaRPr lang="fr-FR" dirty="0">
              <a:solidFill>
                <a:srgbClr val="FFFFFF">
                  <a:alpha val="58000"/>
                </a:srgbClr>
              </a:solidFill>
            </a:endParaRPr>
          </a:p>
          <a:p>
            <a:pPr lvl="1">
              <a:lnSpc>
                <a:spcPct val="110000"/>
              </a:lnSpc>
            </a:pPr>
            <a:r>
              <a:rPr lang="fr-FR" dirty="0"/>
              <a:t>L'expression première du patriarcat se manifeste par le contrôle du corps des femmes, notamment par le contrôle de la maternité et de la sexualité des femmes. </a:t>
            </a:r>
            <a:endParaRPr lang="fr-FR" dirty="0">
              <a:solidFill>
                <a:srgbClr val="FFFFFF">
                  <a:alpha val="58000"/>
                </a:srgbClr>
              </a:solidFill>
            </a:endParaRPr>
          </a:p>
          <a:p>
            <a:pPr>
              <a:lnSpc>
                <a:spcPct val="110000"/>
              </a:lnSpc>
            </a:pPr>
            <a:endParaRPr lang="fr-FR" dirty="0">
              <a:solidFill>
                <a:srgbClr val="FFFFFF">
                  <a:alpha val="58000"/>
                </a:srgbClr>
              </a:solidFill>
            </a:endParaRPr>
          </a:p>
        </p:txBody>
      </p:sp>
      <p:pic>
        <p:nvPicPr>
          <p:cNvPr id="5" name="Image 5" descr="Une image contenant texte&#10;&#10;Description générée automatiquement">
            <a:extLst>
              <a:ext uri="{FF2B5EF4-FFF2-40B4-BE49-F238E27FC236}">
                <a16:creationId xmlns:a16="http://schemas.microsoft.com/office/drawing/2014/main" id="{39991286-88B5-406A-AA0E-7A62124CF310}"/>
              </a:ext>
            </a:extLst>
          </p:cNvPr>
          <p:cNvPicPr>
            <a:picLocks noGrp="1" noChangeAspect="1"/>
          </p:cNvPicPr>
          <p:nvPr>
            <p:ph sz="half" idx="2"/>
          </p:nvPr>
        </p:nvPicPr>
        <p:blipFill rotWithShape="1">
          <a:blip r:embed="rId2"/>
          <a:srcRect l="13915"/>
          <a:stretch/>
        </p:blipFill>
        <p:spPr>
          <a:xfrm>
            <a:off x="6623610" y="720000"/>
            <a:ext cx="4656629" cy="5409338"/>
          </a:xfrm>
          <a:custGeom>
            <a:avLst/>
            <a:gdLst/>
            <a:ahLst/>
            <a:cxnLst/>
            <a:rect l="l" t="t" r="r" b="b"/>
            <a:pathLst>
              <a:path w="5014800" h="5409338">
                <a:moveTo>
                  <a:pt x="0" y="0"/>
                </a:moveTo>
                <a:lnTo>
                  <a:pt x="5014800" y="0"/>
                </a:lnTo>
                <a:lnTo>
                  <a:pt x="5014800" y="5409338"/>
                </a:lnTo>
                <a:lnTo>
                  <a:pt x="0" y="5409338"/>
                </a:lnTo>
                <a:close/>
              </a:path>
            </a:pathLst>
          </a:custGeom>
        </p:spPr>
      </p:pic>
    </p:spTree>
    <p:extLst>
      <p:ext uri="{BB962C8B-B14F-4D97-AF65-F5344CB8AC3E}">
        <p14:creationId xmlns:p14="http://schemas.microsoft.com/office/powerpoint/2010/main" val="99112902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5ED9E2D9-EE69-4775-8CE5-9EAC35AD2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D75B673-1FA7-415E-8B2E-7A0550C8BD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75C1F91-5356-4D4C-8B3A-35AFFEABC17A}"/>
              </a:ext>
            </a:extLst>
          </p:cNvPr>
          <p:cNvSpPr>
            <a:spLocks noGrp="1"/>
          </p:cNvSpPr>
          <p:nvPr>
            <p:ph type="title"/>
          </p:nvPr>
        </p:nvSpPr>
        <p:spPr>
          <a:xfrm>
            <a:off x="6480000" y="619200"/>
            <a:ext cx="4991961" cy="1477328"/>
          </a:xfrm>
        </p:spPr>
        <p:txBody>
          <a:bodyPr vert="horz" wrap="square" lIns="0" tIns="0" rIns="0" bIns="0" rtlCol="0" anchor="ctr" anchorCtr="0">
            <a:normAutofit/>
          </a:bodyPr>
          <a:lstStyle/>
          <a:p>
            <a:r>
              <a:rPr lang="en-US"/>
              <a:t>Les courant de pensée du féminisme</a:t>
            </a:r>
          </a:p>
          <a:p>
            <a:endParaRPr lang="en-US"/>
          </a:p>
        </p:txBody>
      </p:sp>
      <p:pic>
        <p:nvPicPr>
          <p:cNvPr id="5" name="Image 5" descr="Une image contenant texte, livre, personne, bidon&#10;&#10;Description générée automatiquement">
            <a:extLst>
              <a:ext uri="{FF2B5EF4-FFF2-40B4-BE49-F238E27FC236}">
                <a16:creationId xmlns:a16="http://schemas.microsoft.com/office/drawing/2014/main" id="{94D345BD-D087-496A-A879-358C59AC087A}"/>
              </a:ext>
            </a:extLst>
          </p:cNvPr>
          <p:cNvPicPr>
            <a:picLocks noGrp="1" noChangeAspect="1"/>
          </p:cNvPicPr>
          <p:nvPr>
            <p:ph sz="half" idx="2"/>
          </p:nvPr>
        </p:nvPicPr>
        <p:blipFill rotWithShape="1">
          <a:blip r:embed="rId2"/>
          <a:srcRect l="14994" r="36368"/>
          <a:stretch/>
        </p:blipFill>
        <p:spPr>
          <a:xfrm>
            <a:off x="20" y="10"/>
            <a:ext cx="5903704" cy="6857990"/>
          </a:xfrm>
          <a:custGeom>
            <a:avLst/>
            <a:gdLst/>
            <a:ahLst/>
            <a:cxnLst/>
            <a:rect l="l" t="t" r="r" b="b"/>
            <a:pathLst>
              <a:path w="5903724" h="6858000">
                <a:moveTo>
                  <a:pt x="0" y="0"/>
                </a:moveTo>
                <a:lnTo>
                  <a:pt x="5886178" y="0"/>
                </a:lnTo>
                <a:lnTo>
                  <a:pt x="5890522" y="42009"/>
                </a:lnTo>
                <a:cubicBezTo>
                  <a:pt x="5948302" y="788432"/>
                  <a:pt x="5795211" y="5194623"/>
                  <a:pt x="5836720" y="6279216"/>
                </a:cubicBezTo>
                <a:cubicBezTo>
                  <a:pt x="5842686" y="6384211"/>
                  <a:pt x="5845802" y="6526851"/>
                  <a:pt x="5846540" y="6699667"/>
                </a:cubicBezTo>
                <a:lnTo>
                  <a:pt x="5846508" y="6858000"/>
                </a:lnTo>
                <a:lnTo>
                  <a:pt x="0" y="6858000"/>
                </a:lnTo>
                <a:close/>
              </a:path>
            </a:pathLst>
          </a:custGeom>
        </p:spPr>
      </p:pic>
      <p:sp>
        <p:nvSpPr>
          <p:cNvPr id="3" name="Espace réservé du contenu 2">
            <a:extLst>
              <a:ext uri="{FF2B5EF4-FFF2-40B4-BE49-F238E27FC236}">
                <a16:creationId xmlns:a16="http://schemas.microsoft.com/office/drawing/2014/main" id="{521B1783-2508-4118-A320-91C6EFB8001E}"/>
              </a:ext>
            </a:extLst>
          </p:cNvPr>
          <p:cNvSpPr>
            <a:spLocks noGrp="1"/>
          </p:cNvSpPr>
          <p:nvPr>
            <p:ph sz="half" idx="1"/>
          </p:nvPr>
        </p:nvSpPr>
        <p:spPr>
          <a:xfrm>
            <a:off x="6332220" y="2096528"/>
            <a:ext cx="5527930" cy="4480854"/>
          </a:xfrm>
        </p:spPr>
        <p:txBody>
          <a:bodyPr vert="horz" lIns="0" tIns="0" rIns="0" bIns="0" rtlCol="0" anchor="t">
            <a:normAutofit/>
          </a:bodyPr>
          <a:lstStyle/>
          <a:p>
            <a:pPr>
              <a:lnSpc>
                <a:spcPct val="110000"/>
              </a:lnSpc>
            </a:pPr>
            <a:r>
              <a:rPr lang="fr-FR" dirty="0"/>
              <a:t>Le féminisme afro-américain</a:t>
            </a:r>
            <a:endParaRPr lang="fr-FR" dirty="0">
              <a:solidFill>
                <a:srgbClr val="FFFFFF">
                  <a:alpha val="58000"/>
                </a:srgbClr>
              </a:solidFill>
            </a:endParaRPr>
          </a:p>
          <a:p>
            <a:pPr lvl="1">
              <a:lnSpc>
                <a:spcPct val="110000"/>
              </a:lnSpc>
            </a:pPr>
            <a:r>
              <a:rPr lang="fr-FR" dirty="0"/>
              <a:t>Se préoccupe particulièrement des revendications des femmes non-blanches et de la représentation de celles-ci au sein des groupes féministes. </a:t>
            </a:r>
            <a:endParaRPr lang="fr-FR" dirty="0">
              <a:solidFill>
                <a:srgbClr val="FFFFFF">
                  <a:alpha val="58000"/>
                </a:srgbClr>
              </a:solidFill>
            </a:endParaRPr>
          </a:p>
          <a:p>
            <a:pPr lvl="1">
              <a:lnSpc>
                <a:spcPct val="110000"/>
              </a:lnSpc>
            </a:pPr>
            <a:r>
              <a:rPr lang="fr-FR" dirty="0"/>
              <a:t>Il a montré que l’oppression des femmes ne peut être totalement comprise si l’on ne tient pas compte simultanément de la discrimination basée sur la classe, l’orientation sexuelle, le sexe et l’origine culturelle et ethnique. </a:t>
            </a:r>
            <a:endParaRPr lang="fr-FR" dirty="0">
              <a:solidFill>
                <a:srgbClr val="FFFFFF">
                  <a:alpha val="58000"/>
                </a:srgbClr>
              </a:solidFill>
            </a:endParaRPr>
          </a:p>
          <a:p>
            <a:pPr>
              <a:lnSpc>
                <a:spcPct val="110000"/>
              </a:lnSpc>
            </a:pPr>
            <a:endParaRPr lang="fr-FR" dirty="0">
              <a:solidFill>
                <a:srgbClr val="FFFFFF">
                  <a:alpha val="58000"/>
                </a:srgbClr>
              </a:solidFill>
            </a:endParaRPr>
          </a:p>
        </p:txBody>
      </p:sp>
    </p:spTree>
    <p:extLst>
      <p:ext uri="{BB962C8B-B14F-4D97-AF65-F5344CB8AC3E}">
        <p14:creationId xmlns:p14="http://schemas.microsoft.com/office/powerpoint/2010/main" val="398018311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2A3E2477-CB24-4FE6-B9C0-F9800FF83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965638C-2268-4A1B-96C3-95E79EF44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458E33D-9CF8-4DD0-85C4-66A8062B3404}"/>
              </a:ext>
            </a:extLst>
          </p:cNvPr>
          <p:cNvSpPr>
            <a:spLocks noGrp="1"/>
          </p:cNvSpPr>
          <p:nvPr>
            <p:ph type="title"/>
          </p:nvPr>
        </p:nvSpPr>
        <p:spPr>
          <a:xfrm>
            <a:off x="720000" y="619200"/>
            <a:ext cx="4991961" cy="1477328"/>
          </a:xfrm>
        </p:spPr>
        <p:txBody>
          <a:bodyPr vert="horz" wrap="square" lIns="0" tIns="0" rIns="0" bIns="0" rtlCol="0" anchor="ctr" anchorCtr="0">
            <a:normAutofit/>
          </a:bodyPr>
          <a:lstStyle/>
          <a:p>
            <a:r>
              <a:rPr lang="en-US"/>
              <a:t>Les courant de pensée du féminisme</a:t>
            </a:r>
          </a:p>
          <a:p>
            <a:endParaRPr lang="en-US"/>
          </a:p>
        </p:txBody>
      </p:sp>
      <p:sp>
        <p:nvSpPr>
          <p:cNvPr id="3" name="Espace réservé du contenu 2">
            <a:extLst>
              <a:ext uri="{FF2B5EF4-FFF2-40B4-BE49-F238E27FC236}">
                <a16:creationId xmlns:a16="http://schemas.microsoft.com/office/drawing/2014/main" id="{C29B8050-F485-4894-B88D-3918468F59A8}"/>
              </a:ext>
            </a:extLst>
          </p:cNvPr>
          <p:cNvSpPr>
            <a:spLocks noGrp="1"/>
          </p:cNvSpPr>
          <p:nvPr>
            <p:ph sz="half" idx="1"/>
          </p:nvPr>
        </p:nvSpPr>
        <p:spPr>
          <a:xfrm>
            <a:off x="159284" y="2096528"/>
            <a:ext cx="6241384" cy="4578592"/>
          </a:xfrm>
        </p:spPr>
        <p:txBody>
          <a:bodyPr vert="horz" lIns="0" tIns="0" rIns="0" bIns="0" rtlCol="0" anchor="t">
            <a:noAutofit/>
          </a:bodyPr>
          <a:lstStyle/>
          <a:p>
            <a:pPr>
              <a:lnSpc>
                <a:spcPct val="110000"/>
              </a:lnSpc>
            </a:pPr>
            <a:r>
              <a:rPr lang="fr-FR" dirty="0"/>
              <a:t>Le féminisme </a:t>
            </a:r>
            <a:r>
              <a:rPr lang="fr-FR" dirty="0" err="1"/>
              <a:t>intersectionnel</a:t>
            </a:r>
            <a:endParaRPr lang="fr-FR" dirty="0">
              <a:solidFill>
                <a:srgbClr val="FFFFFF">
                  <a:alpha val="58000"/>
                </a:srgbClr>
              </a:solidFill>
            </a:endParaRPr>
          </a:p>
          <a:p>
            <a:pPr lvl="1">
              <a:lnSpc>
                <a:spcPct val="110000"/>
              </a:lnSpc>
            </a:pPr>
            <a:r>
              <a:rPr lang="fr-FR" dirty="0"/>
              <a:t>L'</a:t>
            </a:r>
            <a:r>
              <a:rPr lang="fr-FR" dirty="0" err="1"/>
              <a:t>intersectionnalité</a:t>
            </a:r>
            <a:r>
              <a:rPr lang="fr-FR" dirty="0"/>
              <a:t> étudie les formes de domination et de discrimination non pas séparément, mais dans les liens qui se nouent entre elles, en partant du principe que le racisme, le sexisme, l'homophobie et autres phobies ou encore les rapports de domination entre catégories sociales ne peuvent pas être entièrement expliqués s'ils sont étudiés séparément les uns des autres. </a:t>
            </a:r>
            <a:endParaRPr lang="fr-FR" dirty="0">
              <a:solidFill>
                <a:srgbClr val="FFFFFF">
                  <a:alpha val="58000"/>
                </a:srgbClr>
              </a:solidFill>
            </a:endParaRPr>
          </a:p>
          <a:p>
            <a:pPr lvl="1">
              <a:lnSpc>
                <a:spcPct val="110000"/>
              </a:lnSpc>
            </a:pPr>
            <a:r>
              <a:rPr lang="fr-FR" dirty="0"/>
              <a:t>L'</a:t>
            </a:r>
            <a:r>
              <a:rPr lang="fr-FR" dirty="0" err="1"/>
              <a:t>intersectionnalité</a:t>
            </a:r>
            <a:r>
              <a:rPr lang="fr-FR" dirty="0"/>
              <a:t> entreprend donc d'étudier les intersections entre ces différents phénomènes.</a:t>
            </a:r>
            <a:endParaRPr lang="fr-FR" dirty="0">
              <a:solidFill>
                <a:srgbClr val="FFFFFF">
                  <a:alpha val="58000"/>
                </a:srgbClr>
              </a:solidFill>
            </a:endParaRPr>
          </a:p>
          <a:p>
            <a:pPr>
              <a:lnSpc>
                <a:spcPct val="110000"/>
              </a:lnSpc>
            </a:pPr>
            <a:endParaRPr lang="fr-FR" dirty="0">
              <a:solidFill>
                <a:srgbClr val="FFFFFF">
                  <a:alpha val="58000"/>
                </a:srgbClr>
              </a:solidFill>
            </a:endParaRPr>
          </a:p>
        </p:txBody>
      </p:sp>
      <p:sp useBgFill="1">
        <p:nvSpPr>
          <p:cNvPr id="16" name="Freeform: Shape 15">
            <a:extLst>
              <a:ext uri="{FF2B5EF4-FFF2-40B4-BE49-F238E27FC236}">
                <a16:creationId xmlns:a16="http://schemas.microsoft.com/office/drawing/2014/main" id="{97D0825D-5142-4F4A-A141-3CCD5E99C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5867335" y="533334"/>
            <a:ext cx="6858000" cy="5791331"/>
          </a:xfrm>
          <a:custGeom>
            <a:avLst/>
            <a:gdLst>
              <a:gd name="connsiteX0" fmla="*/ 6858000 w 6858000"/>
              <a:gd name="connsiteY0" fmla="*/ 14535 h 5791331"/>
              <a:gd name="connsiteX1" fmla="*/ 6858000 w 6858000"/>
              <a:gd name="connsiteY1" fmla="*/ 5791331 h 5791331"/>
              <a:gd name="connsiteX2" fmla="*/ 0 w 6858000"/>
              <a:gd name="connsiteY2" fmla="*/ 5791330 h 5791331"/>
              <a:gd name="connsiteX3" fmla="*/ 0 w 6858000"/>
              <a:gd name="connsiteY3" fmla="*/ 0 h 5791331"/>
              <a:gd name="connsiteX4" fmla="*/ 145832 w 6858000"/>
              <a:gd name="connsiteY4" fmla="*/ 1175 h 5791331"/>
              <a:gd name="connsiteX5" fmla="*/ 2611132 w 6858000"/>
              <a:gd name="connsiteY5" fmla="*/ 48625 h 5791331"/>
              <a:gd name="connsiteX6" fmla="*/ 6643031 w 6858000"/>
              <a:gd name="connsiteY6" fmla="*/ 15010 h 5791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5791331">
                <a:moveTo>
                  <a:pt x="6858000" y="14535"/>
                </a:moveTo>
                <a:lnTo>
                  <a:pt x="6858000" y="5791331"/>
                </a:lnTo>
                <a:lnTo>
                  <a:pt x="0" y="5791330"/>
                </a:lnTo>
                <a:lnTo>
                  <a:pt x="0" y="0"/>
                </a:lnTo>
                <a:lnTo>
                  <a:pt x="145832" y="1175"/>
                </a:lnTo>
                <a:cubicBezTo>
                  <a:pt x="886907" y="14750"/>
                  <a:pt x="2228596" y="125101"/>
                  <a:pt x="2611132" y="48625"/>
                </a:cubicBezTo>
                <a:cubicBezTo>
                  <a:pt x="2933352" y="-3056"/>
                  <a:pt x="5032814" y="16325"/>
                  <a:pt x="6643031" y="15010"/>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pic>
        <p:nvPicPr>
          <p:cNvPr id="5" name="Image 5" descr="Une image contenant texte, graphiques vectoriels, jouet, poupée&#10;&#10;Description générée automatiquement">
            <a:extLst>
              <a:ext uri="{FF2B5EF4-FFF2-40B4-BE49-F238E27FC236}">
                <a16:creationId xmlns:a16="http://schemas.microsoft.com/office/drawing/2014/main" id="{7EC46DF3-B304-473B-949E-524714AC0D46}"/>
              </a:ext>
            </a:extLst>
          </p:cNvPr>
          <p:cNvPicPr>
            <a:picLocks noGrp="1" noChangeAspect="1"/>
          </p:cNvPicPr>
          <p:nvPr>
            <p:ph sz="half" idx="2"/>
          </p:nvPr>
        </p:nvPicPr>
        <p:blipFill>
          <a:blip r:embed="rId2"/>
          <a:stretch>
            <a:fillRect/>
          </a:stretch>
        </p:blipFill>
        <p:spPr>
          <a:xfrm>
            <a:off x="7176162" y="2385799"/>
            <a:ext cx="4284000" cy="2077740"/>
          </a:xfrm>
          <a:custGeom>
            <a:avLst/>
            <a:gdLst/>
            <a:ahLst/>
            <a:cxnLst/>
            <a:rect l="l" t="t" r="r" b="b"/>
            <a:pathLst>
              <a:path w="4284000" h="5409338">
                <a:moveTo>
                  <a:pt x="0" y="0"/>
                </a:moveTo>
                <a:lnTo>
                  <a:pt x="4284000" y="0"/>
                </a:lnTo>
                <a:lnTo>
                  <a:pt x="4284000" y="5409338"/>
                </a:lnTo>
                <a:lnTo>
                  <a:pt x="0" y="5409338"/>
                </a:lnTo>
                <a:close/>
              </a:path>
            </a:pathLst>
          </a:custGeom>
        </p:spPr>
      </p:pic>
    </p:spTree>
    <p:extLst>
      <p:ext uri="{BB962C8B-B14F-4D97-AF65-F5344CB8AC3E}">
        <p14:creationId xmlns:p14="http://schemas.microsoft.com/office/powerpoint/2010/main" val="181000607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5ED9E2D9-EE69-4775-8CE5-9EAC35AD2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D75B673-1FA7-415E-8B2E-7A0550C8BD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7B72748-F33F-4056-A056-19219CEF6CA5}"/>
              </a:ext>
            </a:extLst>
          </p:cNvPr>
          <p:cNvSpPr>
            <a:spLocks noGrp="1"/>
          </p:cNvSpPr>
          <p:nvPr>
            <p:ph type="title"/>
          </p:nvPr>
        </p:nvSpPr>
        <p:spPr>
          <a:xfrm>
            <a:off x="6480000" y="619200"/>
            <a:ext cx="4991961" cy="1477328"/>
          </a:xfrm>
        </p:spPr>
        <p:txBody>
          <a:bodyPr vert="horz" wrap="square" lIns="0" tIns="0" rIns="0" bIns="0" rtlCol="0" anchor="ctr" anchorCtr="0">
            <a:normAutofit/>
          </a:bodyPr>
          <a:lstStyle/>
          <a:p>
            <a:r>
              <a:rPr lang="en-US"/>
              <a:t>Les courant de pensée du féminisme</a:t>
            </a:r>
          </a:p>
          <a:p>
            <a:endParaRPr lang="en-US"/>
          </a:p>
          <a:p>
            <a:endParaRPr lang="en-US"/>
          </a:p>
        </p:txBody>
      </p:sp>
      <p:pic>
        <p:nvPicPr>
          <p:cNvPr id="5" name="Image 5" descr="Une image contenant carte&#10;&#10;Description générée automatiquement">
            <a:extLst>
              <a:ext uri="{FF2B5EF4-FFF2-40B4-BE49-F238E27FC236}">
                <a16:creationId xmlns:a16="http://schemas.microsoft.com/office/drawing/2014/main" id="{1D1FBE1E-0B51-41AF-8757-3FB3AF3383D6}"/>
              </a:ext>
            </a:extLst>
          </p:cNvPr>
          <p:cNvPicPr>
            <a:picLocks noGrp="1" noChangeAspect="1"/>
          </p:cNvPicPr>
          <p:nvPr>
            <p:ph sz="half" idx="2"/>
          </p:nvPr>
        </p:nvPicPr>
        <p:blipFill rotWithShape="1">
          <a:blip r:embed="rId2"/>
          <a:srcRect l="5659" r="770"/>
          <a:stretch/>
        </p:blipFill>
        <p:spPr>
          <a:xfrm>
            <a:off x="20" y="10"/>
            <a:ext cx="5903704" cy="6857990"/>
          </a:xfrm>
          <a:custGeom>
            <a:avLst/>
            <a:gdLst/>
            <a:ahLst/>
            <a:cxnLst/>
            <a:rect l="l" t="t" r="r" b="b"/>
            <a:pathLst>
              <a:path w="5903724" h="6858000">
                <a:moveTo>
                  <a:pt x="0" y="0"/>
                </a:moveTo>
                <a:lnTo>
                  <a:pt x="5886178" y="0"/>
                </a:lnTo>
                <a:lnTo>
                  <a:pt x="5890522" y="42009"/>
                </a:lnTo>
                <a:cubicBezTo>
                  <a:pt x="5948302" y="788432"/>
                  <a:pt x="5795211" y="5194623"/>
                  <a:pt x="5836720" y="6279216"/>
                </a:cubicBezTo>
                <a:cubicBezTo>
                  <a:pt x="5842686" y="6384211"/>
                  <a:pt x="5845802" y="6526851"/>
                  <a:pt x="5846540" y="6699667"/>
                </a:cubicBezTo>
                <a:lnTo>
                  <a:pt x="5846508" y="6858000"/>
                </a:lnTo>
                <a:lnTo>
                  <a:pt x="0" y="6858000"/>
                </a:lnTo>
                <a:close/>
              </a:path>
            </a:pathLst>
          </a:custGeom>
        </p:spPr>
      </p:pic>
      <p:sp>
        <p:nvSpPr>
          <p:cNvPr id="3" name="Espace réservé du contenu 2">
            <a:extLst>
              <a:ext uri="{FF2B5EF4-FFF2-40B4-BE49-F238E27FC236}">
                <a16:creationId xmlns:a16="http://schemas.microsoft.com/office/drawing/2014/main" id="{AE36B040-925F-49C8-B208-6FA7E0F562C0}"/>
              </a:ext>
            </a:extLst>
          </p:cNvPr>
          <p:cNvSpPr>
            <a:spLocks noGrp="1"/>
          </p:cNvSpPr>
          <p:nvPr>
            <p:ph sz="half" idx="1"/>
          </p:nvPr>
        </p:nvSpPr>
        <p:spPr>
          <a:xfrm>
            <a:off x="6221208" y="1707714"/>
            <a:ext cx="5768338" cy="5013442"/>
          </a:xfrm>
        </p:spPr>
        <p:txBody>
          <a:bodyPr vert="horz" lIns="0" tIns="0" rIns="0" bIns="0" rtlCol="0" anchor="t">
            <a:normAutofit/>
          </a:bodyPr>
          <a:lstStyle/>
          <a:p>
            <a:pPr>
              <a:lnSpc>
                <a:spcPct val="110000"/>
              </a:lnSpc>
            </a:pPr>
            <a:r>
              <a:rPr lang="fr-FR" dirty="0"/>
              <a:t>L'</a:t>
            </a:r>
            <a:r>
              <a:rPr lang="fr-FR" dirty="0" err="1"/>
              <a:t>écoféminisme</a:t>
            </a:r>
            <a:endParaRPr lang="fr-FR" dirty="0">
              <a:solidFill>
                <a:srgbClr val="FFFFFF">
                  <a:alpha val="58000"/>
                </a:srgbClr>
              </a:solidFill>
            </a:endParaRPr>
          </a:p>
          <a:p>
            <a:pPr lvl="1">
              <a:lnSpc>
                <a:spcPct val="110000"/>
              </a:lnSpc>
            </a:pPr>
            <a:r>
              <a:rPr lang="fr-FR" dirty="0"/>
              <a:t>S’intéresse aux conditions de vie des femmes et à la préservation des ressources naturelles et de la faune. </a:t>
            </a:r>
            <a:endParaRPr lang="fr-FR" dirty="0">
              <a:solidFill>
                <a:srgbClr val="FFFFFF">
                  <a:alpha val="58000"/>
                </a:srgbClr>
              </a:solidFill>
            </a:endParaRPr>
          </a:p>
          <a:p>
            <a:pPr lvl="1">
              <a:lnSpc>
                <a:spcPct val="110000"/>
              </a:lnSpc>
            </a:pPr>
            <a:r>
              <a:rPr lang="fr-FR" dirty="0"/>
              <a:t>Cette combinaison des préoccupations concernant les femmes et l’environnement est née du constat de certaines féministes et environnementalistes selon lequel les systèmes patriarcal et capitaliste sont responsables de l’oppression des femmes et de la destruction de l’environnement naturel. </a:t>
            </a:r>
            <a:endParaRPr lang="fr-FR" dirty="0">
              <a:solidFill>
                <a:srgbClr val="FFFFFF">
                  <a:alpha val="58000"/>
                </a:srgbClr>
              </a:solidFill>
            </a:endParaRPr>
          </a:p>
          <a:p>
            <a:pPr>
              <a:lnSpc>
                <a:spcPct val="110000"/>
              </a:lnSpc>
            </a:pPr>
            <a:endParaRPr lang="fr-FR" dirty="0">
              <a:solidFill>
                <a:srgbClr val="FFFFFF">
                  <a:alpha val="58000"/>
                </a:srgbClr>
              </a:solidFill>
            </a:endParaRPr>
          </a:p>
        </p:txBody>
      </p:sp>
    </p:spTree>
    <p:extLst>
      <p:ext uri="{BB962C8B-B14F-4D97-AF65-F5344CB8AC3E}">
        <p14:creationId xmlns:p14="http://schemas.microsoft.com/office/powerpoint/2010/main" val="410983654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2A3E2477-CB24-4FE6-B9C0-F9800FF83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965638C-2268-4A1B-96C3-95E79EF44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2710DBB-C141-464E-A36B-88C464E12E2E}"/>
              </a:ext>
            </a:extLst>
          </p:cNvPr>
          <p:cNvSpPr>
            <a:spLocks noGrp="1"/>
          </p:cNvSpPr>
          <p:nvPr>
            <p:ph type="title"/>
          </p:nvPr>
        </p:nvSpPr>
        <p:spPr>
          <a:xfrm>
            <a:off x="720000" y="619200"/>
            <a:ext cx="4991961" cy="1477328"/>
          </a:xfrm>
        </p:spPr>
        <p:txBody>
          <a:bodyPr vert="horz" wrap="square" lIns="0" tIns="0" rIns="0" bIns="0" rtlCol="0" anchor="ctr" anchorCtr="0">
            <a:normAutofit/>
          </a:bodyPr>
          <a:lstStyle/>
          <a:p>
            <a:r>
              <a:rPr lang="en-US"/>
              <a:t>Petit lexique</a:t>
            </a:r>
          </a:p>
        </p:txBody>
      </p:sp>
      <p:sp>
        <p:nvSpPr>
          <p:cNvPr id="3" name="Espace réservé du contenu 2">
            <a:extLst>
              <a:ext uri="{FF2B5EF4-FFF2-40B4-BE49-F238E27FC236}">
                <a16:creationId xmlns:a16="http://schemas.microsoft.com/office/drawing/2014/main" id="{5599DBF9-4B2C-4790-9C84-7E437D00F7E7}"/>
              </a:ext>
            </a:extLst>
          </p:cNvPr>
          <p:cNvSpPr>
            <a:spLocks noGrp="1"/>
          </p:cNvSpPr>
          <p:nvPr>
            <p:ph sz="half" idx="1"/>
          </p:nvPr>
        </p:nvSpPr>
        <p:spPr>
          <a:xfrm>
            <a:off x="205740" y="1920240"/>
            <a:ext cx="6023610" cy="4709160"/>
          </a:xfrm>
        </p:spPr>
        <p:txBody>
          <a:bodyPr vert="horz" lIns="0" tIns="0" rIns="0" bIns="0" rtlCol="0">
            <a:normAutofit fontScale="77500" lnSpcReduction="20000"/>
          </a:bodyPr>
          <a:lstStyle/>
          <a:p>
            <a:r>
              <a:rPr lang="fr-FR" b="1" dirty="0"/>
              <a:t>Culture du viol </a:t>
            </a:r>
            <a:r>
              <a:rPr lang="fr-FR" dirty="0"/>
              <a:t>: L’expression apparait dans les année 1970. Elle regroupe un ensemble de comportement, de discours et d’attitudes qui banalisent les agressions sexuelles.</a:t>
            </a:r>
          </a:p>
          <a:p>
            <a:r>
              <a:rPr lang="fr-FR" b="1" dirty="0" err="1"/>
              <a:t>Mansplaining</a:t>
            </a:r>
            <a:r>
              <a:rPr lang="fr-FR" dirty="0"/>
              <a:t>: attitude condescendante et suffisante qu’adoptent certains hommes lorsqu’ils tiennent pour acquis que leur interlocutrice en sait moins qu’eux sur un sujet dont elle est pourtant experte.</a:t>
            </a:r>
          </a:p>
          <a:p>
            <a:r>
              <a:rPr lang="fr-FR" b="1" dirty="0"/>
              <a:t>Misogynie</a:t>
            </a:r>
            <a:r>
              <a:rPr lang="fr-FR" dirty="0"/>
              <a:t>: Hostilité ou mépris envers les femmes.</a:t>
            </a:r>
          </a:p>
          <a:p>
            <a:r>
              <a:rPr lang="fr-FR" b="1" dirty="0"/>
              <a:t>Patriarcat</a:t>
            </a:r>
            <a:r>
              <a:rPr lang="fr-FR" dirty="0"/>
              <a:t>: Ordre masculin accordant le pouvoir au chef de la famille. Système d'oppression des femmes. Mode d'organisation sociale.</a:t>
            </a:r>
          </a:p>
          <a:p>
            <a:r>
              <a:rPr lang="fr-FR" b="1" dirty="0">
                <a:solidFill>
                  <a:srgbClr val="FFFFFF">
                    <a:alpha val="58000"/>
                  </a:srgbClr>
                </a:solidFill>
              </a:rPr>
              <a:t>Privilège</a:t>
            </a:r>
            <a:r>
              <a:rPr lang="fr-FR" dirty="0">
                <a:solidFill>
                  <a:srgbClr val="FFFFFF">
                    <a:alpha val="58000"/>
                  </a:srgbClr>
                </a:solidFill>
              </a:rPr>
              <a:t>: Avantage obtenu sans avoir fait d’effort pour l’obtenir et qui facilite la vie de celui qui en jouit sans en avoir nécessairement conscience. La couleur de la peau, le statut social, le niveau d’éducation, le sexe, le genre, l’orientation sexuelle et les capacités physiques constituent des vecteurs de privilèges.</a:t>
            </a:r>
          </a:p>
          <a:p>
            <a:endParaRPr lang="fr-FR" dirty="0"/>
          </a:p>
        </p:txBody>
      </p:sp>
      <p:sp useBgFill="1">
        <p:nvSpPr>
          <p:cNvPr id="25" name="Freeform: Shape 24">
            <a:extLst>
              <a:ext uri="{FF2B5EF4-FFF2-40B4-BE49-F238E27FC236}">
                <a16:creationId xmlns:a16="http://schemas.microsoft.com/office/drawing/2014/main" id="{97D0825D-5142-4F4A-A141-3CCD5E99C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5867335" y="533334"/>
            <a:ext cx="6858000" cy="5791331"/>
          </a:xfrm>
          <a:custGeom>
            <a:avLst/>
            <a:gdLst>
              <a:gd name="connsiteX0" fmla="*/ 6858000 w 6858000"/>
              <a:gd name="connsiteY0" fmla="*/ 14535 h 5791331"/>
              <a:gd name="connsiteX1" fmla="*/ 6858000 w 6858000"/>
              <a:gd name="connsiteY1" fmla="*/ 5791331 h 5791331"/>
              <a:gd name="connsiteX2" fmla="*/ 0 w 6858000"/>
              <a:gd name="connsiteY2" fmla="*/ 5791330 h 5791331"/>
              <a:gd name="connsiteX3" fmla="*/ 0 w 6858000"/>
              <a:gd name="connsiteY3" fmla="*/ 0 h 5791331"/>
              <a:gd name="connsiteX4" fmla="*/ 145832 w 6858000"/>
              <a:gd name="connsiteY4" fmla="*/ 1175 h 5791331"/>
              <a:gd name="connsiteX5" fmla="*/ 2611132 w 6858000"/>
              <a:gd name="connsiteY5" fmla="*/ 48625 h 5791331"/>
              <a:gd name="connsiteX6" fmla="*/ 6643031 w 6858000"/>
              <a:gd name="connsiteY6" fmla="*/ 15010 h 5791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5791331">
                <a:moveTo>
                  <a:pt x="6858000" y="14535"/>
                </a:moveTo>
                <a:lnTo>
                  <a:pt x="6858000" y="5791331"/>
                </a:lnTo>
                <a:lnTo>
                  <a:pt x="0" y="5791330"/>
                </a:lnTo>
                <a:lnTo>
                  <a:pt x="0" y="0"/>
                </a:lnTo>
                <a:lnTo>
                  <a:pt x="145832" y="1175"/>
                </a:lnTo>
                <a:cubicBezTo>
                  <a:pt x="886907" y="14750"/>
                  <a:pt x="2228596" y="125101"/>
                  <a:pt x="2611132" y="48625"/>
                </a:cubicBezTo>
                <a:cubicBezTo>
                  <a:pt x="2933352" y="-3056"/>
                  <a:pt x="5032814" y="16325"/>
                  <a:pt x="6643031" y="15010"/>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pic>
        <p:nvPicPr>
          <p:cNvPr id="5" name="Image 5" descr="Une image contenant texte, personne&#10;&#10;Description générée automatiquement">
            <a:extLst>
              <a:ext uri="{FF2B5EF4-FFF2-40B4-BE49-F238E27FC236}">
                <a16:creationId xmlns:a16="http://schemas.microsoft.com/office/drawing/2014/main" id="{2B854C2C-0344-4955-918F-A135313D672C}"/>
              </a:ext>
            </a:extLst>
          </p:cNvPr>
          <p:cNvPicPr>
            <a:picLocks noGrp="1" noChangeAspect="1"/>
          </p:cNvPicPr>
          <p:nvPr>
            <p:ph sz="half" idx="2"/>
          </p:nvPr>
        </p:nvPicPr>
        <p:blipFill>
          <a:blip r:embed="rId2"/>
          <a:stretch>
            <a:fillRect/>
          </a:stretch>
        </p:blipFill>
        <p:spPr>
          <a:xfrm>
            <a:off x="7176162" y="1700359"/>
            <a:ext cx="4284000" cy="3448620"/>
          </a:xfrm>
          <a:custGeom>
            <a:avLst/>
            <a:gdLst/>
            <a:ahLst/>
            <a:cxnLst/>
            <a:rect l="l" t="t" r="r" b="b"/>
            <a:pathLst>
              <a:path w="4284000" h="5409338">
                <a:moveTo>
                  <a:pt x="0" y="0"/>
                </a:moveTo>
                <a:lnTo>
                  <a:pt x="4284000" y="0"/>
                </a:lnTo>
                <a:lnTo>
                  <a:pt x="4284000" y="5409338"/>
                </a:lnTo>
                <a:lnTo>
                  <a:pt x="0" y="5409338"/>
                </a:lnTo>
                <a:close/>
              </a:path>
            </a:pathLst>
          </a:custGeom>
        </p:spPr>
      </p:pic>
    </p:spTree>
    <p:extLst>
      <p:ext uri="{BB962C8B-B14F-4D97-AF65-F5344CB8AC3E}">
        <p14:creationId xmlns:p14="http://schemas.microsoft.com/office/powerpoint/2010/main" val="350270042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BlobVTI">
  <a:themeElements>
    <a:clrScheme name="Blob V2">
      <a:dk1>
        <a:sysClr val="windowText" lastClr="000000"/>
      </a:dk1>
      <a:lt1>
        <a:sysClr val="window" lastClr="FFFFFF"/>
      </a:lt1>
      <a:dk2>
        <a:srgbClr val="0B2827"/>
      </a:dk2>
      <a:lt2>
        <a:srgbClr val="DAE3E3"/>
      </a:lt2>
      <a:accent1>
        <a:srgbClr val="B495C2"/>
      </a:accent1>
      <a:accent2>
        <a:srgbClr val="767E37"/>
      </a:accent2>
      <a:accent3>
        <a:srgbClr val="8FA3A3"/>
      </a:accent3>
      <a:accent4>
        <a:srgbClr val="CE7F01"/>
      </a:accent4>
      <a:accent5>
        <a:srgbClr val="D15A29"/>
      </a:accent5>
      <a:accent6>
        <a:srgbClr val="B88470"/>
      </a:accent6>
      <a:hlink>
        <a:srgbClr val="B57001"/>
      </a:hlink>
      <a:folHlink>
        <a:srgbClr val="996209"/>
      </a:folHlink>
    </a:clrScheme>
    <a:fontScheme name="Blob">
      <a:majorFont>
        <a:latin typeface="Rockwell Nova Light"/>
        <a:ea typeface=""/>
        <a:cs typeface=""/>
      </a:majorFont>
      <a:minorFont>
        <a:latin typeface="Avenir Next LT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bVTI" id="{06D3AACF-B619-4265-899F-5E2FB3A445D5}" vid="{F5918863-BA1A-4735-81A8-3E7BFBDA8478}"/>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Quotable</Template>
  <TotalTime>16</TotalTime>
  <Words>769</Words>
  <Application>Microsoft Office PowerPoint</Application>
  <PresentationFormat>Grand écran</PresentationFormat>
  <Paragraphs>71</Paragraphs>
  <Slides>15</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15</vt:i4>
      </vt:variant>
    </vt:vector>
  </HeadingPairs>
  <TitlesOfParts>
    <vt:vector size="21" baseType="lpstr">
      <vt:lpstr>Arial</vt:lpstr>
      <vt:lpstr>Avenir Next LT Pro</vt:lpstr>
      <vt:lpstr>Calibri</vt:lpstr>
      <vt:lpstr>Rockwell Nova Light</vt:lpstr>
      <vt:lpstr>The Hand Extrablack</vt:lpstr>
      <vt:lpstr>BlobVTI</vt:lpstr>
      <vt:lpstr>Le féminisme</vt:lpstr>
      <vt:lpstr>Définition</vt:lpstr>
      <vt:lpstr>Naissance d'un mot</vt:lpstr>
      <vt:lpstr>Naissance d'un mouvement</vt:lpstr>
      <vt:lpstr>1ère vage</vt:lpstr>
      <vt:lpstr>2e vague</vt:lpstr>
      <vt:lpstr>3e vague</vt:lpstr>
      <vt:lpstr>4e vague</vt:lpstr>
      <vt:lpstr>Les courant de pensée du féminisme</vt:lpstr>
      <vt:lpstr>Les courant de pensée du féminisme </vt:lpstr>
      <vt:lpstr>Les courant de pensée du féminisme </vt:lpstr>
      <vt:lpstr>Les courant de pensée du féminisme </vt:lpstr>
      <vt:lpstr>Les courant de pensée du féminisme </vt:lpstr>
      <vt:lpstr>Les courant de pensée du féminisme  </vt:lpstr>
      <vt:lpstr>Petit lexique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Marie-Hélène Beaudoin</dc:creator>
  <cp:lastModifiedBy>Marie-Hélène Beaudoin</cp:lastModifiedBy>
  <cp:revision>163</cp:revision>
  <dcterms:created xsi:type="dcterms:W3CDTF">2021-10-05T16:17:17Z</dcterms:created>
  <dcterms:modified xsi:type="dcterms:W3CDTF">2024-02-02T15:32:20Z</dcterms:modified>
</cp:coreProperties>
</file>