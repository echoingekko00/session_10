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7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 B" initials="MB" lastIdx="11" clrIdx="0">
    <p:extLst>
      <p:ext uri="{19B8F6BF-5375-455C-9EA6-DF929625EA0E}">
        <p15:presenceInfo xmlns:p15="http://schemas.microsoft.com/office/powerpoint/2012/main" userId="M B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49"/>
    <p:restoredTop sz="95846"/>
  </p:normalViewPr>
  <p:slideViewPr>
    <p:cSldViewPr snapToGrid="0" snapToObjects="1">
      <p:cViewPr varScale="1">
        <p:scale>
          <a:sx n="110" d="100"/>
          <a:sy n="110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8-23T17:28:01.010" idx="1">
    <p:pos x="3379" y="1271"/>
    <p:text>Tableau de Cornelius Krieghoff, 1856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8-23T17:30:26.130" idx="2">
    <p:pos x="7425" y="1336"/>
    <p:text>Tableau: Edmond Joseph Massicotte, 1915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8-24T11:15:54.641" idx="6">
    <p:pos x="3436" y="1267"/>
    <p:text>Tableau de Maurice Raymond 1940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8-24T11:05:11.181" idx="3">
    <p:pos x="7178" y="1271"/>
    <p:text>Tableau de Clarence Gagnon entre 1900-1942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8-24T11:08:57.046" idx="4">
    <p:pos x="7295" y="1271"/>
    <p:text>Tableau : Horacio Walker 1900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8-24T16:52:11.364" idx="11">
    <p:pos x="3469" y="1267"/>
    <p:text>Tableau de Prudence Heward 1928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8-24T11:16:44.930" idx="7">
    <p:pos x="3659" y="1271"/>
    <p:text>Tableau d'Ozias Leduc 1892-1899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8-24T11:17:49.589" idx="8">
    <p:pos x="7406" y="1267"/>
    <p:text>Tableau de Ludger Larose 1899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8-24T11:23:43.334" idx="9">
    <p:pos x="3554" y="1350"/>
    <p:text>Tableau d'Adrien Hébert 1948</p:text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4/29/24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4/29/24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4/29/24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4/29/24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‹n°›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4/29/24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‹n°›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4/29/24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‹n°›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4/29/24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4/29/24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‹n°›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/>
              <a:pPr/>
              <a:t>4/29/24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4/29/24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‹n°›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4/29/24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/>
              <a:pPr/>
              <a:t>4/29/24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/>
              <a:pPr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comments" Target="../comments/comment4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9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674925-46A2-E140-81E9-7CB098535C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 terroir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AA8FB32-2031-3845-B5CE-0A3EC0B25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/>
          <a:lstStyle/>
          <a:p>
            <a:r>
              <a:rPr lang="fr-FR" dirty="0"/>
              <a:t>1900 à 1945</a:t>
            </a:r>
          </a:p>
        </p:txBody>
      </p:sp>
    </p:spTree>
    <p:extLst>
      <p:ext uri="{BB962C8B-B14F-4D97-AF65-F5344CB8AC3E}">
        <p14:creationId xmlns:p14="http://schemas.microsoft.com/office/powerpoint/2010/main" val="1414420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96"/>
    </mc:Choice>
    <mc:Fallback xmlns="">
      <p:transition spd="slow" advTm="3709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C12C663-3FBF-5546-AA9E-00E8BFC2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sociohistorique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57DC4DE4-6F75-D84B-BD97-520E9BB6FD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1459" y="2017342"/>
            <a:ext cx="5113089" cy="3834817"/>
          </a:xfrm>
        </p:spPr>
      </p:pic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88E067-7E48-0540-9A09-A429FDB81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6297" y="2017343"/>
            <a:ext cx="4762626" cy="3834816"/>
          </a:xfrm>
        </p:spPr>
        <p:txBody>
          <a:bodyPr>
            <a:normAutofit/>
          </a:bodyPr>
          <a:lstStyle/>
          <a:p>
            <a:r>
              <a:rPr lang="fr-FR" sz="2800" dirty="0"/>
              <a:t>Le repli sur soi</a:t>
            </a:r>
          </a:p>
          <a:p>
            <a:pPr lvl="1"/>
            <a:r>
              <a:rPr lang="fr-FR" sz="2800" dirty="0"/>
              <a:t>Le conquérant anglais</a:t>
            </a:r>
          </a:p>
          <a:p>
            <a:pPr lvl="1"/>
            <a:r>
              <a:rPr lang="fr-FR" sz="2800" dirty="0"/>
              <a:t>L’influence de la France</a:t>
            </a:r>
          </a:p>
          <a:p>
            <a:pPr marL="457200" lvl="1" indent="0">
              <a:buNone/>
            </a:pPr>
            <a:endParaRPr lang="fr-FR" dirty="0"/>
          </a:p>
          <a:p>
            <a:pPr lvl="1" algn="just"/>
            <a:r>
              <a:rPr lang="fr-FR" sz="1400" dirty="0"/>
              <a:t>⚀ </a:t>
            </a:r>
            <a:r>
              <a:rPr lang="fr-CA" sz="1400" b="1" dirty="0"/>
              <a:t>laïcité : système où il y a séparation de l’État et de l’Église, celle-ci n’exerçant aucun pouvoir politique, notamment en matière d’éducation.</a:t>
            </a:r>
            <a:endParaRPr lang="fr-CA" sz="1400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4116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892"/>
    </mc:Choice>
    <mc:Fallback xmlns="">
      <p:transition spd="slow" advTm="11289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99A26A8-AC5E-CD4E-833C-85FB71F0D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sociohistorique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FEF0183-32EF-4E41-8BA3-E3DB3C8D87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Le pouvoir religieux</a:t>
            </a:r>
          </a:p>
          <a:p>
            <a:endParaRPr lang="fr-FR" sz="3200" dirty="0"/>
          </a:p>
          <a:p>
            <a:pPr lvl="1"/>
            <a:r>
              <a:rPr lang="fr-FR" sz="3200" dirty="0"/>
              <a:t>sur l’État</a:t>
            </a:r>
          </a:p>
          <a:p>
            <a:pPr lvl="1"/>
            <a:r>
              <a:rPr lang="fr-FR" sz="3200" dirty="0"/>
              <a:t>sur le peuple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DB242304-3022-F74A-8306-27E22B64BE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3500" y="2121250"/>
            <a:ext cx="5374118" cy="3742340"/>
          </a:xfrm>
        </p:spPr>
      </p:pic>
    </p:spTree>
    <p:extLst>
      <p:ext uri="{BB962C8B-B14F-4D97-AF65-F5344CB8AC3E}">
        <p14:creationId xmlns:p14="http://schemas.microsoft.com/office/powerpoint/2010/main" val="8975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2708"/>
    </mc:Choice>
    <mc:Fallback xmlns="">
      <p:transition spd="slow" advTm="17270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04A8A8F-F62E-F141-AAAD-14B3D6F3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sociohistorique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B2713840-3280-6F43-96DA-D9C426BA258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71626" y="2011362"/>
            <a:ext cx="3882716" cy="3974932"/>
          </a:xfrm>
        </p:spPr>
      </p:pic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6C7158B-543D-7D42-8FEF-C2B8E2FF0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1298" y="2017342"/>
            <a:ext cx="6110868" cy="3968952"/>
          </a:xfrm>
        </p:spPr>
        <p:txBody>
          <a:bodyPr>
            <a:normAutofit fontScale="92500" lnSpcReduction="10000"/>
          </a:bodyPr>
          <a:lstStyle/>
          <a:p>
            <a:r>
              <a:rPr lang="fr-FR" sz="2200" dirty="0"/>
              <a:t>Les transformations:</a:t>
            </a:r>
          </a:p>
          <a:p>
            <a:pPr lvl="1"/>
            <a:r>
              <a:rPr lang="fr-FR" sz="2200" dirty="0"/>
              <a:t>L’exode rural</a:t>
            </a:r>
          </a:p>
          <a:p>
            <a:pPr lvl="1"/>
            <a:r>
              <a:rPr lang="fr-FR" sz="2200" dirty="0"/>
              <a:t>Les États-Unis</a:t>
            </a:r>
          </a:p>
          <a:p>
            <a:pPr lvl="1"/>
            <a:r>
              <a:rPr lang="fr-FR" sz="2200" dirty="0"/>
              <a:t>La Première Guerre mondiale</a:t>
            </a:r>
          </a:p>
          <a:p>
            <a:pPr lvl="1"/>
            <a:endParaRPr lang="fr-FR" dirty="0"/>
          </a:p>
          <a:p>
            <a:pPr lvl="2"/>
            <a:r>
              <a:rPr lang="fr-FR" sz="1400" dirty="0"/>
              <a:t>⚀ </a:t>
            </a:r>
            <a:r>
              <a:rPr lang="fr-CA" sz="1400" b="1" dirty="0"/>
              <a:t>exode rural : déplacement de la population hors des campagnes, au profit de la ville.</a:t>
            </a:r>
            <a:r>
              <a:rPr lang="fr-CA" sz="1400" dirty="0"/>
              <a:t> </a:t>
            </a:r>
            <a:endParaRPr lang="fr-FR" sz="1400" dirty="0"/>
          </a:p>
          <a:p>
            <a:pPr lvl="2"/>
            <a:r>
              <a:rPr lang="fr-FR" sz="1400" dirty="0"/>
              <a:t>⚁ </a:t>
            </a:r>
            <a:r>
              <a:rPr lang="fr-CA" sz="1400" b="1" dirty="0"/>
              <a:t>conscription : enrôlement obligatoire des civils dans l’armée.</a:t>
            </a:r>
            <a:r>
              <a:rPr lang="fr-CA" sz="1400" dirty="0"/>
              <a:t> </a:t>
            </a:r>
            <a:endParaRPr lang="fr-FR" sz="1400" dirty="0"/>
          </a:p>
          <a:p>
            <a:pPr lvl="2"/>
            <a:r>
              <a:rPr lang="fr-FR" sz="1400" dirty="0"/>
              <a:t>⚂ </a:t>
            </a:r>
            <a:r>
              <a:rPr lang="fr-CA" sz="1400" b="1" dirty="0"/>
              <a:t>ressentiment : souvenir d’une offense, d’un tort que l’on a subi, avec désir de s’en venger. Éprouver, garder du ressentiment d’une injure. Ressentiment envers, contre quelqu’un.</a:t>
            </a:r>
            <a:r>
              <a:rPr lang="fr-CA" sz="1400" dirty="0"/>
              <a:t> 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300122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2652"/>
    </mc:Choice>
    <mc:Fallback xmlns="">
      <p:transition spd="slow" advTm="20265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27CB272-D241-9949-8168-8B1940787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Mgr </a:t>
            </a:r>
            <a:r>
              <a:rPr lang="fr-FR" dirty="0" err="1"/>
              <a:t>ignace</a:t>
            </a:r>
            <a:r>
              <a:rPr lang="fr-FR" dirty="0"/>
              <a:t> </a:t>
            </a:r>
            <a:r>
              <a:rPr lang="fr-FR" dirty="0" err="1"/>
              <a:t>bourget</a:t>
            </a:r>
            <a:endParaRPr lang="fr-FR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FE8C7946-E0A0-D646-B400-05037AB271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1810" y="2056022"/>
            <a:ext cx="7040880" cy="3705726"/>
          </a:xfrm>
        </p:spPr>
      </p:pic>
    </p:spTree>
    <p:extLst>
      <p:ext uri="{BB962C8B-B14F-4D97-AF65-F5344CB8AC3E}">
        <p14:creationId xmlns:p14="http://schemas.microsoft.com/office/powerpoint/2010/main" val="79463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970"/>
    </mc:Choice>
    <mc:Fallback xmlns="">
      <p:transition spd="slow" advTm="12697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CCAC475-AB63-B149-B108-1B838B563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sociohistorique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70538DE-DE3F-9B42-8C29-2E0E82ED5B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0293" y="2010878"/>
            <a:ext cx="5702190" cy="3910420"/>
          </a:xfrm>
        </p:spPr>
        <p:txBody>
          <a:bodyPr>
            <a:normAutofit fontScale="92500" lnSpcReduction="20000"/>
          </a:bodyPr>
          <a:lstStyle/>
          <a:p>
            <a:r>
              <a:rPr lang="fr-FR" sz="2800" dirty="0"/>
              <a:t>Les transformations (suite)</a:t>
            </a:r>
          </a:p>
          <a:p>
            <a:endParaRPr lang="fr-FR" sz="2800" dirty="0"/>
          </a:p>
          <a:p>
            <a:pPr lvl="1"/>
            <a:r>
              <a:rPr lang="fr-FR" sz="2800" dirty="0"/>
              <a:t>La Grande Dépression</a:t>
            </a:r>
          </a:p>
          <a:p>
            <a:pPr lvl="1"/>
            <a:r>
              <a:rPr lang="fr-FR" sz="2800" dirty="0"/>
              <a:t>La Deuxième Guerre mondiale</a:t>
            </a:r>
          </a:p>
          <a:p>
            <a:pPr lvl="1"/>
            <a:endParaRPr lang="fr-FR" sz="2800" dirty="0"/>
          </a:p>
          <a:p>
            <a:pPr lvl="2"/>
            <a:r>
              <a:rPr lang="fr-FR" sz="2600" dirty="0"/>
              <a:t>⚀ </a:t>
            </a:r>
            <a:r>
              <a:rPr lang="fr-FR" sz="1500" b="1" dirty="0"/>
              <a:t>prospérité</a:t>
            </a:r>
            <a:r>
              <a:rPr lang="fr-CA" sz="1500" b="1" dirty="0"/>
              <a:t> : état de grande abondance, de richesse. Prospérité nationale, économique. </a:t>
            </a:r>
            <a:endParaRPr lang="fr-FR" sz="1500" b="1" dirty="0"/>
          </a:p>
          <a:p>
            <a:pPr lvl="2"/>
            <a:r>
              <a:rPr lang="fr-FR" sz="2600" dirty="0"/>
              <a:t>⚁ </a:t>
            </a:r>
            <a:r>
              <a:rPr lang="fr-CA" b="1" dirty="0"/>
              <a:t>plébiscite : vote d’une population à propos de son statut politique et international.</a:t>
            </a:r>
            <a:endParaRPr lang="fr-CA" dirty="0"/>
          </a:p>
          <a:p>
            <a:pPr lvl="2"/>
            <a:endParaRPr lang="fr-FR" sz="2600" dirty="0"/>
          </a:p>
          <a:p>
            <a:pPr lvl="1"/>
            <a:endParaRPr lang="fr-FR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A626130F-370D-4440-84D8-72AFD6233D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545316" y="2017712"/>
            <a:ext cx="4850394" cy="3810113"/>
          </a:xfrm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CDB4E77E-DEB7-EE45-AF19-285B56193A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7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626"/>
    </mc:Choice>
    <mc:Fallback xmlns="">
      <p:transition spd="slow" advTm="916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FD24D49-92B9-EE43-9C68-E2414DD11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sociohistorique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78F96CE-59A4-6441-8CC1-DF9739431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2820" y="2010878"/>
            <a:ext cx="4999663" cy="3989871"/>
          </a:xfrm>
        </p:spPr>
        <p:txBody>
          <a:bodyPr>
            <a:normAutofit/>
          </a:bodyPr>
          <a:lstStyle/>
          <a:p>
            <a:r>
              <a:rPr lang="fr-FR" sz="2800" dirty="0"/>
              <a:t>Conséquences du pouvoir religieux:</a:t>
            </a:r>
          </a:p>
          <a:p>
            <a:pPr lvl="1"/>
            <a:r>
              <a:rPr lang="fr-FR" sz="2800" dirty="0"/>
              <a:t>le modèle de la vie rurale est valorisé.</a:t>
            </a:r>
          </a:p>
          <a:p>
            <a:pPr lvl="1"/>
            <a:r>
              <a:rPr lang="fr-FR" sz="2800" dirty="0"/>
              <a:t>la création artistique est difficile.</a:t>
            </a:r>
          </a:p>
          <a:p>
            <a:endParaRPr lang="fr-FR" dirty="0"/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F41BF1A1-000F-9C4E-9BE3-B95A8F7B48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57828" y="2017712"/>
            <a:ext cx="5041569" cy="3983037"/>
          </a:xfrm>
        </p:spPr>
      </p:pic>
    </p:spTree>
    <p:extLst>
      <p:ext uri="{BB962C8B-B14F-4D97-AF65-F5344CB8AC3E}">
        <p14:creationId xmlns:p14="http://schemas.microsoft.com/office/powerpoint/2010/main" val="224353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700"/>
    </mc:Choice>
    <mc:Fallback xmlns="">
      <p:transition spd="slow" advTm="737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C28C95-4A1B-F94A-AF48-1BA08E39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sociohistorique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800D917-EDF2-6948-BBAA-2F8A511942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00200" y="2011363"/>
            <a:ext cx="3907165" cy="3877862"/>
          </a:xfr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B865057-025D-C24C-960E-D41AC96BE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0" y="2017343"/>
            <a:ext cx="4970509" cy="3871882"/>
          </a:xfrm>
        </p:spPr>
        <p:txBody>
          <a:bodyPr>
            <a:normAutofit/>
          </a:bodyPr>
          <a:lstStyle/>
          <a:p>
            <a:r>
              <a:rPr lang="fr-FR" sz="2800" dirty="0"/>
              <a:t>Les femmes au début du XXe siècle</a:t>
            </a:r>
          </a:p>
          <a:p>
            <a:pPr lvl="1"/>
            <a:r>
              <a:rPr lang="fr-FR" sz="2400" dirty="0"/>
              <a:t>les influences </a:t>
            </a:r>
            <a:endParaRPr lang="fr-FR" sz="2600" dirty="0"/>
          </a:p>
          <a:p>
            <a:pPr lvl="1"/>
            <a:r>
              <a:rPr lang="fr-FR" sz="2800" dirty="0"/>
              <a:t>la famille</a:t>
            </a:r>
          </a:p>
          <a:p>
            <a:pPr lvl="1"/>
            <a:r>
              <a:rPr lang="fr-FR" sz="2800" dirty="0"/>
              <a:t>le travail</a:t>
            </a:r>
          </a:p>
          <a:p>
            <a:pPr lvl="1"/>
            <a:r>
              <a:rPr lang="fr-FR" sz="2800" dirty="0"/>
              <a:t>campagne / ville</a:t>
            </a:r>
          </a:p>
        </p:txBody>
      </p:sp>
    </p:spTree>
    <p:extLst>
      <p:ext uri="{BB962C8B-B14F-4D97-AF65-F5344CB8AC3E}">
        <p14:creationId xmlns:p14="http://schemas.microsoft.com/office/powerpoint/2010/main" val="412332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4808"/>
    </mc:Choice>
    <mc:Fallback xmlns="">
      <p:transition spd="slow" advTm="47480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3C7D09E-E9C7-F64F-95C1-110BFC5F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littérature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39BCE2A9-09D1-004A-9C2D-9CC23AEE3F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43025" y="1954624"/>
            <a:ext cx="4465872" cy="4074701"/>
          </a:xfrm>
        </p:spPr>
      </p:pic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49681AD-981E-E04C-B1FD-DCE4CAB12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0" y="1954624"/>
            <a:ext cx="5250406" cy="4074701"/>
          </a:xfrm>
        </p:spPr>
        <p:txBody>
          <a:bodyPr>
            <a:normAutofit/>
          </a:bodyPr>
          <a:lstStyle/>
          <a:p>
            <a:r>
              <a:rPr lang="fr-FR" sz="2800" dirty="0"/>
              <a:t>La littérature sous le pouvoir religieux</a:t>
            </a:r>
          </a:p>
          <a:p>
            <a:endParaRPr lang="fr-FR" sz="2800" dirty="0"/>
          </a:p>
          <a:p>
            <a:pPr lvl="1"/>
            <a:r>
              <a:rPr lang="fr-FR" sz="2800" dirty="0"/>
              <a:t>mise à l’</a:t>
            </a:r>
            <a:r>
              <a:rPr lang="fr-FR" sz="2800" i="1" dirty="0"/>
              <a:t>Index</a:t>
            </a:r>
            <a:r>
              <a:rPr lang="fr-FR" sz="2800" dirty="0"/>
              <a:t> par le Vatican</a:t>
            </a:r>
          </a:p>
          <a:p>
            <a:pPr lvl="1"/>
            <a:endParaRPr lang="fr-FR" sz="2800" dirty="0"/>
          </a:p>
          <a:p>
            <a:pPr lvl="2"/>
            <a:r>
              <a:rPr lang="fr-FR" sz="2600" dirty="0"/>
              <a:t>⚀ </a:t>
            </a:r>
            <a:r>
              <a:rPr lang="fr-CA" sz="1400" b="1" dirty="0"/>
              <a:t>mettre à l’index : condamner, exclure quelqu’un, quelque chose.</a:t>
            </a:r>
            <a:endParaRPr lang="fr-CA" sz="1400" dirty="0"/>
          </a:p>
          <a:p>
            <a:pPr lvl="2"/>
            <a:endParaRPr lang="fr-FR" sz="2600" dirty="0"/>
          </a:p>
        </p:txBody>
      </p:sp>
    </p:spTree>
    <p:extLst>
      <p:ext uri="{BB962C8B-B14F-4D97-AF65-F5344CB8AC3E}">
        <p14:creationId xmlns:p14="http://schemas.microsoft.com/office/powerpoint/2010/main" val="3456347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716"/>
    </mc:Choice>
    <mc:Fallback xmlns="">
      <p:transition spd="slow" advTm="7371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0B70547-5B4F-5143-9887-9D2E2164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littérature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5B90F3A-A836-3848-85BF-39C78A3BA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9073" y="2010878"/>
            <a:ext cx="5423410" cy="3832361"/>
          </a:xfrm>
        </p:spPr>
        <p:txBody>
          <a:bodyPr/>
          <a:lstStyle/>
          <a:p>
            <a:r>
              <a:rPr lang="fr-FR" sz="2800" dirty="0"/>
              <a:t>La littérature du terroir</a:t>
            </a:r>
          </a:p>
          <a:p>
            <a:pPr lvl="1"/>
            <a:r>
              <a:rPr lang="fr-FR" sz="2400" dirty="0"/>
              <a:t>les valeurs centrales:</a:t>
            </a:r>
          </a:p>
          <a:p>
            <a:pPr lvl="2"/>
            <a:r>
              <a:rPr lang="fr-FR" sz="2400" dirty="0"/>
              <a:t>la terre;</a:t>
            </a:r>
          </a:p>
          <a:p>
            <a:pPr lvl="2"/>
            <a:r>
              <a:rPr lang="fr-FR" sz="2400" dirty="0"/>
              <a:t>la famille;</a:t>
            </a:r>
          </a:p>
          <a:p>
            <a:pPr lvl="2"/>
            <a:r>
              <a:rPr lang="fr-FR" sz="2400" dirty="0"/>
              <a:t>la langue;</a:t>
            </a:r>
          </a:p>
          <a:p>
            <a:pPr lvl="2"/>
            <a:r>
              <a:rPr lang="fr-FR" sz="2400" dirty="0"/>
              <a:t>la religion.</a:t>
            </a:r>
          </a:p>
          <a:p>
            <a:pPr lvl="1"/>
            <a:endParaRPr lang="fr-FR" dirty="0"/>
          </a:p>
          <a:p>
            <a:pPr lvl="3"/>
            <a:r>
              <a:rPr lang="fr-FR" dirty="0"/>
              <a:t>⚀ </a:t>
            </a:r>
            <a:r>
              <a:rPr lang="fr-CA" b="1" dirty="0"/>
              <a:t>salut : fait d’être sauvé.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E120EB0D-4D5B-6E4B-B8D8-65C6648CDE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3500" y="2010878"/>
            <a:ext cx="5343601" cy="3832361"/>
          </a:xfrm>
        </p:spPr>
      </p:pic>
    </p:spTree>
    <p:extLst>
      <p:ext uri="{BB962C8B-B14F-4D97-AF65-F5344CB8AC3E}">
        <p14:creationId xmlns:p14="http://schemas.microsoft.com/office/powerpoint/2010/main" val="267636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384"/>
    </mc:Choice>
    <mc:Fallback xmlns="">
      <p:transition spd="slow" advTm="21138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957C5B9-7B29-444B-A08A-2F79830AC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littérature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F7CDE7A0-D6BC-E14F-88F1-F791061047A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0139" y="2009371"/>
            <a:ext cx="4541082" cy="3864751"/>
          </a:xfrm>
        </p:spPr>
      </p:pic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357C488-7F5E-844F-8C74-7E620F6AF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6264" y="2017342"/>
            <a:ext cx="5363736" cy="3856780"/>
          </a:xfrm>
        </p:spPr>
        <p:txBody>
          <a:bodyPr>
            <a:normAutofit fontScale="85000" lnSpcReduction="20000"/>
          </a:bodyPr>
          <a:lstStyle/>
          <a:p>
            <a:r>
              <a:rPr lang="fr-FR" sz="2800" dirty="0"/>
              <a:t>L’anti-terroir</a:t>
            </a:r>
            <a:endParaRPr lang="fr-FR" dirty="0"/>
          </a:p>
          <a:p>
            <a:pPr lvl="1"/>
            <a:r>
              <a:rPr lang="fr-FR" sz="2400" dirty="0"/>
              <a:t>dans un cadre rural;</a:t>
            </a:r>
          </a:p>
          <a:p>
            <a:pPr lvl="1"/>
            <a:r>
              <a:rPr lang="fr-FR" sz="2400" dirty="0"/>
              <a:t>montrer le côté sordide de la vie à la campagne;</a:t>
            </a:r>
          </a:p>
          <a:p>
            <a:pPr lvl="1"/>
            <a:r>
              <a:rPr lang="fr-FR" sz="2400" dirty="0"/>
              <a:t>dénoncer le pouvoir religieux.</a:t>
            </a:r>
          </a:p>
          <a:p>
            <a:pPr lvl="1"/>
            <a:endParaRPr lang="fr-FR" sz="2400" dirty="0"/>
          </a:p>
          <a:p>
            <a:pPr lvl="2"/>
            <a:r>
              <a:rPr lang="fr-FR" sz="2200" dirty="0"/>
              <a:t>⚀ </a:t>
            </a:r>
            <a:r>
              <a:rPr lang="fr-CA" b="1" dirty="0"/>
              <a:t>scatologique : caractère d’un propos ou d’un écrit contenant des termes se rapportant aux excréments.</a:t>
            </a:r>
            <a:r>
              <a:rPr lang="fr-CA" sz="2400" dirty="0"/>
              <a:t> </a:t>
            </a:r>
            <a:endParaRPr lang="fr-FR" sz="2200" dirty="0"/>
          </a:p>
          <a:p>
            <a:pPr lvl="2"/>
            <a:r>
              <a:rPr lang="fr-FR" sz="2200" dirty="0"/>
              <a:t>⚁ </a:t>
            </a:r>
            <a:r>
              <a:rPr lang="fr-CA" b="1" dirty="0"/>
              <a:t>mœurs : mode de vie, comportement personnel.</a:t>
            </a:r>
            <a:r>
              <a:rPr lang="fr-CA" sz="2400" dirty="0"/>
              <a:t> </a:t>
            </a:r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323226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978"/>
    </mc:Choice>
    <mc:Fallback xmlns="">
      <p:transition spd="slow" advTm="120978"/>
    </mc:Fallback>
  </mc:AlternateContent>
</p:sld>
</file>

<file path=ppt/theme/theme1.xml><?xml version="1.0" encoding="utf-8"?>
<a:theme xmlns:a="http://schemas.openxmlformats.org/drawingml/2006/main" name="Galerie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Galerie</Template>
  <TotalTime>1231</TotalTime>
  <Words>324</Words>
  <Application>Microsoft Macintosh PowerPoint</Application>
  <PresentationFormat>Grand écran</PresentationFormat>
  <Paragraphs>64</Paragraphs>
  <Slides>11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Galerie</vt:lpstr>
      <vt:lpstr>Le terroir</vt:lpstr>
      <vt:lpstr>Contexte sociohistorique</vt:lpstr>
      <vt:lpstr>contexte sociohistorique</vt:lpstr>
      <vt:lpstr>contexte sociohistorique</vt:lpstr>
      <vt:lpstr>Mgr ignace bourget</vt:lpstr>
      <vt:lpstr>contexte sociohistorique</vt:lpstr>
      <vt:lpstr>contexte sociohistorique</vt:lpstr>
      <vt:lpstr>Contexte sociohistorique</vt:lpstr>
      <vt:lpstr>la littérature</vt:lpstr>
      <vt:lpstr>la littérature</vt:lpstr>
      <vt:lpstr>la littérature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terroir et l’anti-terroir</dc:title>
  <dc:creator>M B</dc:creator>
  <cp:lastModifiedBy>M B</cp:lastModifiedBy>
  <cp:revision>34</cp:revision>
  <dcterms:created xsi:type="dcterms:W3CDTF">2020-08-23T14:23:37Z</dcterms:created>
  <dcterms:modified xsi:type="dcterms:W3CDTF">2024-04-29T13:37:17Z</dcterms:modified>
</cp:coreProperties>
</file>