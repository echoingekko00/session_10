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B" initials="MB" lastIdx="10" clrIdx="0">
    <p:extLst>
      <p:ext uri="{19B8F6BF-5375-455C-9EA6-DF929625EA0E}">
        <p15:presenceInfo xmlns:p15="http://schemas.microsoft.com/office/powerpoint/2012/main" userId="M B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46"/>
  </p:normalViewPr>
  <p:slideViewPr>
    <p:cSldViewPr snapToGrid="0" snapToObjects="1">
      <p:cViewPr varScale="1">
        <p:scale>
          <a:sx n="111" d="100"/>
          <a:sy n="111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10:34.442" idx="1">
    <p:pos x="3705" y="1325"/>
    <p:text>Tableau de Marc-Antoine Nadeau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14:01.607" idx="2">
    <p:pos x="6984" y="1325"/>
    <p:text>Tableau de Paul-Émile Borduas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16:45.877" idx="3">
    <p:pos x="6867" y="1325"/>
    <p:text>Tableau de Roland Giguère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17:45.389" idx="4">
    <p:pos x="3645" y="1405"/>
    <p:text>Tableau de Claude Le Sauteur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18:48.893" idx="5">
    <p:pos x="7351" y="1325"/>
    <p:text>Tableau de Serge Lemoyne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27:14.455" idx="6">
    <p:pos x="3134" y="1293"/>
    <p:text>Tableau de Léon Bellefleur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28:47.198" idx="7">
    <p:pos x="3042" y="1325"/>
    <p:text>Oeuvre d'art de Roch Plante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30:26.360" idx="8">
    <p:pos x="6954" y="1325"/>
    <p:text>Tableau de Suzelle Levasseur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33:12.547" idx="9">
    <p:pos x="3816" y="1325"/>
    <p:text>Tableau de Françoise Sullivan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3T13:37:38.378" idx="10">
    <p:pos x="6848" y="1325"/>
    <p:text>Tableau d'Henrietta Mabel May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E5591-9D73-9A48-BBBE-55B5C9A1F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années 60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6E0BA8-E840-2D43-B290-3639F1AEFA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la </a:t>
            </a:r>
            <a:r>
              <a:rPr lang="fr-FR"/>
              <a:t>Révolution tranquille</a:t>
            </a:r>
          </a:p>
        </p:txBody>
      </p:sp>
    </p:spTree>
    <p:extLst>
      <p:ext uri="{BB962C8B-B14F-4D97-AF65-F5344CB8AC3E}">
        <p14:creationId xmlns:p14="http://schemas.microsoft.com/office/powerpoint/2010/main" val="251299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07"/>
    </mc:Choice>
    <mc:Fallback xmlns="">
      <p:transition spd="slow" advTm="85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65E19E-7ADF-F347-B607-00CAF881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politique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C2D11D8-5F12-0341-A3EC-EC2DABA3EA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7412" y="2103120"/>
            <a:ext cx="4873752" cy="3749040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0514BF5-C5F4-5E4A-8D79-D0B20C7F3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5253990" cy="4080510"/>
          </a:xfrm>
        </p:spPr>
        <p:txBody>
          <a:bodyPr>
            <a:normAutofit/>
          </a:bodyPr>
          <a:lstStyle/>
          <a:p>
            <a:r>
              <a:rPr lang="fr-FR" sz="2000" dirty="0"/>
              <a:t>1959 : Mort de Maurice Duplessis</a:t>
            </a:r>
          </a:p>
          <a:p>
            <a:r>
              <a:rPr lang="fr-FR" sz="2000" dirty="0"/>
              <a:t>Gouvernement de Paul Sauvé (100 jours)</a:t>
            </a:r>
          </a:p>
          <a:p>
            <a:r>
              <a:rPr lang="fr-FR" sz="2000" dirty="0"/>
              <a:t>Gouvernement d’Antonio Barrette</a:t>
            </a:r>
          </a:p>
          <a:p>
            <a:r>
              <a:rPr lang="fr-FR" sz="2000" dirty="0"/>
              <a:t>1960 :  Élection de Jean Lesage</a:t>
            </a:r>
          </a:p>
          <a:p>
            <a:pPr lvl="1"/>
            <a:r>
              <a:rPr lang="fr-FR" sz="2000" dirty="0"/>
              <a:t>nationalisation de l’électricité;</a:t>
            </a:r>
          </a:p>
          <a:p>
            <a:pPr lvl="1"/>
            <a:r>
              <a:rPr lang="fr-FR" sz="2000" dirty="0"/>
              <a:t>assurance hospitalisation;</a:t>
            </a:r>
          </a:p>
          <a:p>
            <a:pPr lvl="1"/>
            <a:r>
              <a:rPr lang="fr-FR" sz="2000" dirty="0"/>
              <a:t>création de la Régie des rentes;</a:t>
            </a:r>
          </a:p>
          <a:p>
            <a:pPr lvl="1"/>
            <a:r>
              <a:rPr lang="fr-FR" sz="2000" dirty="0"/>
              <a:t>création du ministère de l’Éducation;</a:t>
            </a:r>
          </a:p>
          <a:p>
            <a:pPr lvl="1"/>
            <a:r>
              <a:rPr lang="fr-FR" sz="2000" dirty="0"/>
              <a:t>création des cégeps.</a:t>
            </a:r>
          </a:p>
        </p:txBody>
      </p:sp>
    </p:spTree>
    <p:extLst>
      <p:ext uri="{BB962C8B-B14F-4D97-AF65-F5344CB8AC3E}">
        <p14:creationId xmlns:p14="http://schemas.microsoft.com/office/powerpoint/2010/main" val="22632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928"/>
    </mc:Choice>
    <mc:Fallback xmlns="">
      <p:transition spd="slow" advTm="20292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04B74CD-052D-BD46-8072-06F379F3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Jean Lesage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82682516-19E0-C944-B828-2D3A58631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789057"/>
            <a:ext cx="7772400" cy="4975086"/>
          </a:xfr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0F8F93B-9CF3-1F48-8402-3EFCB9492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1912-1980</a:t>
            </a:r>
          </a:p>
          <a:p>
            <a:endParaRPr lang="fr-FR" dirty="0"/>
          </a:p>
          <a:p>
            <a:r>
              <a:rPr lang="fr-FR" dirty="0"/>
              <a:t>premier ministre du Québec de 1960 à 1966</a:t>
            </a:r>
          </a:p>
        </p:txBody>
      </p:sp>
    </p:spTree>
    <p:extLst>
      <p:ext uri="{BB962C8B-B14F-4D97-AF65-F5344CB8AC3E}">
        <p14:creationId xmlns:p14="http://schemas.microsoft.com/office/powerpoint/2010/main" val="201825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185"/>
    </mc:Choice>
    <mc:Fallback xmlns="">
      <p:transition spd="slow" advTm="911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B015C8-D270-AF46-A06E-59FE33BA9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L’influence des arts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A8D049-A4F0-E444-9D37-A5F9D154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8670" y="2014194"/>
            <a:ext cx="5337810" cy="43180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800" dirty="0"/>
          </a:p>
          <a:p>
            <a:r>
              <a:rPr lang="fr-FR" sz="2800" dirty="0"/>
              <a:t>La télévision</a:t>
            </a:r>
          </a:p>
          <a:p>
            <a:pPr lvl="2"/>
            <a:r>
              <a:rPr lang="fr-FR" sz="2600" dirty="0"/>
              <a:t>Radio-Canada</a:t>
            </a:r>
          </a:p>
          <a:p>
            <a:pPr lvl="2"/>
            <a:r>
              <a:rPr lang="fr-FR" sz="2600" dirty="0"/>
              <a:t>Télé-Métropole</a:t>
            </a:r>
          </a:p>
          <a:p>
            <a:r>
              <a:rPr lang="fr-FR" sz="2800" dirty="0"/>
              <a:t>La musique</a:t>
            </a:r>
          </a:p>
          <a:p>
            <a:pPr lvl="2"/>
            <a:r>
              <a:rPr lang="fr-FR" sz="2600" dirty="0"/>
              <a:t>Rock et country</a:t>
            </a:r>
          </a:p>
          <a:p>
            <a:r>
              <a:rPr lang="fr-FR" sz="2800" dirty="0"/>
              <a:t>Le cinéma</a:t>
            </a:r>
          </a:p>
          <a:p>
            <a:pPr lvl="2"/>
            <a:r>
              <a:rPr lang="fr-FR" sz="2600" dirty="0"/>
              <a:t>création de l’ONF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77542FC7-C9C8-B74A-8681-A55A1BD4D7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9013" y="2103438"/>
            <a:ext cx="4677812" cy="3748087"/>
          </a:xfrm>
        </p:spPr>
      </p:pic>
    </p:spTree>
    <p:extLst>
      <p:ext uri="{BB962C8B-B14F-4D97-AF65-F5344CB8AC3E}">
        <p14:creationId xmlns:p14="http://schemas.microsoft.com/office/powerpoint/2010/main" val="299612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249"/>
    </mc:Choice>
    <mc:Fallback xmlns="">
      <p:transition spd="slow" advTm="12524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BA8-A96C-3D43-953C-0F6E60E5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Une religion qui perd son influence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76E494-59DC-D14B-A01E-58AA564ED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sz="4000" dirty="0"/>
              <a:t>Laïcisation de la société.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C01DEE4-111A-9E4F-82CC-E01DAF67AE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5080" y="2103438"/>
            <a:ext cx="4546283" cy="4230891"/>
          </a:xfrm>
        </p:spPr>
      </p:pic>
    </p:spTree>
    <p:extLst>
      <p:ext uri="{BB962C8B-B14F-4D97-AF65-F5344CB8AC3E}">
        <p14:creationId xmlns:p14="http://schemas.microsoft.com/office/powerpoint/2010/main" val="339116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24"/>
    </mc:Choice>
    <mc:Fallback xmlns="">
      <p:transition spd="slow" advTm="4262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49A550-A7CC-6F44-A5E2-DBAD744C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Germination d’un nouveau nationalisme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8AEB34F-8D6A-904B-9662-7F5334E707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31624" y="2229722"/>
            <a:ext cx="4854813" cy="3622438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EC79905-08FD-3546-8B3E-1A152E6F04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Rupture avec le passé.</a:t>
            </a:r>
          </a:p>
          <a:p>
            <a:r>
              <a:rPr lang="fr-FR" sz="2800" dirty="0"/>
              <a:t>Défendre les particularités culturelles.</a:t>
            </a:r>
          </a:p>
          <a:p>
            <a:r>
              <a:rPr lang="fr-FR" sz="2800" dirty="0"/>
              <a:t>RIN</a:t>
            </a:r>
          </a:p>
          <a:p>
            <a:r>
              <a:rPr lang="fr-FR" sz="2800" dirty="0"/>
              <a:t>FLQ</a:t>
            </a:r>
          </a:p>
          <a:p>
            <a:r>
              <a:rPr lang="fr-FR" sz="2800" dirty="0"/>
              <a:t>Parti québécois</a:t>
            </a:r>
          </a:p>
        </p:txBody>
      </p:sp>
    </p:spTree>
    <p:extLst>
      <p:ext uri="{BB962C8B-B14F-4D97-AF65-F5344CB8AC3E}">
        <p14:creationId xmlns:p14="http://schemas.microsoft.com/office/powerpoint/2010/main" val="189115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818"/>
    </mc:Choice>
    <mc:Fallback xmlns="">
      <p:transition spd="slow" advTm="11581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155A21-8230-F143-AEAC-2FEA4F26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La place des femmes dans la société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37ABC2-1CDF-D34B-92DE-B2B83B9DBB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Le marché du travail</a:t>
            </a:r>
          </a:p>
          <a:p>
            <a:endParaRPr lang="fr-FR" sz="2800" dirty="0"/>
          </a:p>
          <a:p>
            <a:r>
              <a:rPr lang="fr-FR" sz="2800" dirty="0"/>
              <a:t>L’éducation</a:t>
            </a:r>
          </a:p>
          <a:p>
            <a:endParaRPr lang="fr-FR" sz="2800" dirty="0"/>
          </a:p>
          <a:p>
            <a:r>
              <a:rPr lang="fr-FR" sz="2800" dirty="0"/>
              <a:t>Commission royal d’enquête sur la situation des femmes au Canada.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D89EBCE-3ABA-DF4B-964A-652A9229B3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5959" y="2103120"/>
            <a:ext cx="5473043" cy="3749040"/>
          </a:xfrm>
        </p:spPr>
      </p:pic>
    </p:spTree>
    <p:extLst>
      <p:ext uri="{BB962C8B-B14F-4D97-AF65-F5344CB8AC3E}">
        <p14:creationId xmlns:p14="http://schemas.microsoft.com/office/powerpoint/2010/main" val="370552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774"/>
    </mc:Choice>
    <mc:Fallback xmlns="">
      <p:transition spd="slow" advTm="1227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39D5FA-2861-014D-A368-F00F3705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joual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D727993-D06A-5A44-ADF5-07309A6D1E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37310" y="2052906"/>
            <a:ext cx="3638423" cy="4095143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7458CCF-47A1-F64B-BAC1-C186865A81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Claude-Henri Grignon</a:t>
            </a:r>
          </a:p>
          <a:p>
            <a:endParaRPr lang="fr-FR" sz="2400" dirty="0"/>
          </a:p>
          <a:p>
            <a:r>
              <a:rPr lang="fr-FR" sz="2400" dirty="0"/>
              <a:t>Le journaliste André </a:t>
            </a:r>
            <a:r>
              <a:rPr lang="fr-FR" sz="2400" dirty="0" err="1"/>
              <a:t>Laurendeau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Jean-Paul </a:t>
            </a:r>
            <a:r>
              <a:rPr lang="fr-FR" sz="2400" dirty="0" err="1"/>
              <a:t>Desbiens</a:t>
            </a:r>
            <a:r>
              <a:rPr lang="fr-FR" sz="2400" dirty="0"/>
              <a:t> alias le frère Untel</a:t>
            </a:r>
          </a:p>
        </p:txBody>
      </p:sp>
    </p:spTree>
    <p:extLst>
      <p:ext uri="{BB962C8B-B14F-4D97-AF65-F5344CB8AC3E}">
        <p14:creationId xmlns:p14="http://schemas.microsoft.com/office/powerpoint/2010/main" val="248943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637"/>
    </mc:Choice>
    <mc:Fallback xmlns="">
      <p:transition spd="slow" advTm="23163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0D3159-B63A-C640-9F40-ECE0507C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littérature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3D9ED2DC-3F4D-ED47-B090-8036EA405A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14488" y="2103438"/>
            <a:ext cx="3214303" cy="3748087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F35ABA9-8D58-0C43-933A-23494D4ED4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FR" sz="3200" dirty="0"/>
          </a:p>
          <a:p>
            <a:r>
              <a:rPr lang="fr-FR" sz="3200" dirty="0"/>
              <a:t>Aspect unifié</a:t>
            </a:r>
          </a:p>
          <a:p>
            <a:endParaRPr lang="fr-FR" sz="3200" dirty="0"/>
          </a:p>
          <a:p>
            <a:r>
              <a:rPr lang="fr-FR" sz="3200" dirty="0"/>
              <a:t>Dynamisme</a:t>
            </a:r>
          </a:p>
        </p:txBody>
      </p:sp>
    </p:spTree>
    <p:extLst>
      <p:ext uri="{BB962C8B-B14F-4D97-AF65-F5344CB8AC3E}">
        <p14:creationId xmlns:p14="http://schemas.microsoft.com/office/powerpoint/2010/main" val="238771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029"/>
    </mc:Choice>
    <mc:Fallback xmlns="">
      <p:transition spd="slow" advTm="10202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3AC761-8520-A64A-B5BB-F88CD6EC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poésie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453706-1FE3-DD43-BD95-C0A0C9149E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800" dirty="0"/>
              <a:t>Fonction politique</a:t>
            </a:r>
          </a:p>
          <a:p>
            <a:endParaRPr lang="fr-FR" sz="2800" dirty="0"/>
          </a:p>
          <a:p>
            <a:r>
              <a:rPr lang="fr-FR" sz="2800" dirty="0"/>
              <a:t>Thématique de la fondation</a:t>
            </a:r>
          </a:p>
          <a:p>
            <a:endParaRPr lang="fr-FR" sz="2800" dirty="0"/>
          </a:p>
          <a:p>
            <a:r>
              <a:rPr lang="fr-FR" sz="2800" dirty="0"/>
              <a:t>Le lyrisme</a:t>
            </a:r>
          </a:p>
          <a:p>
            <a:endParaRPr lang="fr-FR" dirty="0"/>
          </a:p>
          <a:p>
            <a:pPr lvl="1"/>
            <a:r>
              <a:rPr lang="fr-FR" dirty="0"/>
              <a:t>⚀ lyrisme: expression enflammée des sentiments, des passions.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0572E13-54FA-1440-A7F6-50282BDA1C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56912" y="2103438"/>
            <a:ext cx="4582013" cy="3748087"/>
          </a:xfrm>
        </p:spPr>
      </p:pic>
    </p:spTree>
    <p:extLst>
      <p:ext uri="{BB962C8B-B14F-4D97-AF65-F5344CB8AC3E}">
        <p14:creationId xmlns:p14="http://schemas.microsoft.com/office/powerpoint/2010/main" val="141144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907"/>
    </mc:Choice>
    <mc:Fallback xmlns="">
      <p:transition spd="slow" advTm="21790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194E81-CEA9-5044-9987-EA96FECC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roman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4F176B22-A5CB-D94D-A681-CE699FAC1F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8408" y="2103120"/>
            <a:ext cx="5529580" cy="3749040"/>
          </a:xfrm>
        </p:spPr>
      </p:pic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A1326FB-CB20-584D-9960-A046542FCD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FR" sz="2800" dirty="0"/>
          </a:p>
          <a:p>
            <a:r>
              <a:rPr lang="fr-FR" sz="2800" dirty="0"/>
              <a:t>Le roman est autoréflexif.</a:t>
            </a:r>
          </a:p>
          <a:p>
            <a:endParaRPr lang="fr-FR" sz="2800" dirty="0"/>
          </a:p>
          <a:p>
            <a:r>
              <a:rPr lang="fr-FR" sz="2800" dirty="0"/>
              <a:t>Changement dans l’emploi du langage.</a:t>
            </a:r>
          </a:p>
          <a:p>
            <a:endParaRPr lang="fr-FR" sz="2800" dirty="0"/>
          </a:p>
          <a:p>
            <a:r>
              <a:rPr lang="fr-FR" sz="2800" dirty="0"/>
              <a:t>La famille.</a:t>
            </a:r>
          </a:p>
        </p:txBody>
      </p:sp>
    </p:spTree>
    <p:extLst>
      <p:ext uri="{BB962C8B-B14F-4D97-AF65-F5344CB8AC3E}">
        <p14:creationId xmlns:p14="http://schemas.microsoft.com/office/powerpoint/2010/main" val="342253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822"/>
    </mc:Choice>
    <mc:Fallback xmlns="">
      <p:transition spd="slow" advTm="9482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CD2C3B-CF4F-AC43-B3CC-98ACB30E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théâtre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547044-6E63-C044-88EB-ED8A7CE9ED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Encore un peu figé jusqu’en 1965.</a:t>
            </a:r>
          </a:p>
          <a:p>
            <a:endParaRPr lang="fr-FR" sz="2400" dirty="0"/>
          </a:p>
          <a:p>
            <a:r>
              <a:rPr lang="fr-FR" sz="2400" dirty="0"/>
              <a:t>Le joual</a:t>
            </a:r>
          </a:p>
          <a:p>
            <a:endParaRPr lang="fr-FR" sz="2400" dirty="0"/>
          </a:p>
          <a:p>
            <a:r>
              <a:rPr lang="fr-FR" sz="2400" u="sng" dirty="0"/>
              <a:t>Les Belles-sœurs </a:t>
            </a:r>
            <a:r>
              <a:rPr lang="fr-FR" sz="2400" dirty="0"/>
              <a:t>de Michel Tremblay (1968)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483DC51-4EF6-A34E-BE0C-E2EC246FF9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5080" y="1721502"/>
            <a:ext cx="4949189" cy="4367659"/>
          </a:xfrm>
        </p:spPr>
      </p:pic>
    </p:spTree>
    <p:extLst>
      <p:ext uri="{BB962C8B-B14F-4D97-AF65-F5344CB8AC3E}">
        <p14:creationId xmlns:p14="http://schemas.microsoft.com/office/powerpoint/2010/main" val="369814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490"/>
    </mc:Choice>
    <mc:Fallback xmlns="">
      <p:transition spd="slow" advTm="16449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126</TotalTime>
  <Words>210</Words>
  <Application>Microsoft Macintosh PowerPoint</Application>
  <PresentationFormat>Grand écran</PresentationFormat>
  <Paragraphs>72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Century Gothic</vt:lpstr>
      <vt:lpstr>Garamond</vt:lpstr>
      <vt:lpstr>Savon</vt:lpstr>
      <vt:lpstr>Les années 60</vt:lpstr>
      <vt:lpstr>Contexte politique</vt:lpstr>
      <vt:lpstr>Jean Lesage</vt:lpstr>
      <vt:lpstr>L’influence des arts</vt:lpstr>
      <vt:lpstr>Une religion qui perd son influence</vt:lpstr>
      <vt:lpstr>Germination d’un nouveau nationalisme</vt:lpstr>
      <vt:lpstr>La place des femmes dans la société</vt:lpstr>
      <vt:lpstr>Le joual</vt:lpstr>
      <vt:lpstr>La littérature</vt:lpstr>
      <vt:lpstr>La poésie</vt:lpstr>
      <vt:lpstr>Le roman</vt:lpstr>
      <vt:lpstr>Le théâtre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années 60</dc:title>
  <dc:creator>M B</dc:creator>
  <cp:lastModifiedBy>M B</cp:lastModifiedBy>
  <cp:revision>28</cp:revision>
  <dcterms:created xsi:type="dcterms:W3CDTF">2020-08-23T14:34:34Z</dcterms:created>
  <dcterms:modified xsi:type="dcterms:W3CDTF">2024-04-29T14:05:52Z</dcterms:modified>
</cp:coreProperties>
</file>