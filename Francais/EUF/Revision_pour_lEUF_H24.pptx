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68" autoAdjust="0"/>
    <p:restoredTop sz="94660"/>
  </p:normalViewPr>
  <p:slideViewPr>
    <p:cSldViewPr snapToGrid="0">
      <p:cViewPr varScale="1">
        <p:scale>
          <a:sx n="85" d="100"/>
          <a:sy n="8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4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5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7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9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86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8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30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4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19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4/29/24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78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ulfort.fr/articles/etoes/ma/triseut.html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fr-FR" sz="4400"/>
              <a:t>Révision pour l'EUF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fr-FR" dirty="0">
                <a:solidFill>
                  <a:srgbClr val="FFFFFF">
                    <a:alpha val="70000"/>
                  </a:srgbClr>
                </a:solidFill>
              </a:rPr>
              <a:t>La littérature depuis que le monde est monde!</a:t>
            </a:r>
            <a:endParaRPr lang="fr-FR" dirty="0"/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A3EAAEEB-0F2C-3028-D0C8-0726BC9817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060" b="-3"/>
          <a:stretch/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7DB6CD-8E9E-4643-B3B6-01BD80429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auteuils dans un cinéma">
            <a:extLst>
              <a:ext uri="{FF2B5EF4-FFF2-40B4-BE49-F238E27FC236}">
                <a16:creationId xmlns:a16="http://schemas.microsoft.com/office/drawing/2014/main" id="{23729C2F-9817-3FAE-96D6-0F0FC30697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22" r="19270" b="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11BA9B-7855-E93F-1B51-80F6E7135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400"/>
              <a:t>La poésie</a:t>
            </a:r>
          </a:p>
          <a:p>
            <a:r>
              <a:rPr lang="fr-FR" sz="2400"/>
              <a:t>Le théâtre</a:t>
            </a:r>
          </a:p>
          <a:p>
            <a:r>
              <a:rPr lang="fr-FR" sz="2400"/>
              <a:t>Le genre narratif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D116F5-7EEF-6D0C-DD42-D0EF4E49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fr-FR" sz="3200"/>
              <a:t>Les 3 grands genres en littérature</a:t>
            </a:r>
          </a:p>
        </p:txBody>
      </p:sp>
    </p:spTree>
    <p:extLst>
      <p:ext uri="{BB962C8B-B14F-4D97-AF65-F5344CB8AC3E}">
        <p14:creationId xmlns:p14="http://schemas.microsoft.com/office/powerpoint/2010/main" val="233692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Crayon sur un bloc-notes">
            <a:extLst>
              <a:ext uri="{FF2B5EF4-FFF2-40B4-BE49-F238E27FC236}">
                <a16:creationId xmlns:a16="http://schemas.microsoft.com/office/drawing/2014/main" id="{186BDE17-AC13-CE1E-014C-74FAA067DE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38227" b="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61B6A8-C998-F37C-88BA-0DA5B69D5E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/>
              <a:t>Un auteur de poésie: un poète</a:t>
            </a:r>
          </a:p>
          <a:p>
            <a:r>
              <a:rPr lang="en-US" sz="2400"/>
              <a:t>Il n’y a pas de narrateur dans un poème.</a:t>
            </a:r>
          </a:p>
          <a:p>
            <a:r>
              <a:rPr lang="en-US" sz="2400"/>
              <a:t>Un vers = une ligne</a:t>
            </a:r>
          </a:p>
          <a:p>
            <a:r>
              <a:rPr lang="en-US" sz="2400"/>
              <a:t>Une strophe = un paragraphe</a:t>
            </a:r>
          </a:p>
          <a:p>
            <a:r>
              <a:rPr lang="en-US" sz="2400"/>
              <a:t>Poème en prose =  poème qui ne rime pas</a:t>
            </a:r>
          </a:p>
          <a:p>
            <a:pPr marL="0"/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46609B-D7F9-87D2-EA6D-74E3B8CCA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 poésie</a:t>
            </a:r>
          </a:p>
        </p:txBody>
      </p:sp>
    </p:spTree>
    <p:extLst>
      <p:ext uri="{BB962C8B-B14F-4D97-AF65-F5344CB8AC3E}">
        <p14:creationId xmlns:p14="http://schemas.microsoft.com/office/powerpoint/2010/main" val="215833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Scène avec lumières">
            <a:extLst>
              <a:ext uri="{FF2B5EF4-FFF2-40B4-BE49-F238E27FC236}">
                <a16:creationId xmlns:a16="http://schemas.microsoft.com/office/drawing/2014/main" id="{2B2A4817-0AFF-224B-71FA-4C06D60A4C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7007" r="17516" b="-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F1601D-7614-BA70-D355-3D524E7CD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200"/>
              <a:t>Un auteur de théâtre = un dramaturge</a:t>
            </a:r>
          </a:p>
          <a:p>
            <a:pPr>
              <a:lnSpc>
                <a:spcPct val="115000"/>
              </a:lnSpc>
            </a:pPr>
            <a:r>
              <a:rPr lang="en-US" sz="2200"/>
              <a:t>Il n’y a pas de narrateur dans une pièce de théâtre.</a:t>
            </a:r>
          </a:p>
          <a:p>
            <a:pPr>
              <a:lnSpc>
                <a:spcPct val="115000"/>
              </a:lnSpc>
            </a:pPr>
            <a:r>
              <a:rPr lang="en-US" sz="2200"/>
              <a:t>La parole d’un personnage = une réplique.</a:t>
            </a:r>
          </a:p>
          <a:p>
            <a:pPr>
              <a:lnSpc>
                <a:spcPct val="115000"/>
              </a:lnSpc>
            </a:pPr>
            <a:r>
              <a:rPr lang="en-US" sz="2200"/>
              <a:t>Une pièce peut être écrite en vers (rimes)</a:t>
            </a:r>
          </a:p>
          <a:p>
            <a:pPr>
              <a:lnSpc>
                <a:spcPct val="115000"/>
              </a:lnSpc>
            </a:pPr>
            <a:r>
              <a:rPr lang="en-US" sz="2200"/>
              <a:t>Une pièce peut être écrite en prose.</a:t>
            </a:r>
          </a:p>
          <a:p>
            <a:pPr>
              <a:lnSpc>
                <a:spcPct val="115000"/>
              </a:lnSpc>
            </a:pPr>
            <a:endParaRPr lang="en-US" sz="22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D8EBDA-46E7-8EBC-EAE2-2B41F73F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théâtre</a:t>
            </a:r>
          </a:p>
        </p:txBody>
      </p:sp>
    </p:spTree>
    <p:extLst>
      <p:ext uri="{BB962C8B-B14F-4D97-AF65-F5344CB8AC3E}">
        <p14:creationId xmlns:p14="http://schemas.microsoft.com/office/powerpoint/2010/main" val="64362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1FA3D5-5494-8082-8346-2B2AF378F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0" y="1524000"/>
            <a:ext cx="3048000" cy="45720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1900"/>
              <a:t>Un auteur de romans = romancier</a:t>
            </a:r>
          </a:p>
          <a:p>
            <a:pPr>
              <a:lnSpc>
                <a:spcPct val="115000"/>
              </a:lnSpc>
            </a:pPr>
            <a:r>
              <a:rPr lang="en-US" sz="1900"/>
              <a:t>Un auteur de contes = un conteur</a:t>
            </a:r>
          </a:p>
          <a:p>
            <a:pPr>
              <a:lnSpc>
                <a:spcPct val="115000"/>
              </a:lnSpc>
            </a:pPr>
            <a:r>
              <a:rPr lang="en-US" sz="1900"/>
              <a:t>Un auteur de nouvelles = un nouvelliste</a:t>
            </a:r>
          </a:p>
          <a:p>
            <a:pPr>
              <a:lnSpc>
                <a:spcPct val="115000"/>
              </a:lnSpc>
            </a:pPr>
            <a:r>
              <a:rPr lang="en-US" sz="1900"/>
              <a:t>Un auteur d’essai = un essayiste</a:t>
            </a:r>
          </a:p>
          <a:p>
            <a:pPr marL="0">
              <a:lnSpc>
                <a:spcPct val="115000"/>
              </a:lnSpc>
            </a:pPr>
            <a:endParaRPr lang="en-US" sz="1900">
              <a:sym typeface="Wingdings"/>
            </a:endParaRPr>
          </a:p>
          <a:p>
            <a:pPr>
              <a:lnSpc>
                <a:spcPct val="115000"/>
              </a:lnSpc>
            </a:pPr>
            <a:r>
              <a:rPr lang="en-US" sz="1900">
                <a:sym typeface="Wingdings"/>
              </a:rPr>
              <a:t>§</a:t>
            </a:r>
            <a:r>
              <a:rPr lang="en-US" sz="1900"/>
              <a:t>Il y a de la narration dans le genre narratif.</a:t>
            </a:r>
          </a:p>
          <a:p>
            <a:pPr>
              <a:lnSpc>
                <a:spcPct val="115000"/>
              </a:lnSpc>
            </a:pPr>
            <a:endParaRPr lang="en-US" sz="19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BF04A9-4BAB-2656-2C3D-45A4294E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48000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Le genre narratif</a:t>
            </a:r>
          </a:p>
        </p:txBody>
      </p:sp>
      <p:pic>
        <p:nvPicPr>
          <p:cNvPr id="5" name="Espace réservé du contenu 4" descr="Une image contenant texte, graphisme, illustration, Dessin animé&#10;&#10;Description générée automatiquement">
            <a:extLst>
              <a:ext uri="{FF2B5EF4-FFF2-40B4-BE49-F238E27FC236}">
                <a16:creationId xmlns:a16="http://schemas.microsoft.com/office/drawing/2014/main" id="{5582067F-02FD-B17E-B173-A29D5221B3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0079" r="23098" b="-1"/>
          <a:stretch/>
        </p:blipFill>
        <p:spPr>
          <a:xfrm>
            <a:off x="7620000" y="1524000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58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Espace réservé du contenu 3" descr="Une image contenant Visage humain, homme, habits, collage&#10;&#10;Description générée automatiquement">
            <a:extLst>
              <a:ext uri="{FF2B5EF4-FFF2-40B4-BE49-F238E27FC236}">
                <a16:creationId xmlns:a16="http://schemas.microsoft.com/office/drawing/2014/main" id="{7C05AA1E-4A09-094E-E34C-C5DB669AE2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134" r="-1" b="-1"/>
          <a:stretch/>
        </p:blipFill>
        <p:spPr>
          <a:xfrm>
            <a:off x="5091546" y="619123"/>
            <a:ext cx="7100454" cy="6238874"/>
          </a:xfrm>
          <a:custGeom>
            <a:avLst/>
            <a:gdLst/>
            <a:ahLst/>
            <a:cxnLst/>
            <a:rect l="l" t="t" r="r" b="b"/>
            <a:pathLst>
              <a:path w="7100454" h="6238874">
                <a:moveTo>
                  <a:pt x="5221938" y="783"/>
                </a:moveTo>
                <a:cubicBezTo>
                  <a:pt x="5784158" y="15914"/>
                  <a:pt x="6301398" y="253541"/>
                  <a:pt x="6756828" y="979302"/>
                </a:cubicBezTo>
                <a:cubicBezTo>
                  <a:pt x="6870382" y="1160214"/>
                  <a:pt x="6969391" y="1352970"/>
                  <a:pt x="7057114" y="1554417"/>
                </a:cubicBezTo>
                <a:lnTo>
                  <a:pt x="7100454" y="1659685"/>
                </a:lnTo>
                <a:lnTo>
                  <a:pt x="7100454" y="6238874"/>
                </a:lnTo>
                <a:lnTo>
                  <a:pt x="0" y="6238874"/>
                </a:lnTo>
                <a:lnTo>
                  <a:pt x="14064" y="6003370"/>
                </a:lnTo>
                <a:cubicBezTo>
                  <a:pt x="69537" y="5262783"/>
                  <a:pt x="191580" y="4496548"/>
                  <a:pt x="334789" y="3724830"/>
                </a:cubicBezTo>
                <a:cubicBezTo>
                  <a:pt x="778352" y="1333290"/>
                  <a:pt x="2184944" y="696602"/>
                  <a:pt x="3836378" y="244282"/>
                </a:cubicBezTo>
                <a:cubicBezTo>
                  <a:pt x="4320163" y="111842"/>
                  <a:pt x="4784656" y="-10986"/>
                  <a:pt x="5221938" y="783"/>
                </a:cubicBezTo>
                <a:close/>
              </a:path>
            </a:pathLst>
          </a:cu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A0F8916-44ED-4BA2-B4A8-BFF92E4B4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254705" y="-79298"/>
            <a:ext cx="6064089" cy="7810500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BF3658-631F-078C-69DA-C80993FB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4572000" cy="2286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littérature française</a:t>
            </a:r>
          </a:p>
        </p:txBody>
      </p:sp>
    </p:spTree>
    <p:extLst>
      <p:ext uri="{BB962C8B-B14F-4D97-AF65-F5344CB8AC3E}">
        <p14:creationId xmlns:p14="http://schemas.microsoft.com/office/powerpoint/2010/main" val="246522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peinture, habits, art&#10;&#10;Description générée automatiquement">
            <a:extLst>
              <a:ext uri="{FF2B5EF4-FFF2-40B4-BE49-F238E27FC236}">
                <a16:creationId xmlns:a16="http://schemas.microsoft.com/office/drawing/2014/main" id="{AD815BA8-1513-BB39-810F-36A9ED9A11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9098" r="19044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A01CFA-99D9-90AA-3C01-CAA04EDC8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/>
              <a:t>De 475 à 1475</a:t>
            </a:r>
            <a:endParaRPr lang="fr-FR" dirty="0"/>
          </a:p>
          <a:p>
            <a:pPr>
              <a:lnSpc>
                <a:spcPct val="115000"/>
              </a:lnSpc>
            </a:pPr>
            <a:r>
              <a:rPr lang="en-US" sz="2000" dirty="0" err="1"/>
              <a:t>Littérature</a:t>
            </a:r>
            <a:r>
              <a:rPr lang="en-US" sz="2000" dirty="0"/>
              <a:t> </a:t>
            </a:r>
            <a:r>
              <a:rPr lang="en-US" sz="2000" dirty="0" err="1"/>
              <a:t>courtoise</a:t>
            </a:r>
            <a:r>
              <a:rPr lang="en-US" sz="2000" dirty="0"/>
              <a:t> (romans et </a:t>
            </a:r>
            <a:r>
              <a:rPr lang="en-US" sz="2000" dirty="0" err="1"/>
              <a:t>poèmes</a:t>
            </a:r>
            <a:r>
              <a:rPr lang="en-US" sz="2000" dirty="0"/>
              <a:t>)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 err="1"/>
              <a:t>Littérature</a:t>
            </a:r>
            <a:r>
              <a:rPr lang="en-US" sz="2000" dirty="0"/>
              <a:t> </a:t>
            </a:r>
            <a:r>
              <a:rPr lang="en-US" sz="2000" dirty="0" err="1"/>
              <a:t>satirique</a:t>
            </a:r>
            <a:r>
              <a:rPr lang="en-US" sz="2000" dirty="0"/>
              <a:t> (fabliau, roman, </a:t>
            </a:r>
            <a:r>
              <a:rPr lang="en-US" sz="2000" dirty="0" err="1"/>
              <a:t>théâtre</a:t>
            </a:r>
            <a:r>
              <a:rPr lang="en-US" sz="2000" dirty="0"/>
              <a:t>)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Titre le plus célèbre: </a:t>
            </a:r>
            <a:r>
              <a:rPr lang="en-US" sz="2000" u="sng" dirty="0"/>
              <a:t>Tristan et Iseut</a:t>
            </a:r>
            <a:endParaRPr lang="en-US" sz="2000" dirty="0"/>
          </a:p>
          <a:p>
            <a:pPr>
              <a:lnSpc>
                <a:spcPct val="115000"/>
              </a:lnSpc>
            </a:pPr>
            <a:r>
              <a:rPr lang="en-US" sz="2000" u="sng" dirty="0">
                <a:hlinkClick r:id="rId3"/>
              </a:rPr>
              <a:t>http://www.sculfort.fr/articles/etoes/ma/triseut.html</a:t>
            </a:r>
            <a:endParaRPr lang="en-US" sz="2000" dirty="0"/>
          </a:p>
          <a:p>
            <a:pPr>
              <a:lnSpc>
                <a:spcPct val="115000"/>
              </a:lnSpc>
            </a:pPr>
            <a:endParaRPr lang="en-US" sz="20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F3BB5D-387F-FDBE-7939-DD30514C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Moyen Âge </a:t>
            </a:r>
          </a:p>
        </p:txBody>
      </p:sp>
    </p:spTree>
    <p:extLst>
      <p:ext uri="{BB962C8B-B14F-4D97-AF65-F5344CB8AC3E}">
        <p14:creationId xmlns:p14="http://schemas.microsoft.com/office/powerpoint/2010/main" val="38974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Espace réservé du contenu 4" descr="Une image contenant texte, peinture, art, croquis&#10;&#10;Description générée automatiquement">
            <a:extLst>
              <a:ext uri="{FF2B5EF4-FFF2-40B4-BE49-F238E27FC236}">
                <a16:creationId xmlns:a16="http://schemas.microsoft.com/office/drawing/2014/main" id="{34B68418-54E6-5046-43A2-3662F4FE93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6892" r="9195" b="-1"/>
          <a:stretch/>
        </p:blipFill>
        <p:spPr>
          <a:xfrm>
            <a:off x="762000" y="762001"/>
            <a:ext cx="4572000" cy="5334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110724-2653-CB37-3F4B-138E7E481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400" dirty="0"/>
              <a:t>De 1475 à 1620</a:t>
            </a:r>
          </a:p>
          <a:p>
            <a:r>
              <a:rPr lang="en-US" sz="2400" dirty="0"/>
              <a:t>Surtout de la </a:t>
            </a:r>
            <a:r>
              <a:rPr lang="en-US" sz="2400" dirty="0" err="1"/>
              <a:t>poésie</a:t>
            </a:r>
          </a:p>
          <a:p>
            <a:pPr lvl="1"/>
            <a:r>
              <a:rPr lang="en-US" dirty="0"/>
              <a:t>Désir de </a:t>
            </a:r>
            <a:r>
              <a:rPr lang="en-US" dirty="0" err="1"/>
              <a:t>renouveler</a:t>
            </a:r>
            <a:r>
              <a:rPr lang="en-US" dirty="0"/>
              <a:t> la </a:t>
            </a:r>
            <a:r>
              <a:rPr lang="en-US" dirty="0" err="1"/>
              <a:t>forme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Rejet</a:t>
            </a:r>
            <a:r>
              <a:rPr lang="en-US" dirty="0"/>
              <a:t> des </a:t>
            </a:r>
            <a:r>
              <a:rPr lang="en-US" dirty="0" err="1"/>
              <a:t>formes</a:t>
            </a:r>
            <a:r>
              <a:rPr lang="en-US" dirty="0"/>
              <a:t> </a:t>
            </a:r>
            <a:r>
              <a:rPr lang="en-US" dirty="0" err="1"/>
              <a:t>médiévales</a:t>
            </a:r>
            <a:r>
              <a:rPr lang="en-US" dirty="0"/>
              <a:t>.</a:t>
            </a:r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7C2678-683D-78D7-6118-4BD0A4CB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 Renaissance</a:t>
            </a:r>
          </a:p>
        </p:txBody>
      </p:sp>
    </p:spTree>
    <p:extLst>
      <p:ext uri="{BB962C8B-B14F-4D97-AF65-F5344CB8AC3E}">
        <p14:creationId xmlns:p14="http://schemas.microsoft.com/office/powerpoint/2010/main" val="291890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habits, art, Visage humain, mythologie&#10;&#10;Description générée automatiquement">
            <a:extLst>
              <a:ext uri="{FF2B5EF4-FFF2-40B4-BE49-F238E27FC236}">
                <a16:creationId xmlns:a16="http://schemas.microsoft.com/office/drawing/2014/main" id="{F9F50902-3C70-0293-AF5F-12172FC231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21676" r="-2" b="2413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CDCD81-28D2-14A1-3663-6D3498CEC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329132"/>
            <a:ext cx="5722188" cy="42269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/>
            <a:r>
              <a:rPr lang="en-US" dirty="0"/>
              <a:t>Genre </a:t>
            </a:r>
            <a:r>
              <a:rPr lang="en-US" dirty="0" err="1"/>
              <a:t>privilégié</a:t>
            </a:r>
            <a:r>
              <a:rPr lang="en-US" dirty="0"/>
              <a:t>: le </a:t>
            </a:r>
            <a:r>
              <a:rPr lang="en-US" dirty="0" err="1"/>
              <a:t>théâtre</a:t>
            </a:r>
            <a:endParaRPr lang="en-US" dirty="0" err="1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None/>
            </a:pPr>
            <a:r>
              <a:rPr lang="en-US" sz="2200" b="1" err="1">
                <a:solidFill>
                  <a:schemeClr val="tx1"/>
                </a:solidFill>
                <a:ea typeface="+mn-lt"/>
                <a:cs typeface="+mn-lt"/>
              </a:rPr>
              <a:t>Caractéristiques</a:t>
            </a:r>
            <a:r>
              <a:rPr lang="en-US" sz="2200" b="1" dirty="0">
                <a:solidFill>
                  <a:schemeClr val="tx1"/>
                </a:solidFill>
                <a:ea typeface="+mn-lt"/>
                <a:cs typeface="+mn-lt"/>
              </a:rPr>
              <a:t> du </a:t>
            </a:r>
            <a:r>
              <a:rPr lang="en-US" sz="2200" b="1" err="1">
                <a:solidFill>
                  <a:schemeClr val="tx1"/>
                </a:solidFill>
                <a:ea typeface="+mn-lt"/>
                <a:cs typeface="+mn-lt"/>
              </a:rPr>
              <a:t>classicisme</a:t>
            </a:r>
            <a:endParaRPr lang="en-US" sz="2400" b="1" err="1">
              <a:solidFill>
                <a:schemeClr val="tx1"/>
              </a:solidFill>
            </a:endParaRPr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>
                <a:ea typeface="+mn-lt"/>
                <a:cs typeface="+mn-lt"/>
              </a:rPr>
              <a:t>Imitations des </a:t>
            </a:r>
            <a:r>
              <a:rPr lang="en-US" sz="1700" dirty="0" err="1">
                <a:ea typeface="+mn-lt"/>
                <a:cs typeface="+mn-lt"/>
              </a:rPr>
              <a:t>Anciens</a:t>
            </a:r>
            <a:endParaRPr lang="en-US" dirty="0" err="1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>
                <a:ea typeface="+mn-lt"/>
                <a:cs typeface="+mn-lt"/>
              </a:rPr>
              <a:t>Triomphe de la raison: </a:t>
            </a:r>
            <a:r>
              <a:rPr lang="en-US" sz="1700" dirty="0" err="1">
                <a:ea typeface="+mn-lt"/>
                <a:cs typeface="+mn-lt"/>
              </a:rPr>
              <a:t>mesure</a:t>
            </a:r>
            <a:r>
              <a:rPr lang="en-US" sz="1700" dirty="0">
                <a:ea typeface="+mn-lt"/>
                <a:cs typeface="+mn-lt"/>
              </a:rPr>
              <a:t>, rigueur, </a:t>
            </a:r>
            <a:r>
              <a:rPr lang="en-US" sz="1700" dirty="0" err="1">
                <a:ea typeface="+mn-lt"/>
                <a:cs typeface="+mn-lt"/>
              </a:rPr>
              <a:t>clarté</a:t>
            </a:r>
            <a:r>
              <a:rPr lang="en-US" sz="1700" dirty="0">
                <a:ea typeface="+mn-lt"/>
                <a:cs typeface="+mn-lt"/>
              </a:rPr>
              <a:t>, </a:t>
            </a:r>
            <a:r>
              <a:rPr lang="en-US" sz="1700" dirty="0" err="1">
                <a:ea typeface="+mn-lt"/>
                <a:cs typeface="+mn-lt"/>
              </a:rPr>
              <a:t>unité</a:t>
            </a:r>
            <a:endParaRPr lang="en-US" dirty="0" err="1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>
                <a:ea typeface="+mn-lt"/>
                <a:cs typeface="+mn-lt"/>
              </a:rPr>
              <a:t>Bienséance</a:t>
            </a:r>
            <a:endParaRPr lang="en-US" dirty="0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>
                <a:ea typeface="+mn-lt"/>
                <a:cs typeface="+mn-lt"/>
              </a:rPr>
              <a:t>Vraisemblance</a:t>
            </a:r>
            <a:endParaRPr lang="en-US" dirty="0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 err="1">
                <a:ea typeface="+mn-lt"/>
                <a:cs typeface="+mn-lt"/>
              </a:rPr>
              <a:t>Universalité</a:t>
            </a:r>
            <a:endParaRPr lang="en-US" dirty="0" err="1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 err="1">
                <a:ea typeface="+mn-lt"/>
                <a:cs typeface="+mn-lt"/>
              </a:rPr>
              <a:t>Volonté</a:t>
            </a:r>
            <a:r>
              <a:rPr lang="en-US" sz="1700" dirty="0">
                <a:ea typeface="+mn-lt"/>
                <a:cs typeface="+mn-lt"/>
              </a:rPr>
              <a:t> de </a:t>
            </a:r>
            <a:r>
              <a:rPr lang="en-US" sz="1700" dirty="0" err="1">
                <a:ea typeface="+mn-lt"/>
                <a:cs typeface="+mn-lt"/>
              </a:rPr>
              <a:t>plaire</a:t>
            </a:r>
            <a:r>
              <a:rPr lang="en-US" sz="1700" dirty="0">
                <a:ea typeface="+mn-lt"/>
                <a:cs typeface="+mn-lt"/>
              </a:rPr>
              <a:t> et </a:t>
            </a:r>
            <a:r>
              <a:rPr lang="en-US" sz="1700" dirty="0" err="1">
                <a:ea typeface="+mn-lt"/>
                <a:cs typeface="+mn-lt"/>
              </a:rPr>
              <a:t>d’instruire</a:t>
            </a:r>
            <a:endParaRPr lang="en-US" dirty="0" err="1"/>
          </a:p>
          <a:p>
            <a:r>
              <a:rPr lang="en-US" sz="1700" dirty="0">
                <a:solidFill>
                  <a:srgbClr val="EA157A"/>
                </a:solidFill>
                <a:latin typeface="Wingdings 2"/>
                <a:sym typeface="Wingdings 2"/>
              </a:rPr>
              <a:t> </a:t>
            </a:r>
            <a:r>
              <a:rPr lang="en-US" sz="1700" dirty="0">
                <a:ea typeface="+mn-lt"/>
                <a:cs typeface="+mn-lt"/>
              </a:rPr>
              <a:t>Analyse </a:t>
            </a:r>
            <a:r>
              <a:rPr lang="en-US" sz="1700" dirty="0" err="1">
                <a:ea typeface="+mn-lt"/>
                <a:cs typeface="+mn-lt"/>
              </a:rPr>
              <a:t>psychologique</a:t>
            </a:r>
            <a:r>
              <a:rPr lang="en-US" sz="1700" dirty="0">
                <a:ea typeface="+mn-lt"/>
                <a:cs typeface="+mn-lt"/>
              </a:rPr>
              <a:t> soignée</a:t>
            </a:r>
            <a:endParaRPr lang="en-US" dirty="0"/>
          </a:p>
          <a:p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pPr marL="0"/>
            <a:endParaRPr lang="en-US" sz="2400">
              <a:sym typeface="Wingdings"/>
            </a:endParaRPr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5DC261-E0E4-2171-F02E-037A2F2B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XVII</a:t>
            </a:r>
            <a:r>
              <a:rPr lang="en-US" sz="3200" baseline="30000"/>
              <a:t>e</a:t>
            </a:r>
            <a:r>
              <a:rPr lang="en-US" sz="3200"/>
              <a:t> siècle (Le Grand Siècle)</a:t>
            </a:r>
          </a:p>
        </p:txBody>
      </p:sp>
    </p:spTree>
    <p:extLst>
      <p:ext uri="{BB962C8B-B14F-4D97-AF65-F5344CB8AC3E}">
        <p14:creationId xmlns:p14="http://schemas.microsoft.com/office/powerpoint/2010/main" val="301981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Visage humain, personne, portrait&#10;&#10;Description générée automatiquement">
            <a:extLst>
              <a:ext uri="{FF2B5EF4-FFF2-40B4-BE49-F238E27FC236}">
                <a16:creationId xmlns:a16="http://schemas.microsoft.com/office/drawing/2014/main" id="{4F1BFD97-BB1A-57A3-E736-C596D477A1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-1" b="1759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7930A2-7D3D-E2DA-2C17-91984AD16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/>
              <a:t>Auteurs </a:t>
            </a:r>
            <a:r>
              <a:rPr lang="en-US" sz="2000" err="1"/>
              <a:t>marquants</a:t>
            </a:r>
            <a:endParaRPr lang="fr-FR" err="1"/>
          </a:p>
          <a:p>
            <a:pPr marL="0">
              <a:lnSpc>
                <a:spcPct val="115000"/>
              </a:lnSpc>
            </a:pPr>
            <a:endParaRPr lang="en-US" sz="2000">
              <a:sym typeface="Wingdings"/>
            </a:endParaRPr>
          </a:p>
          <a:p>
            <a:pPr>
              <a:lnSpc>
                <a:spcPct val="115000"/>
              </a:lnSpc>
            </a:pPr>
            <a:r>
              <a:rPr lang="en-US" sz="2000" dirty="0">
                <a:sym typeface="Wingdings 3"/>
              </a:rPr>
              <a:t>­</a:t>
            </a:r>
            <a:r>
              <a:rPr lang="en-US" sz="2000" dirty="0"/>
              <a:t>Racine, </a:t>
            </a:r>
            <a:r>
              <a:rPr lang="en-US" sz="2000" u="sng" dirty="0"/>
              <a:t>Phèdre</a:t>
            </a:r>
            <a:endParaRPr lang="en-US" sz="2000" dirty="0"/>
          </a:p>
          <a:p>
            <a:pPr>
              <a:lnSpc>
                <a:spcPct val="115000"/>
              </a:lnSpc>
            </a:pPr>
            <a:r>
              <a:rPr lang="en-US" sz="2000" dirty="0">
                <a:sym typeface="Wingdings 3"/>
              </a:rPr>
              <a:t>­</a:t>
            </a:r>
            <a:r>
              <a:rPr lang="en-US" sz="2000" dirty="0"/>
              <a:t>Molière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ym typeface="Wingdings 3"/>
              </a:rPr>
              <a:t>­</a:t>
            </a:r>
            <a:r>
              <a:rPr lang="en-US" sz="2000" dirty="0"/>
              <a:t>La Fontaine (fables)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ym typeface="Wingdings 3"/>
              </a:rPr>
              <a:t>­</a:t>
            </a:r>
            <a:r>
              <a:rPr lang="en-US" sz="2000" dirty="0"/>
              <a:t>Perrault (contes)</a:t>
            </a:r>
          </a:p>
          <a:p>
            <a:pPr>
              <a:lnSpc>
                <a:spcPct val="115000"/>
              </a:lnSpc>
            </a:pPr>
            <a:r>
              <a:rPr lang="en-US" sz="2000" dirty="0">
                <a:sym typeface="Wingdings 3"/>
              </a:rPr>
              <a:t>­</a:t>
            </a:r>
            <a:r>
              <a:rPr lang="en-US" sz="2000" dirty="0" err="1"/>
              <a:t>Mme</a:t>
            </a:r>
            <a:r>
              <a:rPr lang="en-US" sz="2000" dirty="0"/>
              <a:t> de Lafayette, </a:t>
            </a:r>
            <a:r>
              <a:rPr lang="en-US" sz="2000" u="sng" dirty="0"/>
              <a:t>La </a:t>
            </a:r>
            <a:r>
              <a:rPr lang="en-US" sz="2000" u="sng" dirty="0" err="1"/>
              <a:t>princesse</a:t>
            </a:r>
            <a:r>
              <a:rPr lang="en-US" sz="2000" u="sng" dirty="0"/>
              <a:t> de </a:t>
            </a:r>
            <a:r>
              <a:rPr lang="en-US" sz="2000" u="sng" dirty="0" err="1"/>
              <a:t>Clèves</a:t>
            </a:r>
            <a:endParaRPr lang="en-US" sz="2000" dirty="0" err="1"/>
          </a:p>
          <a:p>
            <a:pPr>
              <a:lnSpc>
                <a:spcPct val="115000"/>
              </a:lnSpc>
            </a:pPr>
            <a:endParaRPr lang="en-US" sz="2000">
              <a:sym typeface="Wingdings 3"/>
            </a:endParaRPr>
          </a:p>
          <a:p>
            <a:pPr>
              <a:lnSpc>
                <a:spcPct val="115000"/>
              </a:lnSpc>
            </a:pPr>
            <a:endParaRPr lang="en-US" sz="20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A6ED097-835A-1FB1-39C1-B83E84C27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XVIIe siècle (le Grand Siècle)</a:t>
            </a:r>
          </a:p>
        </p:txBody>
      </p:sp>
    </p:spTree>
    <p:extLst>
      <p:ext uri="{BB962C8B-B14F-4D97-AF65-F5344CB8AC3E}">
        <p14:creationId xmlns:p14="http://schemas.microsoft.com/office/powerpoint/2010/main" val="2668578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peinture, habits, robe&#10;&#10;Description générée automatiquement">
            <a:extLst>
              <a:ext uri="{FF2B5EF4-FFF2-40B4-BE49-F238E27FC236}">
                <a16:creationId xmlns:a16="http://schemas.microsoft.com/office/drawing/2014/main" id="{67D4774B-4DBE-508E-346F-65583A3B345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6292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2CABB6-5AFB-050A-3B31-D74631B50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err="1"/>
              <a:t>Caractéristiques</a:t>
            </a:r>
            <a:r>
              <a:rPr lang="en-US" sz="2400" b="1" dirty="0"/>
              <a:t> de la </a:t>
            </a:r>
            <a:r>
              <a:rPr lang="en-US" sz="2400" b="1" err="1"/>
              <a:t>littérature</a:t>
            </a:r>
            <a:r>
              <a:rPr lang="en-US" sz="2400" b="1" dirty="0"/>
              <a:t> des </a:t>
            </a:r>
            <a:r>
              <a:rPr lang="en-US" sz="2400" b="1" err="1"/>
              <a:t>Lumières</a:t>
            </a:r>
            <a:endParaRPr lang="fr-FR" b="1" err="1"/>
          </a:p>
          <a:p>
            <a:r>
              <a:rPr lang="en-US" sz="2400" dirty="0" err="1"/>
              <a:t>Primauté</a:t>
            </a:r>
            <a:r>
              <a:rPr lang="en-US" sz="2400" dirty="0"/>
              <a:t> de la pensée sur la </a:t>
            </a:r>
            <a:r>
              <a:rPr lang="en-US" sz="2400" dirty="0" err="1"/>
              <a:t>forme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 err="1"/>
              <a:t>Littérature</a:t>
            </a:r>
            <a:r>
              <a:rPr lang="en-US" sz="2400" dirty="0"/>
              <a:t> </a:t>
            </a:r>
            <a:r>
              <a:rPr lang="en-US" sz="2400" dirty="0" err="1"/>
              <a:t>militante</a:t>
            </a:r>
            <a:r>
              <a:rPr lang="en-US" sz="2400" dirty="0"/>
              <a:t> </a:t>
            </a:r>
            <a:r>
              <a:rPr lang="en-US" sz="2400" dirty="0" err="1"/>
              <a:t>empreinte</a:t>
            </a:r>
            <a:r>
              <a:rPr lang="en-US" sz="2400" dirty="0"/>
              <a:t> de </a:t>
            </a:r>
            <a:r>
              <a:rPr lang="en-US" sz="2400" dirty="0" err="1"/>
              <a:t>principe</a:t>
            </a:r>
            <a:r>
              <a:rPr lang="en-US" sz="2400" dirty="0"/>
              <a:t> </a:t>
            </a:r>
            <a:r>
              <a:rPr lang="en-US" sz="2400" dirty="0" err="1"/>
              <a:t>philosophique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/>
              <a:t>Homme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harmonie</a:t>
            </a:r>
            <a:r>
              <a:rPr lang="en-US" sz="2400" dirty="0"/>
              <a:t> avec </a:t>
            </a:r>
            <a:r>
              <a:rPr lang="en-US" sz="2400" dirty="0" err="1"/>
              <a:t>lui-même</a:t>
            </a:r>
            <a:r>
              <a:rPr lang="en-US" sz="2400" dirty="0"/>
              <a:t> et avec la nature</a:t>
            </a: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85293A-E75D-2ABA-25C6-8B96472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XVIIIe siècle (Le siècle des Lumières)</a:t>
            </a:r>
          </a:p>
        </p:txBody>
      </p:sp>
    </p:spTree>
    <p:extLst>
      <p:ext uri="{BB962C8B-B14F-4D97-AF65-F5344CB8AC3E}">
        <p14:creationId xmlns:p14="http://schemas.microsoft.com/office/powerpoint/2010/main" val="189113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peinture, intérieur, habits, Visage humain&#10;&#10;Description générée automatiquement">
            <a:extLst>
              <a:ext uri="{FF2B5EF4-FFF2-40B4-BE49-F238E27FC236}">
                <a16:creationId xmlns:a16="http://schemas.microsoft.com/office/drawing/2014/main" id="{ED1AF77C-392F-34B9-8318-C3AB7B1A4C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19062" r="1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1AAE2-630E-70D1-C380-0C9C8A9A5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/>
              <a:t>Genre </a:t>
            </a:r>
            <a:r>
              <a:rPr lang="en-US" sz="2200" dirty="0" err="1"/>
              <a:t>privilégié</a:t>
            </a:r>
            <a:r>
              <a:rPr lang="en-US" sz="2200" dirty="0"/>
              <a:t> : le conte </a:t>
            </a:r>
            <a:r>
              <a:rPr lang="en-US" sz="2200" dirty="0" err="1"/>
              <a:t>philosophie</a:t>
            </a:r>
          </a:p>
          <a:p>
            <a:r>
              <a:rPr lang="en-US" sz="2200"/>
              <a:t>Auteurs marquants</a:t>
            </a:r>
          </a:p>
          <a:p>
            <a:pPr lvl="1"/>
            <a:r>
              <a:rPr lang="en-US" sz="2200"/>
              <a:t>Diderot et d’Alembert (avec l'encyclopédie)</a:t>
            </a:r>
          </a:p>
          <a:p>
            <a:pPr lvl="1"/>
            <a:r>
              <a:rPr lang="en-US" sz="2200"/>
              <a:t>Voltaire</a:t>
            </a:r>
          </a:p>
          <a:p>
            <a:pPr lvl="1"/>
            <a:r>
              <a:rPr lang="en-US" sz="2200"/>
              <a:t>Jean-Jacques Rousseau</a:t>
            </a:r>
          </a:p>
          <a:p>
            <a:pPr lvl="1"/>
            <a:r>
              <a:rPr lang="en-US" sz="2200"/>
              <a:t>Mme Leprince de Beaumont</a:t>
            </a:r>
          </a:p>
          <a:p>
            <a:pPr lvl="1"/>
            <a:endParaRPr lang="en-US" sz="22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B54D21-1B87-8C90-719B-F3054202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XVIIIe siècle (Le siècle des Lumières)</a:t>
            </a:r>
          </a:p>
        </p:txBody>
      </p:sp>
    </p:spTree>
    <p:extLst>
      <p:ext uri="{BB962C8B-B14F-4D97-AF65-F5344CB8AC3E}">
        <p14:creationId xmlns:p14="http://schemas.microsoft.com/office/powerpoint/2010/main" val="46523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peinture, homme, habits, art&#10;&#10;Description générée automatiquement">
            <a:extLst>
              <a:ext uri="{FF2B5EF4-FFF2-40B4-BE49-F238E27FC236}">
                <a16:creationId xmlns:a16="http://schemas.microsoft.com/office/drawing/2014/main" id="{81B36ED4-8959-1A14-4D7E-44B64D5457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9169" r="16438" b="-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C7ED0-95CA-A24E-C0BA-0B136FC96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3 grands courants </a:t>
            </a:r>
            <a:r>
              <a:rPr lang="en-US" sz="2400" dirty="0" err="1"/>
              <a:t>littéraires</a:t>
            </a: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pPr lvl="1"/>
            <a:r>
              <a:rPr lang="en-US" dirty="0"/>
              <a:t>Le </a:t>
            </a:r>
            <a:r>
              <a:rPr lang="en-US" dirty="0" err="1"/>
              <a:t>romantisme</a:t>
            </a:r>
            <a:r>
              <a:rPr lang="en-US" dirty="0"/>
              <a:t> (1800-1850)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lvl="1"/>
            <a:r>
              <a:rPr lang="en-US" dirty="0"/>
              <a:t>Le </a:t>
            </a:r>
            <a:r>
              <a:rPr lang="en-US" dirty="0" err="1"/>
              <a:t>réalisme</a:t>
            </a:r>
            <a:r>
              <a:rPr lang="en-US" dirty="0"/>
              <a:t> (1850-1880)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lvl="1"/>
            <a:r>
              <a:rPr lang="en-US" dirty="0"/>
              <a:t>Le </a:t>
            </a:r>
            <a:r>
              <a:rPr lang="en-US" dirty="0" err="1"/>
              <a:t>symbolisme</a:t>
            </a:r>
            <a:r>
              <a:rPr lang="en-US" dirty="0"/>
              <a:t> (1880-1914)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73AB62-C687-3315-3EFD-36661B2F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XIXe siècle</a:t>
            </a:r>
          </a:p>
        </p:txBody>
      </p:sp>
    </p:spTree>
    <p:extLst>
      <p:ext uri="{BB962C8B-B14F-4D97-AF65-F5344CB8AC3E}">
        <p14:creationId xmlns:p14="http://schemas.microsoft.com/office/powerpoint/2010/main" val="1385283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peinture, art, Visage humain, Arts visuels&#10;&#10;Description générée automatiquement">
            <a:extLst>
              <a:ext uri="{FF2B5EF4-FFF2-40B4-BE49-F238E27FC236}">
                <a16:creationId xmlns:a16="http://schemas.microsoft.com/office/drawing/2014/main" id="{4CBB5618-FA3C-852D-EF73-17401707C1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411" r="25865" b="2"/>
          <a:stretch/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BFB3E6-2D9E-4A5C-826F-44A91F597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F5F924-8DBF-641F-297C-D442BB47D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1" y="3048000"/>
            <a:ext cx="5060830" cy="34505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dirty="0"/>
              <a:t>Le genre </a:t>
            </a:r>
            <a:r>
              <a:rPr lang="en-US" sz="2000" err="1"/>
              <a:t>privilégié</a:t>
            </a:r>
            <a:r>
              <a:rPr lang="en-US" sz="2000" dirty="0"/>
              <a:t> : la </a:t>
            </a:r>
            <a:r>
              <a:rPr lang="en-US" sz="2000" err="1"/>
              <a:t>poésie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0">
              <a:lnSpc>
                <a:spcPct val="115000"/>
              </a:lnSpc>
            </a:pPr>
            <a:r>
              <a:rPr lang="en-US" sz="2000" dirty="0"/>
              <a:t>Auteurs </a:t>
            </a:r>
            <a:r>
              <a:rPr lang="en-US" sz="2000" dirty="0" err="1"/>
              <a:t>marquants</a:t>
            </a:r>
            <a:r>
              <a:rPr lang="en-US" sz="2000" dirty="0"/>
              <a:t>: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800100" lvl="1">
              <a:lnSpc>
                <a:spcPct val="115000"/>
              </a:lnSpc>
            </a:pPr>
            <a:r>
              <a:rPr lang="en-US" sz="2000" dirty="0"/>
              <a:t>Alphonse de Lamartine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800100" lvl="1">
              <a:lnSpc>
                <a:spcPct val="115000"/>
              </a:lnSpc>
            </a:pPr>
            <a:r>
              <a:rPr lang="en-US" sz="2000" dirty="0"/>
              <a:t>Alfred de Vigny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800100" lvl="1">
              <a:lnSpc>
                <a:spcPct val="115000"/>
              </a:lnSpc>
            </a:pPr>
            <a:r>
              <a:rPr lang="en-US" sz="2000" dirty="0"/>
              <a:t>Victor Hugo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800100" lvl="1">
              <a:lnSpc>
                <a:spcPct val="115000"/>
              </a:lnSpc>
            </a:pPr>
            <a:r>
              <a:rPr lang="en-US" sz="2000" dirty="0"/>
              <a:t>Alfred de Musset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800100" lvl="1">
              <a:lnSpc>
                <a:spcPct val="115000"/>
              </a:lnSpc>
            </a:pPr>
            <a:r>
              <a:rPr lang="en-US" sz="2000" dirty="0"/>
              <a:t>George Sand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13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C646A13-0E35-99B9-6C5C-D68B5E35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Le romantisme (1800-1850)</a:t>
            </a:r>
          </a:p>
        </p:txBody>
      </p:sp>
    </p:spTree>
    <p:extLst>
      <p:ext uri="{BB962C8B-B14F-4D97-AF65-F5344CB8AC3E}">
        <p14:creationId xmlns:p14="http://schemas.microsoft.com/office/powerpoint/2010/main" val="703911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ce réservé du contenu 6" descr="Une image contenant peinture, dessin, art, Chapeau de soleil&#10;&#10;Description générée automatiquement">
            <a:extLst>
              <a:ext uri="{FF2B5EF4-FFF2-40B4-BE49-F238E27FC236}">
                <a16:creationId xmlns:a16="http://schemas.microsoft.com/office/drawing/2014/main" id="{C2A00F46-7F81-A57C-6E18-096F7A6431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1155" r="26788" b="-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D4D9EA-C515-3CCF-C9B9-893AD71F8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err="1"/>
              <a:t>Caractéristiques</a:t>
            </a:r>
            <a:r>
              <a:rPr lang="en-US" sz="2400" b="1"/>
              <a:t> de la </a:t>
            </a:r>
            <a:r>
              <a:rPr lang="en-US" sz="2400" b="1" err="1"/>
              <a:t>littérature</a:t>
            </a:r>
            <a:r>
              <a:rPr lang="en-US" sz="2400" b="1" dirty="0"/>
              <a:t> </a:t>
            </a:r>
            <a:r>
              <a:rPr lang="en-US" sz="2400" b="1" err="1"/>
              <a:t>romantique</a:t>
            </a:r>
            <a:endParaRPr lang="fr-FR" b="1" err="1"/>
          </a:p>
          <a:p>
            <a:pPr lvl="1"/>
            <a:r>
              <a:rPr lang="en-US" dirty="0"/>
              <a:t>Mal du siècle (spleen)</a:t>
            </a:r>
          </a:p>
          <a:p>
            <a:pPr lvl="1"/>
            <a:r>
              <a:rPr lang="en-US" dirty="0"/>
              <a:t>Introspection</a:t>
            </a:r>
          </a:p>
          <a:p>
            <a:pPr lvl="1"/>
            <a:r>
              <a:rPr lang="en-US" dirty="0" err="1"/>
              <a:t>Utilisation</a:t>
            </a:r>
            <a:r>
              <a:rPr lang="en-US" dirty="0"/>
              <a:t> </a:t>
            </a:r>
            <a:r>
              <a:rPr lang="en-US" dirty="0" err="1"/>
              <a:t>fréquente</a:t>
            </a:r>
            <a:r>
              <a:rPr lang="en-US" dirty="0"/>
              <a:t> du "je"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lvl="1"/>
            <a:r>
              <a:rPr lang="en-US" dirty="0" err="1"/>
              <a:t>Ponctuation</a:t>
            </a:r>
            <a:r>
              <a:rPr lang="en-US" dirty="0"/>
              <a:t> expressive</a:t>
            </a: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432848-9CA7-AB88-AADF-A6877B88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romantisme (1800-1850)</a:t>
            </a:r>
          </a:p>
        </p:txBody>
      </p:sp>
    </p:spTree>
    <p:extLst>
      <p:ext uri="{BB962C8B-B14F-4D97-AF65-F5344CB8AC3E}">
        <p14:creationId xmlns:p14="http://schemas.microsoft.com/office/powerpoint/2010/main" val="1941614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ce réservé du contenu 7" descr="Une image contenant herbe, plein air, peinture, plante&#10;&#10;Description générée automatiquement">
            <a:extLst>
              <a:ext uri="{FF2B5EF4-FFF2-40B4-BE49-F238E27FC236}">
                <a16:creationId xmlns:a16="http://schemas.microsoft.com/office/drawing/2014/main" id="{627D106A-0B6E-1265-F02B-27E3CD6675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8297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AB125C-0089-6341-D0AD-C607FBC2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329132"/>
            <a:ext cx="5635924" cy="4169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err="1"/>
              <a:t>Thèmes</a:t>
            </a:r>
            <a:r>
              <a:rPr lang="en-US" sz="2400" b="1" dirty="0"/>
              <a:t> </a:t>
            </a:r>
            <a:r>
              <a:rPr lang="en-US" sz="2400" b="1" err="1"/>
              <a:t>récurrents</a:t>
            </a:r>
            <a:endParaRPr lang="fr-FR" b="1"/>
          </a:p>
          <a:p>
            <a:pPr marL="914400" lvl="1" indent="-457200"/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La nature</a:t>
            </a:r>
          </a:p>
          <a:p>
            <a:pPr marL="914400" lvl="1" indent="-457200"/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La </a:t>
            </a:r>
            <a:r>
              <a:rPr lang="en-US" sz="28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nostalgie</a:t>
            </a:r>
            <a:endParaRPr lang="en-US" sz="2800">
              <a:solidFill>
                <a:srgbClr val="FFFFFF">
                  <a:alpha val="70000"/>
                </a:srgbClr>
              </a:solidFill>
              <a:ea typeface="+mn-lt"/>
              <a:cs typeface="+mn-lt"/>
            </a:endParaRPr>
          </a:p>
          <a:p>
            <a:pPr marL="914400" lvl="1" indent="-457200"/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La </a:t>
            </a:r>
            <a:r>
              <a:rPr lang="en-US" sz="28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fuite</a:t>
            </a:r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du temps</a:t>
            </a:r>
          </a:p>
          <a:p>
            <a:pPr marL="914400" lvl="1" indent="-457200"/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Les amours impossibles</a:t>
            </a:r>
          </a:p>
          <a:p>
            <a:pPr marL="914400" lvl="1" indent="-457200"/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La </a:t>
            </a:r>
            <a:r>
              <a:rPr lang="en-US" sz="28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souffrance</a:t>
            </a:r>
            <a:r>
              <a:rPr lang="en-US" sz="2800" dirty="0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rgbClr val="FFFFFF">
                    <a:alpha val="70000"/>
                  </a:srgbClr>
                </a:solidFill>
                <a:ea typeface="+mn-lt"/>
                <a:cs typeface="+mn-lt"/>
              </a:rPr>
              <a:t>psychologique</a:t>
            </a:r>
            <a:endParaRPr lang="en-US" sz="2800">
              <a:solidFill>
                <a:srgbClr val="FFFFFF">
                  <a:alpha val="70000"/>
                </a:srgb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solidFill>
                <a:srgbClr val="FFFFFF">
                  <a:alpha val="70000"/>
                </a:srgbClr>
              </a:solidFill>
            </a:endParaRPr>
          </a:p>
          <a:p>
            <a:pPr lvl="1"/>
            <a:endParaRPr lang="en-US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D85CE1-E948-A89A-5543-3D1A236E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romantisme</a:t>
            </a:r>
          </a:p>
        </p:txBody>
      </p:sp>
    </p:spTree>
    <p:extLst>
      <p:ext uri="{BB962C8B-B14F-4D97-AF65-F5344CB8AC3E}">
        <p14:creationId xmlns:p14="http://schemas.microsoft.com/office/powerpoint/2010/main" val="368065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4A139B-1838-778D-2FDC-F68C35BB4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0" y="1524000"/>
            <a:ext cx="3048000" cy="45720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200" dirty="0"/>
              <a:t>Genre </a:t>
            </a:r>
            <a:r>
              <a:rPr lang="en-US" sz="2200" dirty="0" err="1"/>
              <a:t>privilégié</a:t>
            </a:r>
            <a:r>
              <a:rPr lang="en-US" sz="2200" dirty="0"/>
              <a:t> : le roman</a:t>
            </a:r>
          </a:p>
          <a:p>
            <a:pPr>
              <a:lnSpc>
                <a:spcPct val="115000"/>
              </a:lnSpc>
            </a:pPr>
            <a:endParaRPr lang="en-US" sz="2200"/>
          </a:p>
          <a:p>
            <a:pPr>
              <a:lnSpc>
                <a:spcPct val="115000"/>
              </a:lnSpc>
            </a:pPr>
            <a:r>
              <a:rPr lang="en-US" sz="2200"/>
              <a:t>Auteurs marquants</a:t>
            </a:r>
          </a:p>
          <a:p>
            <a:pPr lvl="1">
              <a:lnSpc>
                <a:spcPct val="115000"/>
              </a:lnSpc>
            </a:pPr>
            <a:r>
              <a:rPr lang="en-US" sz="2200"/>
              <a:t>Émile Zola</a:t>
            </a:r>
          </a:p>
          <a:p>
            <a:pPr lvl="1">
              <a:lnSpc>
                <a:spcPct val="115000"/>
              </a:lnSpc>
            </a:pPr>
            <a:r>
              <a:rPr lang="en-US" sz="2200"/>
              <a:t>Honoré de Balzac</a:t>
            </a:r>
          </a:p>
          <a:p>
            <a:pPr lvl="1">
              <a:lnSpc>
                <a:spcPct val="115000"/>
              </a:lnSpc>
            </a:pPr>
            <a:r>
              <a:rPr lang="en-US" sz="2200"/>
              <a:t>Victor Hugo</a:t>
            </a:r>
          </a:p>
          <a:p>
            <a:pPr lvl="1">
              <a:lnSpc>
                <a:spcPct val="115000"/>
              </a:lnSpc>
            </a:pPr>
            <a:r>
              <a:rPr lang="en-US" sz="2200"/>
              <a:t>Guy de Maupassant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A3AC1C-C3AD-9188-B7E4-D886870D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48000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Le réalisme (1850-1880)</a:t>
            </a:r>
          </a:p>
        </p:txBody>
      </p:sp>
      <p:pic>
        <p:nvPicPr>
          <p:cNvPr id="5" name="Espace réservé du contenu 4" descr="Une image contenant peinture, herbe, plein air, mammifère&#10;&#10;Description générée automatiquement">
            <a:extLst>
              <a:ext uri="{FF2B5EF4-FFF2-40B4-BE49-F238E27FC236}">
                <a16:creationId xmlns:a16="http://schemas.microsoft.com/office/drawing/2014/main" id="{E80F8F72-0582-DE43-50AC-53A95C32F7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3389" r="22549" b="1"/>
          <a:stretch/>
        </p:blipFill>
        <p:spPr>
          <a:xfrm>
            <a:off x="7620000" y="1524000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2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art, statue, mammifère, crâne&#10;&#10;Description générée automatiquement">
            <a:extLst>
              <a:ext uri="{FF2B5EF4-FFF2-40B4-BE49-F238E27FC236}">
                <a16:creationId xmlns:a16="http://schemas.microsoft.com/office/drawing/2014/main" id="{4DD55CDC-CA38-3061-D28B-A7F69036C1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5735" r="32724" b="2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004BAE-779B-E3FF-27AA-8756788C5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 err="1"/>
              <a:t>Caractéristiques</a:t>
            </a:r>
            <a:r>
              <a:rPr lang="en-US" sz="2200" b="1" dirty="0"/>
              <a:t> du </a:t>
            </a:r>
            <a:r>
              <a:rPr lang="en-US" sz="2200" b="1" dirty="0" err="1"/>
              <a:t>réalisme</a:t>
            </a:r>
            <a:endParaRPr lang="fr-FR" b="1" dirty="0" err="1"/>
          </a:p>
          <a:p>
            <a:pPr marL="0"/>
            <a:endParaRPr lang="en-US" sz="2200">
              <a:sym typeface="Wingdings"/>
            </a:endParaRPr>
          </a:p>
          <a:p>
            <a:r>
              <a:rPr lang="en-US" sz="2200" dirty="0"/>
              <a:t>Description du </a:t>
            </a:r>
            <a:r>
              <a:rPr lang="en-US" sz="2200" dirty="0" err="1"/>
              <a:t>réel</a:t>
            </a:r>
            <a:r>
              <a:rPr lang="en-US" sz="2200" dirty="0"/>
              <a:t> (</a:t>
            </a:r>
            <a:r>
              <a:rPr lang="en-US" sz="2200" dirty="0" err="1"/>
              <a:t>souvent</a:t>
            </a:r>
            <a:r>
              <a:rPr lang="en-US" sz="2200" dirty="0"/>
              <a:t> longue)</a:t>
            </a:r>
            <a:endParaRPr lang="en-US" sz="2200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200" dirty="0"/>
              <a:t>Pas de sentiment </a:t>
            </a:r>
            <a:r>
              <a:rPr lang="en-US" sz="2200" dirty="0" err="1"/>
              <a:t>ni</a:t>
            </a:r>
            <a:r>
              <a:rPr lang="en-US" sz="2200" dirty="0"/>
              <a:t> de </a:t>
            </a:r>
            <a:r>
              <a:rPr lang="en-US" sz="2200" dirty="0" err="1"/>
              <a:t>débordement</a:t>
            </a:r>
            <a:endParaRPr lang="en-US" sz="22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200" dirty="0" err="1"/>
              <a:t>Sobriété</a:t>
            </a:r>
            <a:r>
              <a:rPr lang="en-US" sz="2200" dirty="0"/>
              <a:t> de </a:t>
            </a:r>
            <a:r>
              <a:rPr lang="en-US" sz="2200" dirty="0" err="1"/>
              <a:t>l’écriture</a:t>
            </a:r>
            <a:endParaRPr lang="en-US" sz="22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200" dirty="0" err="1"/>
              <a:t>Histoire</a:t>
            </a:r>
            <a:r>
              <a:rPr lang="en-US" sz="2200" dirty="0"/>
              <a:t> </a:t>
            </a:r>
            <a:r>
              <a:rPr lang="en-US" sz="2200" dirty="0" err="1"/>
              <a:t>souvent</a:t>
            </a:r>
            <a:r>
              <a:rPr lang="en-US" sz="2200" dirty="0"/>
              <a:t> </a:t>
            </a:r>
            <a:r>
              <a:rPr lang="en-US" sz="2200" dirty="0" err="1"/>
              <a:t>basée</a:t>
            </a:r>
            <a:r>
              <a:rPr lang="en-US" sz="2200" dirty="0"/>
              <a:t> sur un fait </a:t>
            </a:r>
            <a:r>
              <a:rPr lang="en-US" sz="2200" dirty="0" err="1"/>
              <a:t>vécu</a:t>
            </a:r>
            <a:endParaRPr lang="en-US" sz="22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200" dirty="0" err="1"/>
              <a:t>Emploi</a:t>
            </a:r>
            <a:r>
              <a:rPr lang="en-US" sz="2200" dirty="0"/>
              <a:t> </a:t>
            </a:r>
            <a:r>
              <a:rPr lang="en-US" sz="2200" dirty="0" err="1"/>
              <a:t>fréquent</a:t>
            </a:r>
            <a:r>
              <a:rPr lang="en-US" sz="2200" dirty="0"/>
              <a:t> du « il »</a:t>
            </a:r>
            <a:endParaRPr lang="en-US" sz="2200" dirty="0">
              <a:solidFill>
                <a:srgbClr val="FFFFFF">
                  <a:alpha val="70000"/>
                </a:srgbClr>
              </a:solidFill>
            </a:endParaRPr>
          </a:p>
          <a:p>
            <a:endParaRPr lang="en-US" sz="22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55BC055-5CF6-EC80-A2B6-7DF048FCC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réalisme (1850-1880)</a:t>
            </a:r>
          </a:p>
        </p:txBody>
      </p:sp>
    </p:spTree>
    <p:extLst>
      <p:ext uri="{BB962C8B-B14F-4D97-AF65-F5344CB8AC3E}">
        <p14:creationId xmlns:p14="http://schemas.microsoft.com/office/powerpoint/2010/main" val="3235641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6E9558-29D7-2FB7-A409-05A31E3F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18325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Le réalisme (1850-1880)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7733DA8-1BFC-4737-831B-54DCFE42D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6836" y="-776836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Espace réservé du contenu 4" descr="Une image contenant art, nuage, herbe, plein air&#10;&#10;Description générée automatiquement">
            <a:extLst>
              <a:ext uri="{FF2B5EF4-FFF2-40B4-BE49-F238E27FC236}">
                <a16:creationId xmlns:a16="http://schemas.microsoft.com/office/drawing/2014/main" id="{7A4DFD1B-CAFA-CCBD-F6AA-75978443F7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2172" r="25524" b="1"/>
          <a:stretch/>
        </p:blipFill>
        <p:spPr>
          <a:xfrm>
            <a:off x="7859090" y="1040564"/>
            <a:ext cx="4337540" cy="5817436"/>
          </a:xfrm>
          <a:custGeom>
            <a:avLst/>
            <a:gdLst/>
            <a:ahLst/>
            <a:cxnLst/>
            <a:rect l="l" t="t" r="r" b="b"/>
            <a:pathLst>
              <a:path w="4337540" h="5817436">
                <a:moveTo>
                  <a:pt x="3175347" y="710"/>
                </a:moveTo>
                <a:cubicBezTo>
                  <a:pt x="3421493" y="-5064"/>
                  <a:pt x="3686120" y="24227"/>
                  <a:pt x="3972229" y="94304"/>
                </a:cubicBezTo>
                <a:lnTo>
                  <a:pt x="4337540" y="181400"/>
                </a:lnTo>
                <a:lnTo>
                  <a:pt x="4337540" y="5817436"/>
                </a:lnTo>
                <a:lnTo>
                  <a:pt x="1006557" y="5817436"/>
                </a:lnTo>
                <a:lnTo>
                  <a:pt x="866510" y="5609583"/>
                </a:lnTo>
                <a:cubicBezTo>
                  <a:pt x="140071" y="4515211"/>
                  <a:pt x="-376405" y="3480830"/>
                  <a:pt x="351747" y="2263621"/>
                </a:cubicBezTo>
                <a:cubicBezTo>
                  <a:pt x="664977" y="1739861"/>
                  <a:pt x="994988" y="1240809"/>
                  <a:pt x="1381666" y="845238"/>
                </a:cubicBezTo>
                <a:cubicBezTo>
                  <a:pt x="1768346" y="449669"/>
                  <a:pt x="2211693" y="157580"/>
                  <a:pt x="2751595" y="47742"/>
                </a:cubicBezTo>
                <a:cubicBezTo>
                  <a:pt x="2886624" y="20264"/>
                  <a:pt x="3027659" y="4175"/>
                  <a:pt x="3175347" y="71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3165769-7A47-4E0F-825D-AF1179DF6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82642" flipH="1">
            <a:off x="7133961" y="946220"/>
            <a:ext cx="5867664" cy="5317986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  <a:gd name="connsiteX0" fmla="*/ 0 w 1085312"/>
              <a:gd name="connsiteY0" fmla="*/ 0 h 2441440"/>
              <a:gd name="connsiteX1" fmla="*/ 53089 w 1085312"/>
              <a:gd name="connsiteY1" fmla="*/ 4542 h 2441440"/>
              <a:gd name="connsiteX2" fmla="*/ 790077 w 1085312"/>
              <a:gd name="connsiteY2" fmla="*/ 872756 h 2441440"/>
              <a:gd name="connsiteX3" fmla="*/ 1085252 w 1085312"/>
              <a:gd name="connsiteY3" fmla="*/ 1943649 h 2441440"/>
              <a:gd name="connsiteX4" fmla="*/ 1064832 w 1085312"/>
              <a:gd name="connsiteY4" fmla="*/ 2198094 h 2441440"/>
              <a:gd name="connsiteX5" fmla="*/ 1043734 w 1085312"/>
              <a:gd name="connsiteY5" fmla="*/ 2315675 h 2441440"/>
              <a:gd name="connsiteX6" fmla="*/ 59456 w 1085312"/>
              <a:gd name="connsiteY6" fmla="*/ 2441440 h 2441440"/>
              <a:gd name="connsiteX0" fmla="*/ 0 w 1085312"/>
              <a:gd name="connsiteY0" fmla="*/ 0 h 2315675"/>
              <a:gd name="connsiteX1" fmla="*/ 53089 w 1085312"/>
              <a:gd name="connsiteY1" fmla="*/ 4542 h 2315675"/>
              <a:gd name="connsiteX2" fmla="*/ 790077 w 1085312"/>
              <a:gd name="connsiteY2" fmla="*/ 872756 h 2315675"/>
              <a:gd name="connsiteX3" fmla="*/ 1085252 w 1085312"/>
              <a:gd name="connsiteY3" fmla="*/ 1943649 h 2315675"/>
              <a:gd name="connsiteX4" fmla="*/ 1064832 w 1085312"/>
              <a:gd name="connsiteY4" fmla="*/ 2198094 h 2315675"/>
              <a:gd name="connsiteX5" fmla="*/ 1043734 w 1085312"/>
              <a:gd name="connsiteY5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5312" h="2315675">
                <a:moveTo>
                  <a:pt x="0" y="0"/>
                </a:move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3EF215-D356-9D19-9A1C-9980066C0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674" y="1524000"/>
            <a:ext cx="3018325" cy="4572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lnSpc>
                <a:spcPct val="115000"/>
              </a:lnSpc>
            </a:pPr>
            <a:r>
              <a:rPr lang="en-US" sz="2000" b="1" err="1"/>
              <a:t>Thèmes</a:t>
            </a:r>
            <a:r>
              <a:rPr lang="en-US" sz="2000" b="1" dirty="0"/>
              <a:t> du </a:t>
            </a:r>
            <a:r>
              <a:rPr lang="en-US" sz="2000" b="1" err="1"/>
              <a:t>réalisme</a:t>
            </a:r>
            <a:endParaRPr lang="en-US" sz="2000" b="1" err="1">
              <a:solidFill>
                <a:srgbClr val="FFFFFF">
                  <a:alpha val="70000"/>
                </a:srgbClr>
              </a:solidFill>
            </a:endParaRPr>
          </a:p>
          <a:p>
            <a:pPr marL="0">
              <a:lnSpc>
                <a:spcPct val="115000"/>
              </a:lnSpc>
            </a:pPr>
            <a:endParaRPr lang="en-US" sz="2000">
              <a:sym typeface="Wingdings"/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Les classes </a:t>
            </a:r>
            <a:r>
              <a:rPr lang="en-US" sz="2000" dirty="0" err="1"/>
              <a:t>sociales</a:t>
            </a:r>
            <a:r>
              <a:rPr lang="en-US" sz="2000" dirty="0"/>
              <a:t> (</a:t>
            </a:r>
            <a:r>
              <a:rPr lang="en-US" sz="2000" dirty="0" err="1"/>
              <a:t>souvent</a:t>
            </a:r>
            <a:r>
              <a:rPr lang="en-US" sz="2000" dirty="0"/>
              <a:t> la </a:t>
            </a:r>
            <a:r>
              <a:rPr lang="en-US" sz="2000" dirty="0" err="1"/>
              <a:t>classe</a:t>
            </a:r>
            <a:r>
              <a:rPr lang="en-US" sz="2000" dirty="0"/>
              <a:t> </a:t>
            </a:r>
            <a:r>
              <a:rPr lang="en-US" sz="2000" dirty="0" err="1"/>
              <a:t>défavorisée</a:t>
            </a:r>
            <a:r>
              <a:rPr lang="en-US" sz="2000" dirty="0"/>
              <a:t>)</a:t>
            </a:r>
          </a:p>
          <a:p>
            <a:pPr lvl="1" indent="-457200">
              <a:lnSpc>
                <a:spcPct val="114999"/>
              </a:lnSpc>
              <a:buFont typeface="Courier New" panose="020B0604020202020204" pitchFamily="34" charset="0"/>
              <a:buChar char="o"/>
            </a:pPr>
            <a:r>
              <a:rPr lang="en-US" sz="1600" dirty="0"/>
              <a:t>La misère, la </a:t>
            </a:r>
            <a:r>
              <a:rPr lang="en-US" sz="1600" dirty="0" err="1"/>
              <a:t>pauvreté</a:t>
            </a:r>
            <a:r>
              <a:rPr lang="en-US" sz="1600" dirty="0"/>
              <a:t>, la bourgeoisie</a:t>
            </a:r>
            <a:endParaRPr lang="en-US" sz="16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Tous les </a:t>
            </a:r>
            <a:r>
              <a:rPr lang="en-US" sz="2000" dirty="0" err="1"/>
              <a:t>sujets</a:t>
            </a:r>
            <a:r>
              <a:rPr lang="en-US" sz="2000" dirty="0"/>
              <a:t>, pas </a:t>
            </a:r>
            <a:r>
              <a:rPr lang="en-US" sz="2000" dirty="0" err="1"/>
              <a:t>seulement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qui </a:t>
            </a:r>
            <a:r>
              <a:rPr lang="en-US" sz="2000" dirty="0" err="1"/>
              <a:t>est</a:t>
            </a:r>
            <a:r>
              <a:rPr lang="en-US" sz="2000" dirty="0"/>
              <a:t> beau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82641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peinture, dessin, croquis&#10;&#10;Description générée automatiquement">
            <a:extLst>
              <a:ext uri="{FF2B5EF4-FFF2-40B4-BE49-F238E27FC236}">
                <a16:creationId xmlns:a16="http://schemas.microsoft.com/office/drawing/2014/main" id="{38509A65-BE95-3BBA-2BBF-BDC9A7005C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3418" r="13134" b="-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C33D31-1DDF-A5AF-DAA1-6C9226ACD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329132"/>
            <a:ext cx="5779698" cy="42269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000" dirty="0"/>
              <a:t>Genre </a:t>
            </a:r>
            <a:r>
              <a:rPr lang="en-US" sz="2000" dirty="0" err="1"/>
              <a:t>privilégié</a:t>
            </a:r>
            <a:r>
              <a:rPr lang="en-US" sz="2000" dirty="0"/>
              <a:t>: la </a:t>
            </a:r>
            <a:r>
              <a:rPr lang="en-US" sz="2000" dirty="0" err="1"/>
              <a:t>poésie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/>
              <a:t>Auteurs </a:t>
            </a:r>
            <a:r>
              <a:rPr lang="en-US" sz="2000" dirty="0" err="1"/>
              <a:t>marquants</a:t>
            </a:r>
            <a:r>
              <a:rPr lang="en-US" sz="2000" dirty="0"/>
              <a:t>: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Charles Baudelaire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Arthur Rimbaud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000" dirty="0"/>
              <a:t>Paul Verlaine</a:t>
            </a:r>
            <a:endParaRPr lang="en-US" sz="200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000" err="1"/>
              <a:t>Ils</a:t>
            </a:r>
            <a:r>
              <a:rPr lang="en-US" sz="2000" dirty="0"/>
              <a:t> </a:t>
            </a:r>
            <a:r>
              <a:rPr lang="en-US" sz="2000" err="1"/>
              <a:t>sont</a:t>
            </a:r>
            <a:r>
              <a:rPr lang="en-US" sz="2000" dirty="0"/>
              <a:t> </a:t>
            </a:r>
            <a:r>
              <a:rPr lang="en-US" sz="2000" err="1"/>
              <a:t>aussi</a:t>
            </a:r>
            <a:r>
              <a:rPr lang="en-US" sz="2000" dirty="0"/>
              <a:t> </a:t>
            </a:r>
            <a:r>
              <a:rPr lang="en-US" sz="2000" err="1"/>
              <a:t>connus</a:t>
            </a:r>
            <a:r>
              <a:rPr lang="en-US" sz="2000" dirty="0"/>
              <a:t> sous le nom de « </a:t>
            </a:r>
            <a:r>
              <a:rPr lang="en-US" sz="2000" err="1"/>
              <a:t>poètes</a:t>
            </a:r>
            <a:r>
              <a:rPr lang="en-US" sz="2000" dirty="0"/>
              <a:t> </a:t>
            </a:r>
            <a:r>
              <a:rPr lang="en-US" sz="2000" err="1"/>
              <a:t>maudits</a:t>
            </a:r>
            <a:r>
              <a:rPr lang="en-US" sz="2000" dirty="0"/>
              <a:t> »</a:t>
            </a: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endParaRPr lang="en-US" sz="2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E2188F-1720-735E-2972-014CE2FE9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symbolisme (1880-1914)</a:t>
            </a:r>
          </a:p>
        </p:txBody>
      </p:sp>
    </p:spTree>
    <p:extLst>
      <p:ext uri="{BB962C8B-B14F-4D97-AF65-F5344CB8AC3E}">
        <p14:creationId xmlns:p14="http://schemas.microsoft.com/office/powerpoint/2010/main" val="382593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art, croquis, peinture, dessin&#10;&#10;Description générée automatiquement">
            <a:extLst>
              <a:ext uri="{FF2B5EF4-FFF2-40B4-BE49-F238E27FC236}">
                <a16:creationId xmlns:a16="http://schemas.microsoft.com/office/drawing/2014/main" id="{0A172F4F-4BF7-8002-14D8-33A9989804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7414" r="-1" b="7593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EF9940-CF8F-7593-3553-59954AF7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err="1"/>
              <a:t>Caractéristiques</a:t>
            </a:r>
            <a:r>
              <a:rPr lang="en-US" sz="2400" b="1" dirty="0"/>
              <a:t> du </a:t>
            </a:r>
            <a:r>
              <a:rPr lang="en-US" sz="2400" b="1" err="1"/>
              <a:t>symbolisme</a:t>
            </a:r>
            <a:endParaRPr lang="en-US" sz="2400" b="1" err="1">
              <a:solidFill>
                <a:srgbClr val="FFFFFF">
                  <a:alpha val="70000"/>
                </a:srgbClr>
              </a:solidFill>
            </a:endParaRPr>
          </a:p>
          <a:p>
            <a:pPr marL="0">
              <a:lnSpc>
                <a:spcPct val="115000"/>
              </a:lnSpc>
            </a:pPr>
            <a:endParaRPr lang="en-US" sz="2400">
              <a:sym typeface="Wingdings"/>
            </a:endParaRPr>
          </a:p>
          <a:p>
            <a:pPr>
              <a:lnSpc>
                <a:spcPct val="115000"/>
              </a:lnSpc>
            </a:pPr>
            <a:r>
              <a:rPr lang="en-US" sz="2400" dirty="0" err="1"/>
              <a:t>Théorie</a:t>
            </a:r>
            <a:r>
              <a:rPr lang="en-US" sz="2400" dirty="0"/>
              <a:t> des </a:t>
            </a:r>
            <a:r>
              <a:rPr lang="en-US" sz="2400" dirty="0" err="1"/>
              <a:t>correspondances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400" dirty="0"/>
              <a:t>Les sensations</a:t>
            </a: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pPr>
              <a:lnSpc>
                <a:spcPct val="115000"/>
              </a:lnSpc>
            </a:pPr>
            <a:r>
              <a:rPr lang="en-US" sz="2400" dirty="0" err="1"/>
              <a:t>Éclatement</a:t>
            </a:r>
            <a:r>
              <a:rPr lang="en-US" sz="2400" dirty="0"/>
              <a:t> des </a:t>
            </a:r>
            <a:r>
              <a:rPr lang="en-US" sz="2400" dirty="0" err="1"/>
              <a:t>règles</a:t>
            </a:r>
            <a:r>
              <a:rPr lang="en-US" sz="2400" dirty="0"/>
              <a:t> de la </a:t>
            </a:r>
            <a:r>
              <a:rPr lang="en-US" sz="2400" dirty="0" err="1"/>
              <a:t>poésie</a:t>
            </a:r>
            <a:r>
              <a:rPr lang="en-US" sz="2400" dirty="0"/>
              <a:t> </a:t>
            </a:r>
            <a:r>
              <a:rPr lang="en-US" sz="2400" dirty="0" err="1"/>
              <a:t>classique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pPr marL="0">
              <a:lnSpc>
                <a:spcPct val="115000"/>
              </a:lnSpc>
            </a:pPr>
            <a:endParaRPr lang="en-US" sz="2400"/>
          </a:p>
          <a:p>
            <a:pPr>
              <a:lnSpc>
                <a:spcPct val="115000"/>
              </a:lnSpc>
            </a:pPr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49A027-9CCD-D506-BDCF-42FD931C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symbolisme (1880-1914)</a:t>
            </a:r>
          </a:p>
        </p:txBody>
      </p:sp>
    </p:spTree>
    <p:extLst>
      <p:ext uri="{BB962C8B-B14F-4D97-AF65-F5344CB8AC3E}">
        <p14:creationId xmlns:p14="http://schemas.microsoft.com/office/powerpoint/2010/main" val="4207216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art, peinture, Dessin d’enfant, dessin&#10;&#10;Description générée automatiquement">
            <a:extLst>
              <a:ext uri="{FF2B5EF4-FFF2-40B4-BE49-F238E27FC236}">
                <a16:creationId xmlns:a16="http://schemas.microsoft.com/office/drawing/2014/main" id="{6FEBF494-D22F-72A0-8F20-62272839EA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7100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C2179F-ED66-367D-BBC8-0EDFDD886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err="1"/>
              <a:t>Thèmes</a:t>
            </a:r>
            <a:r>
              <a:rPr lang="en-US" sz="2400" b="1" dirty="0"/>
              <a:t> du </a:t>
            </a:r>
            <a:r>
              <a:rPr lang="en-US" sz="2400" b="1" err="1"/>
              <a:t>symbolisme</a:t>
            </a:r>
            <a:endParaRPr lang="fr-FR" b="1" err="1"/>
          </a:p>
          <a:p>
            <a:r>
              <a:rPr lang="en-US" sz="2400" dirty="0"/>
              <a:t>Le souvenir</a:t>
            </a: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/>
              <a:t>La femme</a:t>
            </a:r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/>
              <a:t>Le </a:t>
            </a:r>
            <a:r>
              <a:rPr lang="en-US" sz="2400" dirty="0" err="1"/>
              <a:t>rêve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/>
              <a:t>Le temps qui </a:t>
            </a:r>
            <a:r>
              <a:rPr lang="en-US" sz="2400" dirty="0" err="1"/>
              <a:t>fuit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28E3814-0DA2-5731-138F-BB09341B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symbolisme (1880-1914)</a:t>
            </a:r>
          </a:p>
        </p:txBody>
      </p:sp>
    </p:spTree>
    <p:extLst>
      <p:ext uri="{BB962C8B-B14F-4D97-AF65-F5344CB8AC3E}">
        <p14:creationId xmlns:p14="http://schemas.microsoft.com/office/powerpoint/2010/main" val="212626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personne, meubles, intérieur&#10;&#10;Description générée automatiquement">
            <a:extLst>
              <a:ext uri="{FF2B5EF4-FFF2-40B4-BE49-F238E27FC236}">
                <a16:creationId xmlns:a16="http://schemas.microsoft.com/office/drawing/2014/main" id="{F24A98AF-72F2-0343-53F1-D868ABF421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21857" r="-1" b="668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2E9D1-08E8-E178-3964-495F51836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4 grands courants</a:t>
            </a:r>
          </a:p>
          <a:p>
            <a:endParaRPr lang="en-US" sz="2400"/>
          </a:p>
          <a:p>
            <a:pPr lvl="1"/>
            <a:r>
              <a:rPr lang="en-US" dirty="0"/>
              <a:t>Le </a:t>
            </a:r>
            <a:r>
              <a:rPr lang="en-US" dirty="0" err="1"/>
              <a:t>surréalisme</a:t>
            </a:r>
          </a:p>
          <a:p>
            <a:pPr lvl="1"/>
            <a:r>
              <a:rPr lang="en-US"/>
              <a:t>L'existentialisme</a:t>
            </a:r>
          </a:p>
          <a:p>
            <a:pPr lvl="1"/>
            <a:r>
              <a:rPr lang="en-US" dirty="0"/>
              <a:t>La </a:t>
            </a:r>
            <a:r>
              <a:rPr lang="en-US" dirty="0" err="1"/>
              <a:t>modernité</a:t>
            </a:r>
          </a:p>
          <a:p>
            <a:pPr lvl="1"/>
            <a:r>
              <a:rPr lang="en-US"/>
              <a:t>La postmodernité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267620-D1EF-395E-697E-37981ED6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XXe siècle </a:t>
            </a:r>
          </a:p>
        </p:txBody>
      </p:sp>
    </p:spTree>
    <p:extLst>
      <p:ext uri="{BB962C8B-B14F-4D97-AF65-F5344CB8AC3E}">
        <p14:creationId xmlns:p14="http://schemas.microsoft.com/office/powerpoint/2010/main" val="1808396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75CD783-E708-4711-B23C-5B7B72A3D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5578824" cy="6028256"/>
          </a:xfrm>
          <a:custGeom>
            <a:avLst/>
            <a:gdLst>
              <a:gd name="connsiteX0" fmla="*/ 0 w 5578824"/>
              <a:gd name="connsiteY0" fmla="*/ 0 h 6028256"/>
              <a:gd name="connsiteX1" fmla="*/ 3897606 w 5578824"/>
              <a:gd name="connsiteY1" fmla="*/ 0 h 6028256"/>
              <a:gd name="connsiteX2" fmla="*/ 4274232 w 5578824"/>
              <a:gd name="connsiteY2" fmla="*/ 360545 h 6028256"/>
              <a:gd name="connsiteX3" fmla="*/ 4673934 w 5578824"/>
              <a:gd name="connsiteY3" fmla="*/ 738354 h 6028256"/>
              <a:gd name="connsiteX4" fmla="*/ 5421862 w 5578824"/>
              <a:gd name="connsiteY4" fmla="*/ 1773839 h 6028256"/>
              <a:gd name="connsiteX5" fmla="*/ 5469199 w 5578824"/>
              <a:gd name="connsiteY5" fmla="*/ 3329255 h 6028256"/>
              <a:gd name="connsiteX6" fmla="*/ 4741546 w 5578824"/>
              <a:gd name="connsiteY6" fmla="*/ 4877588 h 6028256"/>
              <a:gd name="connsiteX7" fmla="*/ 1325600 w 5578824"/>
              <a:gd name="connsiteY7" fmla="*/ 5980388 h 6028256"/>
              <a:gd name="connsiteX8" fmla="*/ 137593 w 5578824"/>
              <a:gd name="connsiteY8" fmla="*/ 5804042 h 6028256"/>
              <a:gd name="connsiteX9" fmla="*/ 0 w 5578824"/>
              <a:gd name="connsiteY9" fmla="*/ 5760161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9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Espace réservé du contenu 4" descr="Une image contenant texte, peinture, Dessin d’enfant, dessin&#10;&#10;Description générée automatiquement">
            <a:extLst>
              <a:ext uri="{FF2B5EF4-FFF2-40B4-BE49-F238E27FC236}">
                <a16:creationId xmlns:a16="http://schemas.microsoft.com/office/drawing/2014/main" id="{CE9C34DC-4A8E-C8D7-DEF1-CA9C72F911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2110" y="1177502"/>
            <a:ext cx="5185022" cy="3419491"/>
          </a:xfrm>
          <a:prstGeom prst="rect">
            <a:avLst/>
          </a:prstGeom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BAA6E60-A280-234A-1B56-29F41C2A0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Genres </a:t>
            </a:r>
            <a:r>
              <a:rPr lang="en-US" sz="2400" dirty="0" err="1"/>
              <a:t>privilégiés</a:t>
            </a:r>
            <a:r>
              <a:rPr lang="en-US" sz="2400" dirty="0"/>
              <a:t> : roman et </a:t>
            </a:r>
            <a:r>
              <a:rPr lang="en-US" sz="2400" dirty="0" err="1"/>
              <a:t>théâtre</a:t>
            </a:r>
          </a:p>
          <a:p>
            <a:endParaRPr lang="en-US" sz="2400"/>
          </a:p>
          <a:p>
            <a:r>
              <a:rPr lang="en-US" sz="2400" dirty="0"/>
              <a:t>Auteurs </a:t>
            </a:r>
            <a:r>
              <a:rPr lang="en-US" sz="2400" dirty="0" err="1"/>
              <a:t>marquants</a:t>
            </a:r>
            <a:r>
              <a:rPr lang="en-US" sz="2400" dirty="0"/>
              <a:t>:</a:t>
            </a:r>
          </a:p>
          <a:p>
            <a:pPr lvl="1"/>
            <a:r>
              <a:rPr lang="en-US"/>
              <a:t>Jean-Paul Sartre</a:t>
            </a:r>
          </a:p>
          <a:p>
            <a:pPr lvl="1"/>
            <a:r>
              <a:rPr lang="en-US"/>
              <a:t>Simone de Beauvoir</a:t>
            </a:r>
          </a:p>
          <a:p>
            <a:pPr lvl="1"/>
            <a:r>
              <a:rPr lang="en-US"/>
              <a:t>Albert Camus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2728D5-C032-7AAC-BCE3-5FCA67E8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L'existentialisme (1939-1945)</a:t>
            </a:r>
          </a:p>
        </p:txBody>
      </p:sp>
    </p:spTree>
    <p:extLst>
      <p:ext uri="{BB962C8B-B14F-4D97-AF65-F5344CB8AC3E}">
        <p14:creationId xmlns:p14="http://schemas.microsoft.com/office/powerpoint/2010/main" val="3256532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peinture, art, Dessin d’enfant&#10;&#10;Description générée automatiquement">
            <a:extLst>
              <a:ext uri="{FF2B5EF4-FFF2-40B4-BE49-F238E27FC236}">
                <a16:creationId xmlns:a16="http://schemas.microsoft.com/office/drawing/2014/main" id="{2169D6D0-BC8A-DCB4-6AEC-CC2B3D2C58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669" r="-1" b="-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9F69BB-E6EF-548D-3111-BB8BEA911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b="1" err="1">
                <a:ea typeface="+mn-lt"/>
                <a:cs typeface="+mn-lt"/>
              </a:rPr>
              <a:t>Caractéristiques</a:t>
            </a:r>
            <a:r>
              <a:rPr lang="en-US" sz="3200" b="1" dirty="0">
                <a:ea typeface="+mn-lt"/>
                <a:cs typeface="+mn-lt"/>
              </a:rPr>
              <a:t> de </a:t>
            </a:r>
            <a:r>
              <a:rPr lang="en-US" sz="3200" b="1" err="1">
                <a:ea typeface="+mn-lt"/>
                <a:cs typeface="+mn-lt"/>
              </a:rPr>
              <a:t>l’existentialisme</a:t>
            </a:r>
            <a:endParaRPr lang="en-US" sz="2400" b="1" err="1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D6ECFF"/>
              </a:solidFill>
              <a:latin typeface="Wingdings"/>
              <a:sym typeface="Wingdings"/>
            </a:endParaRPr>
          </a:p>
          <a:p>
            <a:r>
              <a:rPr lang="en-US" sz="3200" dirty="0">
                <a:ea typeface="+mn-lt"/>
                <a:cs typeface="+mn-lt"/>
              </a:rPr>
              <a:t>Prise de conscience politique</a:t>
            </a:r>
            <a:endParaRPr lang="en-US" dirty="0"/>
          </a:p>
          <a:p>
            <a:r>
              <a:rPr lang="en-US" sz="3200" dirty="0" err="1">
                <a:ea typeface="+mn-lt"/>
                <a:cs typeface="+mn-lt"/>
              </a:rPr>
              <a:t>Refus</a:t>
            </a:r>
            <a:r>
              <a:rPr lang="en-US" sz="3200" dirty="0">
                <a:ea typeface="+mn-lt"/>
                <a:cs typeface="+mn-lt"/>
              </a:rPr>
              <a:t> du </a:t>
            </a:r>
            <a:r>
              <a:rPr lang="en-US" sz="3200" dirty="0" err="1">
                <a:ea typeface="+mn-lt"/>
                <a:cs typeface="+mn-lt"/>
              </a:rPr>
              <a:t>déterminisme</a:t>
            </a:r>
            <a:endParaRPr lang="en-US" dirty="0" err="1"/>
          </a:p>
          <a:p>
            <a:r>
              <a:rPr lang="en-US" sz="3200" dirty="0">
                <a:ea typeface="+mn-lt"/>
                <a:cs typeface="+mn-lt"/>
              </a:rPr>
              <a:t>Obligation pour </a:t>
            </a:r>
            <a:r>
              <a:rPr lang="en-US" sz="3200" dirty="0" err="1">
                <a:ea typeface="+mn-lt"/>
                <a:cs typeface="+mn-lt"/>
              </a:rPr>
              <a:t>l’humain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définir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lui-même</a:t>
            </a:r>
            <a:r>
              <a:rPr lang="en-US" sz="3200" dirty="0">
                <a:ea typeface="+mn-lt"/>
                <a:cs typeface="+mn-lt"/>
              </a:rPr>
              <a:t> son </a:t>
            </a:r>
            <a:r>
              <a:rPr lang="en-US" sz="3200" dirty="0" err="1">
                <a:ea typeface="+mn-lt"/>
                <a:cs typeface="+mn-lt"/>
              </a:rPr>
              <a:t>identité</a:t>
            </a:r>
            <a:endParaRPr lang="en-US" dirty="0" err="1"/>
          </a:p>
          <a:p>
            <a:r>
              <a:rPr lang="en-US" sz="3200" dirty="0">
                <a:ea typeface="+mn-lt"/>
                <a:cs typeface="+mn-lt"/>
              </a:rPr>
              <a:t>Style </a:t>
            </a:r>
            <a:r>
              <a:rPr lang="en-US" sz="3200" dirty="0" err="1">
                <a:ea typeface="+mn-lt"/>
                <a:cs typeface="+mn-lt"/>
              </a:rPr>
              <a:t>minimaliste</a:t>
            </a:r>
            <a:endParaRPr lang="en-US" dirty="0" err="1"/>
          </a:p>
          <a:p>
            <a:r>
              <a:rPr lang="en-US" sz="3200" dirty="0" err="1">
                <a:ea typeface="+mn-lt"/>
                <a:cs typeface="+mn-lt"/>
              </a:rPr>
              <a:t>Propos</a:t>
            </a:r>
            <a:r>
              <a:rPr lang="en-US" sz="3200" dirty="0">
                <a:ea typeface="+mn-lt"/>
                <a:cs typeface="+mn-lt"/>
              </a:rPr>
              <a:t> francs et cru</a:t>
            </a:r>
            <a:endParaRPr lang="en-US" dirty="0"/>
          </a:p>
          <a:p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818B8C8-ECA1-31B3-BC7D-1EF9E8A45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L'existentialisme (1939-1945)</a:t>
            </a:r>
          </a:p>
        </p:txBody>
      </p:sp>
    </p:spTree>
    <p:extLst>
      <p:ext uri="{BB962C8B-B14F-4D97-AF65-F5344CB8AC3E}">
        <p14:creationId xmlns:p14="http://schemas.microsoft.com/office/powerpoint/2010/main" val="4163945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dessin, cercle, peinture, art&#10;&#10;Description générée automatiquement">
            <a:extLst>
              <a:ext uri="{FF2B5EF4-FFF2-40B4-BE49-F238E27FC236}">
                <a16:creationId xmlns:a16="http://schemas.microsoft.com/office/drawing/2014/main" id="{2F70A36F-40CD-8B57-F4BA-00E63A29F0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4942" r="1" b="1412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3F9134-E3A5-CE51-5A13-570E5DAB6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err="1"/>
              <a:t>Thèmes</a:t>
            </a:r>
            <a:r>
              <a:rPr lang="en-US" sz="2400" b="1" dirty="0"/>
              <a:t> de </a:t>
            </a:r>
            <a:r>
              <a:rPr lang="en-US" sz="2400" b="1" err="1"/>
              <a:t>l’existentialisme</a:t>
            </a:r>
            <a:endParaRPr lang="en-US" sz="2400" b="1" err="1">
              <a:solidFill>
                <a:srgbClr val="FFFFFF">
                  <a:alpha val="70000"/>
                </a:srgbClr>
              </a:solidFill>
            </a:endParaRPr>
          </a:p>
          <a:p>
            <a:endParaRPr lang="en-US" sz="2400">
              <a:sym typeface="Wingdings"/>
            </a:endParaRPr>
          </a:p>
          <a:p>
            <a:r>
              <a:rPr lang="en-US" sz="2400" dirty="0"/>
              <a:t>La liberté</a:t>
            </a:r>
          </a:p>
          <a:p>
            <a:r>
              <a:rPr lang="en-US" sz="2400" dirty="0"/>
              <a:t>La solitude</a:t>
            </a:r>
          </a:p>
          <a:p>
            <a:r>
              <a:rPr lang="en-US" sz="2400" dirty="0" err="1"/>
              <a:t>L’absurdité</a:t>
            </a:r>
            <a:r>
              <a:rPr lang="en-US" sz="2400" dirty="0"/>
              <a:t> de la vie </a:t>
            </a:r>
            <a:r>
              <a:rPr lang="en-US" sz="2400" dirty="0" err="1"/>
              <a:t>humaine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2400" dirty="0" err="1"/>
              <a:t>L’angoisse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pPr marL="0"/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4C8461F-ED4F-9203-0B3D-B421E9140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L'existentialisme (1939-1945)</a:t>
            </a:r>
          </a:p>
        </p:txBody>
      </p:sp>
    </p:spTree>
    <p:extLst>
      <p:ext uri="{BB962C8B-B14F-4D97-AF65-F5344CB8AC3E}">
        <p14:creationId xmlns:p14="http://schemas.microsoft.com/office/powerpoint/2010/main" val="3917721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2ACC99-653A-7146-BA06-0025F5179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0" y="1524000"/>
            <a:ext cx="3048000" cy="45720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000" dirty="0"/>
              <a:t>Genres </a:t>
            </a:r>
            <a:r>
              <a:rPr lang="en-US" sz="2000" dirty="0" err="1"/>
              <a:t>privilégiés</a:t>
            </a:r>
            <a:r>
              <a:rPr lang="en-US" sz="2000" dirty="0"/>
              <a:t> : le roman et le </a:t>
            </a:r>
            <a:r>
              <a:rPr lang="en-US" sz="2000" dirty="0" err="1"/>
              <a:t>théâtre</a:t>
            </a:r>
          </a:p>
          <a:p>
            <a:pPr>
              <a:lnSpc>
                <a:spcPct val="115000"/>
              </a:lnSpc>
            </a:pPr>
            <a:r>
              <a:rPr lang="en-US" sz="2000"/>
              <a:t>Auteurs marquants</a:t>
            </a:r>
          </a:p>
          <a:p>
            <a:pPr lvl="1">
              <a:lnSpc>
                <a:spcPct val="115000"/>
              </a:lnSpc>
            </a:pPr>
            <a:r>
              <a:rPr lang="en-US" sz="2000"/>
              <a:t>Marguerite Duras</a:t>
            </a:r>
          </a:p>
          <a:p>
            <a:pPr lvl="1">
              <a:lnSpc>
                <a:spcPct val="115000"/>
              </a:lnSpc>
            </a:pPr>
            <a:r>
              <a:rPr lang="en-US" sz="2000"/>
              <a:t>Samuel Backett</a:t>
            </a:r>
          </a:p>
          <a:p>
            <a:pPr lvl="1">
              <a:lnSpc>
                <a:spcPct val="115000"/>
              </a:lnSpc>
            </a:pPr>
            <a:r>
              <a:rPr lang="en-US" sz="2000" dirty="0"/>
              <a:t>Eugène </a:t>
            </a:r>
            <a:r>
              <a:rPr lang="en-US" sz="2000" dirty="0" err="1"/>
              <a:t>Iosnesco</a:t>
            </a:r>
          </a:p>
          <a:p>
            <a:pPr lvl="1">
              <a:lnSpc>
                <a:spcPct val="115000"/>
              </a:lnSpc>
            </a:pPr>
            <a:r>
              <a:rPr lang="en-US" sz="2000"/>
              <a:t>Romain Gary</a:t>
            </a:r>
          </a:p>
          <a:p>
            <a:pPr lvl="1">
              <a:lnSpc>
                <a:spcPct val="115000"/>
              </a:lnSpc>
            </a:pPr>
            <a:r>
              <a:rPr lang="en-US" sz="2000"/>
              <a:t>Marguerite Yourcenar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70AD9D-00D3-F407-443C-17CDF8B7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48000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La modernité (1945-1960)</a:t>
            </a:r>
          </a:p>
        </p:txBody>
      </p:sp>
      <p:pic>
        <p:nvPicPr>
          <p:cNvPr id="5" name="Espace réservé du contenu 4" descr="Une image contenant théâtre, intérieur, sol&#10;&#10;Description générée automatiquement">
            <a:extLst>
              <a:ext uri="{FF2B5EF4-FFF2-40B4-BE49-F238E27FC236}">
                <a16:creationId xmlns:a16="http://schemas.microsoft.com/office/drawing/2014/main" id="{600A8228-D4D5-D1F1-4B52-F6FD1C4527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1099" r="13396" b="-1"/>
          <a:stretch/>
        </p:blipFill>
        <p:spPr>
          <a:xfrm>
            <a:off x="7620000" y="1524000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33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habits, peinture, personne, meubles&#10;&#10;Description générée automatiquement">
            <a:extLst>
              <a:ext uri="{FF2B5EF4-FFF2-40B4-BE49-F238E27FC236}">
                <a16:creationId xmlns:a16="http://schemas.microsoft.com/office/drawing/2014/main" id="{903F48F2-2CB5-6E05-B1DD-BB34FE02FC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2866" r="10091" b="1"/>
          <a:stretch/>
        </p:blipFill>
        <p:spPr>
          <a:xfrm>
            <a:off x="2" y="10"/>
            <a:ext cx="5578823" cy="6028246"/>
          </a:xfrm>
          <a:custGeom>
            <a:avLst/>
            <a:gdLst/>
            <a:ahLst/>
            <a:cxnLst/>
            <a:rect l="l" t="t" r="r" b="b"/>
            <a:pathLst>
              <a:path w="5578823" h="6028256">
                <a:moveTo>
                  <a:pt x="0" y="0"/>
                </a:moveTo>
                <a:lnTo>
                  <a:pt x="3897606" y="0"/>
                </a:lnTo>
                <a:lnTo>
                  <a:pt x="4274232" y="360545"/>
                </a:lnTo>
                <a:cubicBezTo>
                  <a:pt x="4408856" y="488910"/>
                  <a:pt x="4542134" y="615181"/>
                  <a:pt x="4673934" y="738354"/>
                </a:cubicBezTo>
                <a:cubicBezTo>
                  <a:pt x="5042663" y="1082881"/>
                  <a:pt x="5282330" y="1428108"/>
                  <a:pt x="5421862" y="1773839"/>
                </a:cubicBezTo>
                <a:cubicBezTo>
                  <a:pt x="5631101" y="2292214"/>
                  <a:pt x="5614731" y="2811325"/>
                  <a:pt x="5469198" y="3329255"/>
                </a:cubicBezTo>
                <a:cubicBezTo>
                  <a:pt x="5323662" y="3847185"/>
                  <a:pt x="5048962" y="4363935"/>
                  <a:pt x="4741546" y="4877588"/>
                </a:cubicBezTo>
                <a:cubicBezTo>
                  <a:pt x="4027238" y="6071494"/>
                  <a:pt x="2764972" y="6102970"/>
                  <a:pt x="1325600" y="5980388"/>
                </a:cubicBezTo>
                <a:cubicBezTo>
                  <a:pt x="903947" y="5944442"/>
                  <a:pt x="499735" y="5907589"/>
                  <a:pt x="137593" y="5804042"/>
                </a:cubicBezTo>
                <a:lnTo>
                  <a:pt x="0" y="576016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3B38B-B87A-4288-A20F-0223A6C27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23487E-8863-462E-7AC4-1BA3BDB0C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b="1" err="1">
                <a:ea typeface="+mn-lt"/>
                <a:cs typeface="+mn-lt"/>
              </a:rPr>
              <a:t>Caractéristiques</a:t>
            </a:r>
            <a:r>
              <a:rPr lang="en-US" sz="3200" b="1" dirty="0">
                <a:ea typeface="+mn-lt"/>
                <a:cs typeface="+mn-lt"/>
              </a:rPr>
              <a:t> de la </a:t>
            </a:r>
            <a:r>
              <a:rPr lang="en-US" sz="3200" b="1" err="1">
                <a:ea typeface="+mn-lt"/>
                <a:cs typeface="+mn-lt"/>
              </a:rPr>
              <a:t>modernité</a:t>
            </a:r>
            <a:endParaRPr lang="en-US" sz="2400" b="1">
              <a:solidFill>
                <a:srgbClr val="FFFFFF">
                  <a:alpha val="70000"/>
                </a:srgb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rgbClr val="D6ECFF"/>
              </a:solidFill>
              <a:latin typeface="Wingdings"/>
              <a:sym typeface="Wingdings"/>
            </a:endParaRPr>
          </a:p>
          <a:p>
            <a:r>
              <a:rPr lang="en-US" sz="3200" dirty="0" err="1">
                <a:ea typeface="+mn-lt"/>
                <a:cs typeface="+mn-lt"/>
              </a:rPr>
              <a:t>Refus</a:t>
            </a:r>
            <a:r>
              <a:rPr lang="en-US" sz="3200" dirty="0">
                <a:ea typeface="+mn-lt"/>
                <a:cs typeface="+mn-lt"/>
              </a:rPr>
              <a:t> du roman </a:t>
            </a:r>
            <a:r>
              <a:rPr lang="en-US" sz="3200" dirty="0" err="1">
                <a:ea typeface="+mn-lt"/>
                <a:cs typeface="+mn-lt"/>
              </a:rPr>
              <a:t>réaliste</a:t>
            </a:r>
            <a:endParaRPr lang="en-US" dirty="0" err="1"/>
          </a:p>
          <a:p>
            <a:r>
              <a:rPr lang="en-US" sz="3200" dirty="0">
                <a:ea typeface="+mn-lt"/>
                <a:cs typeface="+mn-lt"/>
              </a:rPr>
              <a:t>Narration interne</a:t>
            </a:r>
            <a:endParaRPr lang="en-US" dirty="0"/>
          </a:p>
          <a:p>
            <a:r>
              <a:rPr lang="en-US" sz="3200" dirty="0" err="1">
                <a:ea typeface="+mn-lt"/>
                <a:cs typeface="+mn-lt"/>
              </a:rPr>
              <a:t>Refus</a:t>
            </a:r>
            <a:r>
              <a:rPr lang="en-US" sz="3200" dirty="0">
                <a:ea typeface="+mn-lt"/>
                <a:cs typeface="+mn-lt"/>
              </a:rPr>
              <a:t> de la </a:t>
            </a:r>
            <a:r>
              <a:rPr lang="en-US" sz="3200" dirty="0" err="1">
                <a:ea typeface="+mn-lt"/>
                <a:cs typeface="+mn-lt"/>
              </a:rPr>
              <a:t>littérature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engagée</a:t>
            </a:r>
            <a:endParaRPr lang="en-US" dirty="0" err="1"/>
          </a:p>
          <a:p>
            <a:r>
              <a:rPr lang="en-US" sz="3200" dirty="0">
                <a:ea typeface="+mn-lt"/>
                <a:cs typeface="+mn-lt"/>
              </a:rPr>
              <a:t>Intrigue non </a:t>
            </a:r>
            <a:r>
              <a:rPr lang="en-US" sz="3200" dirty="0" err="1">
                <a:ea typeface="+mn-lt"/>
                <a:cs typeface="+mn-lt"/>
              </a:rPr>
              <a:t>linéaire</a:t>
            </a:r>
            <a:endParaRPr lang="en-US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3200" dirty="0" err="1">
                <a:ea typeface="+mn-lt"/>
                <a:cs typeface="+mn-lt"/>
              </a:rPr>
              <a:t>Célébration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l’objet</a:t>
            </a:r>
            <a:endParaRPr lang="en-US" dirty="0" err="1"/>
          </a:p>
          <a:p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7B6ED2-7A6C-B5C7-2E44-96C8DAE8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 modernité (1945-1960)</a:t>
            </a:r>
          </a:p>
        </p:txBody>
      </p:sp>
    </p:spTree>
    <p:extLst>
      <p:ext uri="{BB962C8B-B14F-4D97-AF65-F5344CB8AC3E}">
        <p14:creationId xmlns:p14="http://schemas.microsoft.com/office/powerpoint/2010/main" val="2030690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E88584-E015-8DAA-7650-F016DB85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018325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La modernité (1945-1960)</a:t>
            </a:r>
          </a:p>
          <a:p>
            <a:endParaRPr lang="en-US" sz="3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7733DA8-1BFC-4737-831B-54DCFE42D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76836" y="-776836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Espace réservé du contenu 4" descr="Une image contenant texte, peinture, plein air, meubles&#10;&#10;Description générée automatiquement">
            <a:extLst>
              <a:ext uri="{FF2B5EF4-FFF2-40B4-BE49-F238E27FC236}">
                <a16:creationId xmlns:a16="http://schemas.microsoft.com/office/drawing/2014/main" id="{B207D938-F976-1979-E2DF-5CB05DB693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0098" r="40015" b="2"/>
          <a:stretch/>
        </p:blipFill>
        <p:spPr>
          <a:xfrm>
            <a:off x="7859090" y="1040564"/>
            <a:ext cx="4337540" cy="5817436"/>
          </a:xfrm>
          <a:custGeom>
            <a:avLst/>
            <a:gdLst/>
            <a:ahLst/>
            <a:cxnLst/>
            <a:rect l="l" t="t" r="r" b="b"/>
            <a:pathLst>
              <a:path w="4337540" h="5817436">
                <a:moveTo>
                  <a:pt x="3175347" y="710"/>
                </a:moveTo>
                <a:cubicBezTo>
                  <a:pt x="3421493" y="-5064"/>
                  <a:pt x="3686120" y="24227"/>
                  <a:pt x="3972229" y="94304"/>
                </a:cubicBezTo>
                <a:lnTo>
                  <a:pt x="4337540" y="181400"/>
                </a:lnTo>
                <a:lnTo>
                  <a:pt x="4337540" y="5817436"/>
                </a:lnTo>
                <a:lnTo>
                  <a:pt x="1006557" y="5817436"/>
                </a:lnTo>
                <a:lnTo>
                  <a:pt x="866510" y="5609583"/>
                </a:lnTo>
                <a:cubicBezTo>
                  <a:pt x="140071" y="4515211"/>
                  <a:pt x="-376405" y="3480830"/>
                  <a:pt x="351747" y="2263621"/>
                </a:cubicBezTo>
                <a:cubicBezTo>
                  <a:pt x="664977" y="1739861"/>
                  <a:pt x="994988" y="1240809"/>
                  <a:pt x="1381666" y="845238"/>
                </a:cubicBezTo>
                <a:cubicBezTo>
                  <a:pt x="1768346" y="449669"/>
                  <a:pt x="2211693" y="157580"/>
                  <a:pt x="2751595" y="47742"/>
                </a:cubicBezTo>
                <a:cubicBezTo>
                  <a:pt x="2886624" y="20264"/>
                  <a:pt x="3027659" y="4175"/>
                  <a:pt x="3175347" y="71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3165769-7A47-4E0F-825D-AF1179DF6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82642" flipH="1">
            <a:off x="7133961" y="946220"/>
            <a:ext cx="5867664" cy="5317986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  <a:gd name="connsiteX0" fmla="*/ 0 w 1085312"/>
              <a:gd name="connsiteY0" fmla="*/ 0 h 2441440"/>
              <a:gd name="connsiteX1" fmla="*/ 53089 w 1085312"/>
              <a:gd name="connsiteY1" fmla="*/ 4542 h 2441440"/>
              <a:gd name="connsiteX2" fmla="*/ 790077 w 1085312"/>
              <a:gd name="connsiteY2" fmla="*/ 872756 h 2441440"/>
              <a:gd name="connsiteX3" fmla="*/ 1085252 w 1085312"/>
              <a:gd name="connsiteY3" fmla="*/ 1943649 h 2441440"/>
              <a:gd name="connsiteX4" fmla="*/ 1064832 w 1085312"/>
              <a:gd name="connsiteY4" fmla="*/ 2198094 h 2441440"/>
              <a:gd name="connsiteX5" fmla="*/ 1043734 w 1085312"/>
              <a:gd name="connsiteY5" fmla="*/ 2315675 h 2441440"/>
              <a:gd name="connsiteX6" fmla="*/ 59456 w 1085312"/>
              <a:gd name="connsiteY6" fmla="*/ 2441440 h 2441440"/>
              <a:gd name="connsiteX0" fmla="*/ 0 w 1085312"/>
              <a:gd name="connsiteY0" fmla="*/ 0 h 2315675"/>
              <a:gd name="connsiteX1" fmla="*/ 53089 w 1085312"/>
              <a:gd name="connsiteY1" fmla="*/ 4542 h 2315675"/>
              <a:gd name="connsiteX2" fmla="*/ 790077 w 1085312"/>
              <a:gd name="connsiteY2" fmla="*/ 872756 h 2315675"/>
              <a:gd name="connsiteX3" fmla="*/ 1085252 w 1085312"/>
              <a:gd name="connsiteY3" fmla="*/ 1943649 h 2315675"/>
              <a:gd name="connsiteX4" fmla="*/ 1064832 w 1085312"/>
              <a:gd name="connsiteY4" fmla="*/ 2198094 h 2315675"/>
              <a:gd name="connsiteX5" fmla="*/ 1043734 w 1085312"/>
              <a:gd name="connsiteY5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5312" h="2315675">
                <a:moveTo>
                  <a:pt x="0" y="0"/>
                </a:move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20096A-4E55-31B4-CF00-6377B3250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39674" y="1524000"/>
            <a:ext cx="3018325" cy="4572001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lnSpc>
                <a:spcPct val="115000"/>
              </a:lnSpc>
            </a:pPr>
            <a:r>
              <a:rPr lang="en-US" sz="2400" b="1"/>
              <a:t>Thèmes de la modernité</a:t>
            </a:r>
          </a:p>
          <a:p>
            <a:pPr>
              <a:lnSpc>
                <a:spcPct val="115000"/>
              </a:lnSpc>
            </a:pPr>
            <a:r>
              <a:rPr lang="en-US" sz="2400"/>
              <a:t>L’absurdité de la société</a:t>
            </a:r>
          </a:p>
          <a:p>
            <a:pPr>
              <a:lnSpc>
                <a:spcPct val="115000"/>
              </a:lnSpc>
            </a:pPr>
            <a:r>
              <a:rPr lang="en-US" sz="2400"/>
              <a:t>Difficulté de la communication</a:t>
            </a:r>
          </a:p>
          <a:p>
            <a:pPr>
              <a:lnSpc>
                <a:spcPct val="115000"/>
              </a:lnSpc>
            </a:pPr>
            <a:r>
              <a:rPr lang="en-US" sz="2400"/>
              <a:t>Le vide existentiel</a:t>
            </a:r>
          </a:p>
          <a:p>
            <a:pPr>
              <a:lnSpc>
                <a:spcPct val="115000"/>
              </a:lnSpc>
            </a:pPr>
            <a:r>
              <a:rPr lang="en-US" sz="2400"/>
              <a:t>La condition humaine</a:t>
            </a:r>
          </a:p>
          <a:p>
            <a:pPr>
              <a:lnSpc>
                <a:spcPct val="115000"/>
              </a:lnSpc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1541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8" name="Espace réservé du contenu 7" descr="Une image contenant tasse de café, soucoupe, mug, vaisselle&#10;&#10;Description générée automatiquement">
            <a:extLst>
              <a:ext uri="{FF2B5EF4-FFF2-40B4-BE49-F238E27FC236}">
                <a16:creationId xmlns:a16="http://schemas.microsoft.com/office/drawing/2014/main" id="{94FB1DA6-D613-D3B8-2452-251398E981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5256" r="14615" b="-1"/>
          <a:stretch/>
        </p:blipFill>
        <p:spPr>
          <a:xfrm>
            <a:off x="762000" y="762001"/>
            <a:ext cx="4572000" cy="5334000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A75A07-DB81-9461-BDC4-C6227C6B4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286000"/>
            <a:ext cx="5334000" cy="38100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Genres privilégiés: roman et théâtre</a:t>
            </a:r>
          </a:p>
          <a:p>
            <a:endParaRPr lang="en-US" sz="2200"/>
          </a:p>
          <a:p>
            <a:r>
              <a:rPr lang="en-US" sz="2200"/>
              <a:t>Auteurs marquants</a:t>
            </a:r>
          </a:p>
          <a:p>
            <a:pPr lvl="1"/>
            <a:r>
              <a:rPr lang="en-US" sz="2200"/>
              <a:t>Emmanuel Carrère</a:t>
            </a:r>
          </a:p>
          <a:p>
            <a:pPr lvl="1"/>
            <a:r>
              <a:rPr lang="en-US" sz="2200"/>
              <a:t>Michel Houellebecq</a:t>
            </a:r>
          </a:p>
          <a:p>
            <a:pPr lvl="1"/>
            <a:r>
              <a:rPr lang="en-US" sz="2200"/>
              <a:t>Annie Ernaux</a:t>
            </a:r>
          </a:p>
          <a:p>
            <a:pPr lvl="1"/>
            <a:r>
              <a:rPr lang="en-US" sz="2200"/>
              <a:t>Amélie Nothomb</a:t>
            </a:r>
          </a:p>
          <a:p>
            <a:pPr lvl="1"/>
            <a:endParaRPr lang="en-US" sz="22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5693E8-0E1D-69C1-CBCE-43BE3BCE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 postmodernité (1960 à aujourd'hui)</a:t>
            </a:r>
          </a:p>
        </p:txBody>
      </p:sp>
    </p:spTree>
    <p:extLst>
      <p:ext uri="{BB962C8B-B14F-4D97-AF65-F5344CB8AC3E}">
        <p14:creationId xmlns:p14="http://schemas.microsoft.com/office/powerpoint/2010/main" val="895569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Visage humain, peinture, art, intérieur&#10;&#10;Description générée automatiquement">
            <a:extLst>
              <a:ext uri="{FF2B5EF4-FFF2-40B4-BE49-F238E27FC236}">
                <a16:creationId xmlns:a16="http://schemas.microsoft.com/office/drawing/2014/main" id="{E1026085-2E8E-A8F3-57BA-B5CA31AAF2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7687" r="-3" b="-3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4AF8BE-08CC-7A14-E60F-8C7F85D27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6000"/>
            <a:ext cx="5334000" cy="381000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dirty="0" err="1">
                <a:ea typeface="+mn-lt"/>
                <a:cs typeface="+mn-lt"/>
              </a:rPr>
              <a:t>Caractéristiques</a:t>
            </a:r>
            <a:r>
              <a:rPr lang="en-US" sz="3000" dirty="0">
                <a:ea typeface="+mn-lt"/>
                <a:cs typeface="+mn-lt"/>
              </a:rPr>
              <a:t> de la </a:t>
            </a:r>
            <a:r>
              <a:rPr lang="en-US" sz="3000" dirty="0" err="1">
                <a:ea typeface="+mn-lt"/>
                <a:cs typeface="+mn-lt"/>
              </a:rPr>
              <a:t>postmodernité</a:t>
            </a:r>
            <a:endParaRPr lang="en-US" sz="2400" dirty="0" err="1">
              <a:solidFill>
                <a:srgbClr val="FFFFFF">
                  <a:alpha val="70000"/>
                </a:srgbClr>
              </a:solidFill>
            </a:endParaRPr>
          </a:p>
          <a:p>
            <a:r>
              <a:rPr lang="en-US" sz="3000" dirty="0">
                <a:ea typeface="+mn-lt"/>
                <a:cs typeface="+mn-lt"/>
              </a:rPr>
              <a:t>Retour à </a:t>
            </a:r>
            <a:r>
              <a:rPr lang="en-US" sz="3000" dirty="0" err="1">
                <a:ea typeface="+mn-lt"/>
                <a:cs typeface="+mn-lt"/>
              </a:rPr>
              <a:t>une</a:t>
            </a:r>
            <a:r>
              <a:rPr lang="en-US" sz="3000" dirty="0">
                <a:ea typeface="+mn-lt"/>
                <a:cs typeface="+mn-lt"/>
              </a:rPr>
              <a:t> narration plus </a:t>
            </a:r>
            <a:r>
              <a:rPr lang="en-US" sz="3000" dirty="0" err="1">
                <a:ea typeface="+mn-lt"/>
                <a:cs typeface="+mn-lt"/>
              </a:rPr>
              <a:t>traditionnelle</a:t>
            </a:r>
            <a:endParaRPr lang="en-US" dirty="0" err="1"/>
          </a:p>
          <a:p>
            <a:r>
              <a:rPr lang="en-US" sz="3000" dirty="0" err="1">
                <a:ea typeface="+mn-lt"/>
                <a:cs typeface="+mn-lt"/>
              </a:rPr>
              <a:t>Refus</a:t>
            </a:r>
            <a:r>
              <a:rPr lang="en-US" sz="3000" dirty="0">
                <a:ea typeface="+mn-lt"/>
                <a:cs typeface="+mn-lt"/>
              </a:rPr>
              <a:t> du cliché</a:t>
            </a:r>
            <a:endParaRPr lang="en-US" dirty="0"/>
          </a:p>
          <a:p>
            <a:r>
              <a:rPr lang="en-US" sz="3000" dirty="0">
                <a:ea typeface="+mn-lt"/>
                <a:cs typeface="+mn-lt"/>
              </a:rPr>
              <a:t>Incursion du </a:t>
            </a:r>
            <a:r>
              <a:rPr lang="en-US" sz="3000" dirty="0" err="1">
                <a:ea typeface="+mn-lt"/>
                <a:cs typeface="+mn-lt"/>
              </a:rPr>
              <a:t>langage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parlé</a:t>
            </a:r>
            <a:endParaRPr lang="en-US" dirty="0" err="1"/>
          </a:p>
          <a:p>
            <a:r>
              <a:rPr lang="en-US" sz="3000" dirty="0" err="1">
                <a:ea typeface="+mn-lt"/>
                <a:cs typeface="+mn-lt"/>
              </a:rPr>
              <a:t>Intertextualité</a:t>
            </a:r>
            <a:endParaRPr lang="en-US" dirty="0" err="1"/>
          </a:p>
          <a:p>
            <a:r>
              <a:rPr lang="en-US" sz="3000" dirty="0">
                <a:solidFill>
                  <a:srgbClr val="FFFFFF">
                    <a:alpha val="70000"/>
                  </a:srgbClr>
                </a:solidFill>
                <a:latin typeface="Avenir Next LT Pro"/>
              </a:rPr>
              <a:t>Autofiction</a:t>
            </a:r>
            <a:endParaRPr lang="en-US" dirty="0"/>
          </a:p>
          <a:p>
            <a:r>
              <a:rPr lang="en-US" sz="3000" dirty="0" err="1">
                <a:ea typeface="+mn-lt"/>
                <a:cs typeface="+mn-lt"/>
              </a:rPr>
              <a:t>Réflexion</a:t>
            </a:r>
            <a:r>
              <a:rPr lang="en-US" sz="3000" dirty="0">
                <a:ea typeface="+mn-lt"/>
                <a:cs typeface="+mn-lt"/>
              </a:rPr>
              <a:t> sur </a:t>
            </a:r>
            <a:r>
              <a:rPr lang="en-US" sz="3000" dirty="0" err="1">
                <a:ea typeface="+mn-lt"/>
                <a:cs typeface="+mn-lt"/>
              </a:rPr>
              <a:t>l’art</a:t>
            </a:r>
            <a:endParaRPr lang="en-US" dirty="0" err="1"/>
          </a:p>
          <a:p>
            <a:endParaRPr lang="en-US" sz="24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D45158-F37A-76A0-80CE-3A16923E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La postmodernité (1960 à aujourd'hui)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819408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7733DA8-1BFC-4737-831B-54DCFE42D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6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Espace réservé du contenu 4" descr="Une image contenant art, motif, Dessin d’enfant, Arts créatifs&#10;&#10;Description générée automatiquement">
            <a:extLst>
              <a:ext uri="{FF2B5EF4-FFF2-40B4-BE49-F238E27FC236}">
                <a16:creationId xmlns:a16="http://schemas.microsoft.com/office/drawing/2014/main" id="{60D382CE-B0C4-E62C-1EC0-63A3E591FD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3573" r="24594" b="-1"/>
          <a:stretch/>
        </p:blipFill>
        <p:spPr>
          <a:xfrm>
            <a:off x="4633" y="1040564"/>
            <a:ext cx="4337539" cy="5817436"/>
          </a:xfrm>
          <a:custGeom>
            <a:avLst/>
            <a:gdLst/>
            <a:ahLst/>
            <a:cxnLst/>
            <a:rect l="l" t="t" r="r" b="b"/>
            <a:pathLst>
              <a:path w="4337539" h="5817436">
                <a:moveTo>
                  <a:pt x="1162193" y="710"/>
                </a:moveTo>
                <a:cubicBezTo>
                  <a:pt x="1309881" y="4175"/>
                  <a:pt x="1450916" y="20264"/>
                  <a:pt x="1585945" y="47742"/>
                </a:cubicBezTo>
                <a:cubicBezTo>
                  <a:pt x="2125847" y="157580"/>
                  <a:pt x="2569194" y="449669"/>
                  <a:pt x="2955874" y="845238"/>
                </a:cubicBezTo>
                <a:cubicBezTo>
                  <a:pt x="3342552" y="1240809"/>
                  <a:pt x="3672563" y="1739861"/>
                  <a:pt x="3985793" y="2263621"/>
                </a:cubicBezTo>
                <a:cubicBezTo>
                  <a:pt x="4713945" y="3480830"/>
                  <a:pt x="4197469" y="4515211"/>
                  <a:pt x="3471030" y="5609583"/>
                </a:cubicBezTo>
                <a:lnTo>
                  <a:pt x="3330983" y="5817436"/>
                </a:lnTo>
                <a:lnTo>
                  <a:pt x="0" y="5817436"/>
                </a:lnTo>
                <a:lnTo>
                  <a:pt x="0" y="181400"/>
                </a:lnTo>
                <a:lnTo>
                  <a:pt x="365311" y="94304"/>
                </a:lnTo>
                <a:cubicBezTo>
                  <a:pt x="651420" y="24227"/>
                  <a:pt x="916047" y="-5064"/>
                  <a:pt x="1162193" y="71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3165769-7A47-4E0F-825D-AF1179DF6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17358">
            <a:off x="-800363" y="946220"/>
            <a:ext cx="5867664" cy="5317986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  <a:gd name="connsiteX0" fmla="*/ 0 w 1085312"/>
              <a:gd name="connsiteY0" fmla="*/ 0 h 2441440"/>
              <a:gd name="connsiteX1" fmla="*/ 53089 w 1085312"/>
              <a:gd name="connsiteY1" fmla="*/ 4542 h 2441440"/>
              <a:gd name="connsiteX2" fmla="*/ 790077 w 1085312"/>
              <a:gd name="connsiteY2" fmla="*/ 872756 h 2441440"/>
              <a:gd name="connsiteX3" fmla="*/ 1085252 w 1085312"/>
              <a:gd name="connsiteY3" fmla="*/ 1943649 h 2441440"/>
              <a:gd name="connsiteX4" fmla="*/ 1064832 w 1085312"/>
              <a:gd name="connsiteY4" fmla="*/ 2198094 h 2441440"/>
              <a:gd name="connsiteX5" fmla="*/ 1043734 w 1085312"/>
              <a:gd name="connsiteY5" fmla="*/ 2315675 h 2441440"/>
              <a:gd name="connsiteX6" fmla="*/ 59456 w 1085312"/>
              <a:gd name="connsiteY6" fmla="*/ 2441440 h 2441440"/>
              <a:gd name="connsiteX0" fmla="*/ 0 w 1085312"/>
              <a:gd name="connsiteY0" fmla="*/ 0 h 2315675"/>
              <a:gd name="connsiteX1" fmla="*/ 53089 w 1085312"/>
              <a:gd name="connsiteY1" fmla="*/ 4542 h 2315675"/>
              <a:gd name="connsiteX2" fmla="*/ 790077 w 1085312"/>
              <a:gd name="connsiteY2" fmla="*/ 872756 h 2315675"/>
              <a:gd name="connsiteX3" fmla="*/ 1085252 w 1085312"/>
              <a:gd name="connsiteY3" fmla="*/ 1943649 h 2315675"/>
              <a:gd name="connsiteX4" fmla="*/ 1064832 w 1085312"/>
              <a:gd name="connsiteY4" fmla="*/ 2198094 h 2315675"/>
              <a:gd name="connsiteX5" fmla="*/ 1043734 w 1085312"/>
              <a:gd name="connsiteY5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5312" h="2315675">
                <a:moveTo>
                  <a:pt x="0" y="0"/>
                </a:move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D3A88B-5EDD-1B46-F3E2-5406278C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1" y="1524000"/>
            <a:ext cx="3018325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La postmodernité (1960 à aujourd'hui)</a:t>
            </a:r>
          </a:p>
          <a:p>
            <a:endParaRPr lang="en-US" sz="320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2A20F56-D9C8-FD05-6281-D20E83DB1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1675" y="1524000"/>
            <a:ext cx="3018325" cy="4572001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lnSpc>
                <a:spcPct val="115000"/>
              </a:lnSpc>
            </a:pPr>
            <a:r>
              <a:rPr lang="en-US" sz="1900"/>
              <a:t>Thème de la postmodernité</a:t>
            </a:r>
          </a:p>
          <a:p>
            <a:pPr marL="0">
              <a:lnSpc>
                <a:spcPct val="115000"/>
              </a:lnSpc>
            </a:pPr>
            <a:endParaRPr lang="en-US" sz="1900">
              <a:sym typeface="Wingdings"/>
            </a:endParaRPr>
          </a:p>
          <a:p>
            <a:pPr>
              <a:lnSpc>
                <a:spcPct val="115000"/>
              </a:lnSpc>
            </a:pPr>
            <a:r>
              <a:rPr lang="en-US" sz="1900"/>
              <a:t>L’intimité</a:t>
            </a:r>
          </a:p>
          <a:p>
            <a:pPr>
              <a:lnSpc>
                <a:spcPct val="115000"/>
              </a:lnSpc>
            </a:pPr>
            <a:r>
              <a:rPr lang="en-US" sz="1900"/>
              <a:t>L'amour comme échec</a:t>
            </a:r>
          </a:p>
          <a:p>
            <a:pPr>
              <a:lnSpc>
                <a:spcPct val="115000"/>
              </a:lnSpc>
            </a:pPr>
            <a:r>
              <a:rPr lang="en-US" sz="1900"/>
              <a:t>La réalité et la banalité du quotidien</a:t>
            </a:r>
          </a:p>
          <a:p>
            <a:pPr>
              <a:lnSpc>
                <a:spcPct val="115000"/>
              </a:lnSpc>
            </a:pPr>
            <a:r>
              <a:rPr lang="en-US" sz="1900"/>
              <a:t>Événements marquants de l’Histoire</a:t>
            </a:r>
          </a:p>
          <a:p>
            <a:pPr>
              <a:lnSpc>
                <a:spcPct val="115000"/>
              </a:lnSpc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860223052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RegularSeedRightStep">
      <a:dk1>
        <a:srgbClr val="000000"/>
      </a:dk1>
      <a:lt1>
        <a:srgbClr val="FFFFFF"/>
      </a:lt1>
      <a:dk2>
        <a:srgbClr val="243941"/>
      </a:dk2>
      <a:lt2>
        <a:srgbClr val="E2E8E7"/>
      </a:lt2>
      <a:accent1>
        <a:srgbClr val="CE4253"/>
      </a:accent1>
      <a:accent2>
        <a:srgbClr val="BC5930"/>
      </a:accent2>
      <a:accent3>
        <a:srgbClr val="C59F40"/>
      </a:accent3>
      <a:accent4>
        <a:srgbClr val="9DAD2D"/>
      </a:accent4>
      <a:accent5>
        <a:srgbClr val="72B53A"/>
      </a:accent5>
      <a:accent6>
        <a:srgbClr val="36BC30"/>
      </a:accent6>
      <a:hlink>
        <a:srgbClr val="309286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861</Words>
  <Application>Microsoft Macintosh PowerPoint</Application>
  <PresentationFormat>Grand écran</PresentationFormat>
  <Paragraphs>213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1" baseType="lpstr">
      <vt:lpstr>Arial</vt:lpstr>
      <vt:lpstr>Avenir Next LT Pro</vt:lpstr>
      <vt:lpstr>Avenir Next LT Pro Light</vt:lpstr>
      <vt:lpstr>Courier New</vt:lpstr>
      <vt:lpstr>Sitka Subheading</vt:lpstr>
      <vt:lpstr>Wingdings</vt:lpstr>
      <vt:lpstr>Wingdings 2</vt:lpstr>
      <vt:lpstr>Wingdings 3</vt:lpstr>
      <vt:lpstr>PebbleVTI</vt:lpstr>
      <vt:lpstr>Révision pour l'EUF</vt:lpstr>
      <vt:lpstr>Les 3 grands genres en littérature</vt:lpstr>
      <vt:lpstr>La poésie</vt:lpstr>
      <vt:lpstr>Le théâtre</vt:lpstr>
      <vt:lpstr>Le genre narratif</vt:lpstr>
      <vt:lpstr>La littérature française</vt:lpstr>
      <vt:lpstr>Le Moyen Âge </vt:lpstr>
      <vt:lpstr>La Renaissance</vt:lpstr>
      <vt:lpstr>Le XVIIe siècle (Le Grand Siècle)</vt:lpstr>
      <vt:lpstr>Le XVIIe siècle (le Grand Siècle)</vt:lpstr>
      <vt:lpstr>Le XVIIIe siècle (Le siècle des Lumières)</vt:lpstr>
      <vt:lpstr>Le XVIIIe siècle (Le siècle des Lumières)</vt:lpstr>
      <vt:lpstr>Le XIXe siècle</vt:lpstr>
      <vt:lpstr>Le romantisme (1800-1850)</vt:lpstr>
      <vt:lpstr>Le romantisme (1800-1850)</vt:lpstr>
      <vt:lpstr>Le romantisme</vt:lpstr>
      <vt:lpstr>Le réalisme (1850-1880)</vt:lpstr>
      <vt:lpstr>Le réalisme (1850-1880)</vt:lpstr>
      <vt:lpstr>Le réalisme (1850-1880)</vt:lpstr>
      <vt:lpstr>Le symbolisme (1880-1914)</vt:lpstr>
      <vt:lpstr>Le symbolisme (1880-1914)</vt:lpstr>
      <vt:lpstr>Le symbolisme (1880-1914)</vt:lpstr>
      <vt:lpstr>Le XXe siècle </vt:lpstr>
      <vt:lpstr>L'existentialisme (1939-1945)</vt:lpstr>
      <vt:lpstr>L'existentialisme (1939-1945)</vt:lpstr>
      <vt:lpstr>L'existentialisme (1939-1945)</vt:lpstr>
      <vt:lpstr>La modernité (1945-1960)</vt:lpstr>
      <vt:lpstr>La modernité (1945-1960)</vt:lpstr>
      <vt:lpstr>La modernité (1945-1960) </vt:lpstr>
      <vt:lpstr>La postmodernité (1960 à aujourd'hui)</vt:lpstr>
      <vt:lpstr>La postmodernité (1960 à aujourd'hui) </vt:lpstr>
      <vt:lpstr>La postmodernité (1960 à aujourd'hui)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M B</cp:lastModifiedBy>
  <cp:revision>452</cp:revision>
  <dcterms:created xsi:type="dcterms:W3CDTF">2024-04-29T14:18:17Z</dcterms:created>
  <dcterms:modified xsi:type="dcterms:W3CDTF">2024-04-29T17:38:07Z</dcterms:modified>
</cp:coreProperties>
</file>