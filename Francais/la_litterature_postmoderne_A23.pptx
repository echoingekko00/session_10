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485040-3169-4279-9009-7B9C39B72A83}" v="227" dt="2023-09-30T15:30:47.5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955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8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94375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825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587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846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524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1682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8217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24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0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619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865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2/6/2024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463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37" r:id="rId6"/>
    <p:sldLayoutId id="2147483733" r:id="rId7"/>
    <p:sldLayoutId id="2147483734" r:id="rId8"/>
    <p:sldLayoutId id="2147483735" r:id="rId9"/>
    <p:sldLayoutId id="2147483736" r:id="rId10"/>
    <p:sldLayoutId id="214748373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4374D-F270-4C02-88D7-B751FD9BD6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!!Rectangle">
            <a:extLst>
              <a:ext uri="{FF2B5EF4-FFF2-40B4-BE49-F238E27FC236}">
                <a16:creationId xmlns:a16="http://schemas.microsoft.com/office/drawing/2014/main" id="{1ACA2EA0-FFD3-42EC-9406-B595015ED9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DAF6196-4EE0-50D6-3D7F-C42DA6EC6F3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7892" r="-2" b="1682"/>
          <a:stretch/>
        </p:blipFill>
        <p:spPr>
          <a:xfrm>
            <a:off x="20" y="10"/>
            <a:ext cx="12191979" cy="6857989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5288BCE-665C-472A-8C43-664BCFA31E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bg1">
              <a:alpha val="95000"/>
            </a:schemeClr>
          </a:solidFill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04988" y="1442172"/>
            <a:ext cx="8582025" cy="2177328"/>
          </a:xfrm>
        </p:spPr>
        <p:txBody>
          <a:bodyPr anchor="ctr">
            <a:normAutofit/>
          </a:bodyPr>
          <a:lstStyle/>
          <a:p>
            <a:pPr algn="ctr"/>
            <a:r>
              <a:rPr lang="fr-FR" sz="7200">
                <a:ea typeface="Calibri Light"/>
                <a:cs typeface="Calibri Light"/>
              </a:rPr>
              <a:t>La littérature postmoderne</a:t>
            </a:r>
            <a:endParaRPr lang="fr-FR" sz="72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6C57131-53A7-4C1A-BEA8-25F06A06AD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487872" y="3912322"/>
            <a:ext cx="7225780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566988" y="3962400"/>
            <a:ext cx="7058025" cy="5810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fr-FR">
                <a:solidFill>
                  <a:srgbClr val="FFFFFF"/>
                </a:solidFill>
                <a:ea typeface="Calibri"/>
                <a:cs typeface="Calibri"/>
              </a:rPr>
              <a:t>1960 à aujourd'hui</a:t>
            </a:r>
            <a:endParaRPr lang="fr-FR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379F3F5-3B3A-49FC-0A42-608DCFDD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/>
              <a:t>Le héros fragilisé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AB04214-6992-9A28-2D7D-C0BBA00FC6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1479" y="2688336"/>
            <a:ext cx="4498848" cy="35844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accent1"/>
                </a:solidFill>
              </a:rPr>
              <a:t>Il est souvent présenté incapable de changer le cours de sa destinée.</a:t>
            </a:r>
          </a:p>
          <a:p>
            <a:r>
              <a:rPr lang="fr-FR" dirty="0">
                <a:solidFill>
                  <a:schemeClr val="accent1"/>
                </a:solidFill>
              </a:rPr>
              <a:t>Le héros a une consistance psychologique et une singularité.</a:t>
            </a:r>
          </a:p>
          <a:p>
            <a:r>
              <a:rPr lang="fr-FR" dirty="0">
                <a:solidFill>
                  <a:schemeClr val="accent1"/>
                </a:solidFill>
              </a:rPr>
              <a:t>Les frontières entre le bien et le mal sont floues.</a:t>
            </a:r>
          </a:p>
          <a:p>
            <a:endParaRPr lang="fr-FR" dirty="0">
              <a:solidFill>
                <a:schemeClr val="accent1"/>
              </a:solidFill>
            </a:endParaRPr>
          </a:p>
        </p:txBody>
      </p:sp>
      <p:pic>
        <p:nvPicPr>
          <p:cNvPr id="5" name="Espace réservé du contenu 4" descr="Une image contenant peinture, Visage humain, habits, personne&#10;&#10;Description générée automatiquement">
            <a:extLst>
              <a:ext uri="{FF2B5EF4-FFF2-40B4-BE49-F238E27FC236}">
                <a16:creationId xmlns:a16="http://schemas.microsoft.com/office/drawing/2014/main" id="{431B703B-13B9-D12D-5647-B3FD404D345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1486" r="17533" b="-1"/>
          <a:stretch/>
        </p:blipFill>
        <p:spPr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</p:spPr>
      </p:pic>
    </p:spTree>
    <p:extLst>
      <p:ext uri="{BB962C8B-B14F-4D97-AF65-F5344CB8AC3E}">
        <p14:creationId xmlns:p14="http://schemas.microsoft.com/office/powerpoint/2010/main" val="86547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28E3505-36F5-47A9-A188-7C60ACBB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carte, art, illustration&#10;&#10;Description générée automatiquement">
            <a:extLst>
              <a:ext uri="{FF2B5EF4-FFF2-40B4-BE49-F238E27FC236}">
                <a16:creationId xmlns:a16="http://schemas.microsoft.com/office/drawing/2014/main" id="{5B11CFC1-24CC-D6E3-11AC-CA483D355C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r="654"/>
          <a:stretch/>
        </p:blipFill>
        <p:spPr>
          <a:xfrm>
            <a:off x="3143213" y="10"/>
            <a:ext cx="4956582" cy="6857990"/>
          </a:xfrm>
          <a:custGeom>
            <a:avLst/>
            <a:gdLst/>
            <a:ahLst/>
            <a:cxnLst/>
            <a:rect l="l" t="t" r="r" b="b"/>
            <a:pathLst>
              <a:path w="4956582" h="6858000">
                <a:moveTo>
                  <a:pt x="0" y="0"/>
                </a:moveTo>
                <a:lnTo>
                  <a:pt x="4161807" y="0"/>
                </a:lnTo>
                <a:lnTo>
                  <a:pt x="4176560" y="27485"/>
                </a:lnTo>
                <a:cubicBezTo>
                  <a:pt x="4666464" y="986552"/>
                  <a:pt x="4956582" y="2177077"/>
                  <a:pt x="4956582" y="3466807"/>
                </a:cubicBezTo>
                <a:cubicBezTo>
                  <a:pt x="4956582" y="4657326"/>
                  <a:pt x="4709381" y="5763316"/>
                  <a:pt x="4286027" y="6680757"/>
                </a:cubicBezTo>
                <a:lnTo>
                  <a:pt x="4199937" y="6858000"/>
                </a:lnTo>
                <a:lnTo>
                  <a:pt x="53039" y="6858000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283B6091-C9A6-4C92-8315-2DE12015E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C6ACBBE-7216-419A-81B7-BD305A9F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BABC5C7-59D4-91BF-6180-63D1A156E1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903843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200"/>
              <a:t>Le héros fragilisé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747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F34618D-5566-243C-CECA-344C41F520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20101" y="932688"/>
            <a:ext cx="3150108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z="3200" dirty="0"/>
              <a:t>Le héros actuel ressent le poids du quotidien.</a:t>
            </a:r>
          </a:p>
          <a:p>
            <a:r>
              <a:rPr lang="fr-FR" sz="3200" dirty="0"/>
              <a:t>Opposition entre Éros et Thanatos.</a:t>
            </a:r>
          </a:p>
          <a:p>
            <a:endParaRPr lang="fr-FR" sz="3200" dirty="0"/>
          </a:p>
        </p:txBody>
      </p:sp>
    </p:spTree>
    <p:extLst>
      <p:ext uri="{BB962C8B-B14F-4D97-AF65-F5344CB8AC3E}">
        <p14:creationId xmlns:p14="http://schemas.microsoft.com/office/powerpoint/2010/main" val="2206355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28E3505-36F5-47A9-A188-7C60ACBB9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peinture, dessin, Peinture artistique, Art moderne&#10;&#10;Description générée automatiquement">
            <a:extLst>
              <a:ext uri="{FF2B5EF4-FFF2-40B4-BE49-F238E27FC236}">
                <a16:creationId xmlns:a16="http://schemas.microsoft.com/office/drawing/2014/main" id="{4F9EBA99-88BD-D262-DBC9-82A014DBCEE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4960" r="11799" b="-1"/>
          <a:stretch/>
        </p:blipFill>
        <p:spPr>
          <a:xfrm>
            <a:off x="3143213" y="10"/>
            <a:ext cx="4956582" cy="6857990"/>
          </a:xfrm>
          <a:custGeom>
            <a:avLst/>
            <a:gdLst/>
            <a:ahLst/>
            <a:cxnLst/>
            <a:rect l="l" t="t" r="r" b="b"/>
            <a:pathLst>
              <a:path w="4956582" h="6858000">
                <a:moveTo>
                  <a:pt x="0" y="0"/>
                </a:moveTo>
                <a:lnTo>
                  <a:pt x="4161807" y="0"/>
                </a:lnTo>
                <a:lnTo>
                  <a:pt x="4176560" y="27485"/>
                </a:lnTo>
                <a:cubicBezTo>
                  <a:pt x="4666464" y="986552"/>
                  <a:pt x="4956582" y="2177077"/>
                  <a:pt x="4956582" y="3466807"/>
                </a:cubicBezTo>
                <a:cubicBezTo>
                  <a:pt x="4956582" y="4657326"/>
                  <a:pt x="4709381" y="5763316"/>
                  <a:pt x="4286027" y="6680757"/>
                </a:cubicBezTo>
                <a:lnTo>
                  <a:pt x="4199937" y="6858000"/>
                </a:lnTo>
                <a:lnTo>
                  <a:pt x="53039" y="6858000"/>
                </a:lnTo>
                <a:lnTo>
                  <a:pt x="132047" y="6695338"/>
                </a:lnTo>
                <a:cubicBezTo>
                  <a:pt x="555401" y="5777898"/>
                  <a:pt x="802602" y="4671908"/>
                  <a:pt x="802602" y="3481388"/>
                </a:cubicBezTo>
                <a:cubicBezTo>
                  <a:pt x="802602" y="2191659"/>
                  <a:pt x="512484" y="1001134"/>
                  <a:pt x="22579" y="42066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283B6091-C9A6-4C92-8315-2DE12015E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945815" cy="6858000"/>
          </a:xfrm>
          <a:custGeom>
            <a:avLst/>
            <a:gdLst>
              <a:gd name="connsiteX0" fmla="*/ 0 w 3945815"/>
              <a:gd name="connsiteY0" fmla="*/ 0 h 6858000"/>
              <a:gd name="connsiteX1" fmla="*/ 3138662 w 3945815"/>
              <a:gd name="connsiteY1" fmla="*/ 0 h 6858000"/>
              <a:gd name="connsiteX2" fmla="*/ 3275260 w 3945815"/>
              <a:gd name="connsiteY2" fmla="*/ 267438 h 6858000"/>
              <a:gd name="connsiteX3" fmla="*/ 3945815 w 3945815"/>
              <a:gd name="connsiteY3" fmla="*/ 3481388 h 6858000"/>
              <a:gd name="connsiteX4" fmla="*/ 3275260 w 3945815"/>
              <a:gd name="connsiteY4" fmla="*/ 6695338 h 6858000"/>
              <a:gd name="connsiteX5" fmla="*/ 3192177 w 3945815"/>
              <a:gd name="connsiteY5" fmla="*/ 6858000 h 6858000"/>
              <a:gd name="connsiteX6" fmla="*/ 0 w 3945815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45815" h="6858000">
                <a:moveTo>
                  <a:pt x="0" y="0"/>
                </a:moveTo>
                <a:lnTo>
                  <a:pt x="3138662" y="0"/>
                </a:lnTo>
                <a:lnTo>
                  <a:pt x="3275260" y="267438"/>
                </a:lnTo>
                <a:cubicBezTo>
                  <a:pt x="3698614" y="1184879"/>
                  <a:pt x="3945815" y="2290869"/>
                  <a:pt x="3945815" y="3481388"/>
                </a:cubicBezTo>
                <a:cubicBezTo>
                  <a:pt x="3945815" y="4671908"/>
                  <a:pt x="3698614" y="5777898"/>
                  <a:pt x="3275260" y="6695338"/>
                </a:cubicBezTo>
                <a:lnTo>
                  <a:pt x="319217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CC6ACBBE-7216-419A-81B7-BD305A9FE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936670" cy="6858000"/>
          </a:xfrm>
          <a:custGeom>
            <a:avLst/>
            <a:gdLst>
              <a:gd name="connsiteX0" fmla="*/ 0 w 3936670"/>
              <a:gd name="connsiteY0" fmla="*/ 0 h 6858000"/>
              <a:gd name="connsiteX1" fmla="*/ 3129517 w 3936670"/>
              <a:gd name="connsiteY1" fmla="*/ 0 h 6858000"/>
              <a:gd name="connsiteX2" fmla="*/ 3266115 w 3936670"/>
              <a:gd name="connsiteY2" fmla="*/ 267438 h 6858000"/>
              <a:gd name="connsiteX3" fmla="*/ 3936670 w 3936670"/>
              <a:gd name="connsiteY3" fmla="*/ 3481388 h 6858000"/>
              <a:gd name="connsiteX4" fmla="*/ 3266115 w 3936670"/>
              <a:gd name="connsiteY4" fmla="*/ 6695338 h 6858000"/>
              <a:gd name="connsiteX5" fmla="*/ 3183032 w 3936670"/>
              <a:gd name="connsiteY5" fmla="*/ 6858000 h 6858000"/>
              <a:gd name="connsiteX6" fmla="*/ 0 w 39366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936670" h="6858000">
                <a:moveTo>
                  <a:pt x="0" y="0"/>
                </a:moveTo>
                <a:lnTo>
                  <a:pt x="3129517" y="0"/>
                </a:lnTo>
                <a:lnTo>
                  <a:pt x="3266115" y="267438"/>
                </a:lnTo>
                <a:cubicBezTo>
                  <a:pt x="3689469" y="1184879"/>
                  <a:pt x="3936670" y="2290869"/>
                  <a:pt x="3936670" y="3481388"/>
                </a:cubicBezTo>
                <a:cubicBezTo>
                  <a:pt x="3936670" y="4671908"/>
                  <a:pt x="3689469" y="5777898"/>
                  <a:pt x="3266115" y="6695338"/>
                </a:cubicBezTo>
                <a:lnTo>
                  <a:pt x="3183032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CE5FBD9-5F30-3439-5EFA-4F3E754F2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2903843" cy="45262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/>
              <a:t>Caractéristiques de la littérature postmoderne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8E79BE4-34FE-485A-98A5-92CE8F7C47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97476"/>
            <a:ext cx="128016" cy="65390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80B4EF3-9CFC-B73E-805F-27027E5034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20101" y="932688"/>
            <a:ext cx="3150108" cy="49926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endParaRPr lang="fr-FR" sz="2800" dirty="0">
              <a:solidFill>
                <a:schemeClr val="accent1"/>
              </a:solidFill>
            </a:endParaRPr>
          </a:p>
          <a:p>
            <a:r>
              <a:rPr lang="fr-FR" sz="2800" dirty="0">
                <a:solidFill>
                  <a:schemeClr val="accent1"/>
                </a:solidFill>
              </a:rPr>
              <a:t>Refus du cliché</a:t>
            </a:r>
          </a:p>
          <a:p>
            <a:r>
              <a:rPr lang="fr-FR" sz="2800" dirty="0">
                <a:solidFill>
                  <a:schemeClr val="accent1"/>
                </a:solidFill>
              </a:rPr>
              <a:t>Monde livré tel quel</a:t>
            </a:r>
          </a:p>
          <a:p>
            <a:r>
              <a:rPr lang="fr-FR" sz="2800" dirty="0">
                <a:solidFill>
                  <a:schemeClr val="accent1"/>
                </a:solidFill>
              </a:rPr>
              <a:t>Incursion du langage parlé</a:t>
            </a:r>
          </a:p>
          <a:p>
            <a:r>
              <a:rPr lang="fr-FR" sz="2800" dirty="0">
                <a:solidFill>
                  <a:schemeClr val="accent1"/>
                </a:solidFill>
              </a:rPr>
              <a:t>Langage sobre et dépouillé</a:t>
            </a:r>
          </a:p>
          <a:p>
            <a:endParaRPr lang="fr-FR" sz="2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0144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D1A4588A-55D5-49B8-BE41-54ACDCFF2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Espace réservé du contenu 7" descr="Une image contenant peinture, habits, chaussures, personne&#10;&#10;Description générée automatiquement">
            <a:extLst>
              <a:ext uri="{FF2B5EF4-FFF2-40B4-BE49-F238E27FC236}">
                <a16:creationId xmlns:a16="http://schemas.microsoft.com/office/drawing/2014/main" id="{F169A9D6-A694-E85F-07C5-C87B740FA6C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t="16642" b="10823"/>
          <a:stretch/>
        </p:blipFill>
        <p:spPr>
          <a:xfrm>
            <a:off x="20" y="10"/>
            <a:ext cx="12191980" cy="4465973"/>
          </a:xfrm>
          <a:prstGeom prst="rect">
            <a:avLst/>
          </a:prstGeom>
        </p:spPr>
      </p:pic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7E7EA2-EDCD-47E9-81BC-415C606D1B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19552"/>
            <a:ext cx="9382538" cy="685800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B2DB531-7C71-305F-150A-893DD2645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928" y="4203278"/>
            <a:ext cx="8557193" cy="5360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>
                <a:solidFill>
                  <a:schemeClr val="bg1"/>
                </a:solidFill>
              </a:rPr>
              <a:t>Thème de l'intimité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4F2F1F-0251-B637-A5DA-92823A169A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66928" y="4956314"/>
            <a:ext cx="11058144" cy="13064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700"/>
              <a:t>L’amour = souvenir désagréable</a:t>
            </a:r>
          </a:p>
          <a:p>
            <a:r>
              <a:rPr lang="en-US" sz="1700"/>
              <a:t>Souvenir amer de l’expérience conjugale.</a:t>
            </a:r>
          </a:p>
          <a:p>
            <a:r>
              <a:rPr lang="en-US" sz="1700"/>
              <a:t>La famille éclatée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182738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108D317-7CBD-4897-BD1F-959436D2A3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32D761A-BCC7-CC1E-2A71-2AA0E3FFC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5564" y="834888"/>
            <a:ext cx="4314645" cy="126895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200"/>
              <a:t>Thèmes importants</a:t>
            </a:r>
          </a:p>
        </p:txBody>
      </p:sp>
      <p:pic>
        <p:nvPicPr>
          <p:cNvPr id="5" name="Espace réservé du contenu 4" descr="Une image contenant meubles, habits, table basse, intérieur&#10;&#10;Description générée automatiquement">
            <a:extLst>
              <a:ext uri="{FF2B5EF4-FFF2-40B4-BE49-F238E27FC236}">
                <a16:creationId xmlns:a16="http://schemas.microsoft.com/office/drawing/2014/main" id="{60DC6693-04C9-6ED5-B976-58648ABDB50D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3353" r="2" b="2"/>
          <a:stretch/>
        </p:blipFill>
        <p:spPr>
          <a:xfrm>
            <a:off x="20" y="10"/>
            <a:ext cx="6717436" cy="6857990"/>
          </a:xfrm>
          <a:custGeom>
            <a:avLst/>
            <a:gdLst/>
            <a:ahLst/>
            <a:cxnLst/>
            <a:rect l="l" t="t" r="r" b="b"/>
            <a:pathLst>
              <a:path w="6717456" h="6858000">
                <a:moveTo>
                  <a:pt x="0" y="0"/>
                </a:moveTo>
                <a:lnTo>
                  <a:pt x="6149468" y="0"/>
                </a:lnTo>
                <a:lnTo>
                  <a:pt x="6202448" y="162605"/>
                </a:lnTo>
                <a:cubicBezTo>
                  <a:pt x="6535625" y="1263763"/>
                  <a:pt x="6717456" y="2453207"/>
                  <a:pt x="6717456" y="3694043"/>
                </a:cubicBezTo>
                <a:cubicBezTo>
                  <a:pt x="6717456" y="4757617"/>
                  <a:pt x="6583866" y="5783433"/>
                  <a:pt x="6335883" y="6748259"/>
                </a:cubicBezTo>
                <a:lnTo>
                  <a:pt x="6305198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D6297641-8B9F-4767-9606-8A11313227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89864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F3CA65-EA00-46B4-9616-39E6853F7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31572" y="2240371"/>
            <a:ext cx="42062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3E31436-3577-A56E-841E-0BFFA046DC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255563" y="2557587"/>
            <a:ext cx="4314645" cy="371731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3200" dirty="0">
                <a:solidFill>
                  <a:schemeClr val="accent1"/>
                </a:solidFill>
              </a:rPr>
              <a:t>La solitude</a:t>
            </a:r>
          </a:p>
          <a:p>
            <a:r>
              <a:rPr lang="fr-FR" sz="3200" dirty="0">
                <a:solidFill>
                  <a:schemeClr val="accent1"/>
                </a:solidFill>
              </a:rPr>
              <a:t>La banalité du quotidien</a:t>
            </a:r>
          </a:p>
        </p:txBody>
      </p:sp>
    </p:spTree>
    <p:extLst>
      <p:ext uri="{BB962C8B-B14F-4D97-AF65-F5344CB8AC3E}">
        <p14:creationId xmlns:p14="http://schemas.microsoft.com/office/powerpoint/2010/main" val="1038367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DF40726-9B19-4165-9C26-757D16E19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6E3BF0C-565F-133A-7818-7E08CA538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64211"/>
            <a:ext cx="4571999" cy="116500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/>
              <a:t>Thèmes important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29DE9C3-4CE8-8BEC-A401-3876B6B6CA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2027618"/>
            <a:ext cx="4655126" cy="365228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4000" dirty="0"/>
              <a:t>La mort</a:t>
            </a:r>
          </a:p>
          <a:p>
            <a:r>
              <a:rPr lang="fr-FR" sz="4000" dirty="0"/>
              <a:t>La fuite du temps</a:t>
            </a:r>
          </a:p>
        </p:txBody>
      </p:sp>
      <p:pic>
        <p:nvPicPr>
          <p:cNvPr id="5" name="Espace réservé du contenu 4" descr="Une image contenant texte, art, peinture, Arts visuels&#10;&#10;Description générée automatiquement">
            <a:extLst>
              <a:ext uri="{FF2B5EF4-FFF2-40B4-BE49-F238E27FC236}">
                <a16:creationId xmlns:a16="http://schemas.microsoft.com/office/drawing/2014/main" id="{992C0F79-D978-87D6-CAB0-22E7367155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 rotWithShape="1">
          <a:blip r:embed="rId2"/>
          <a:srcRect l="26464" r="12734" b="2"/>
          <a:stretch/>
        </p:blipFill>
        <p:spPr>
          <a:xfrm>
            <a:off x="6190488" y="566928"/>
            <a:ext cx="5157216" cy="52861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2089CB41-F399-4AEB-980C-5BFB1049C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6112341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BFC967B-3DD6-463D-9DB9-6E4419AE0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096768" y="3817404"/>
            <a:ext cx="54864" cy="457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5083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Espace réservé du contenu 4" descr="Une image contenant peinture, texte, croquis, dessin&#10;&#10;Description générée automatiquement">
            <a:extLst>
              <a:ext uri="{FF2B5EF4-FFF2-40B4-BE49-F238E27FC236}">
                <a16:creationId xmlns:a16="http://schemas.microsoft.com/office/drawing/2014/main" id="{8D766985-5D3B-71C2-6DFF-3487637A8675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3127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CD779AC-8F67-3634-5604-D45A08E07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600"/>
              <a:t>Thèmes importants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7CB114D-F50A-9DBC-4082-CDBCEDD54C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3200" dirty="0">
                <a:solidFill>
                  <a:schemeClr val="accent1"/>
                </a:solidFill>
              </a:rPr>
              <a:t>La marginalité</a:t>
            </a:r>
          </a:p>
          <a:p>
            <a:r>
              <a:rPr lang="fr-FR" sz="3200" dirty="0">
                <a:solidFill>
                  <a:schemeClr val="accent1"/>
                </a:solidFill>
              </a:rPr>
              <a:t>La fragilité de la condition humaine</a:t>
            </a:r>
          </a:p>
          <a:p>
            <a:r>
              <a:rPr lang="fr-FR" sz="3200" dirty="0">
                <a:solidFill>
                  <a:schemeClr val="accent1"/>
                </a:solidFill>
              </a:rPr>
              <a:t>L’insécurité</a:t>
            </a:r>
          </a:p>
          <a:p>
            <a:endParaRPr lang="fr-FR" sz="3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2635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6FBB9D-1CAA-4D05-AB33-BABDFE17B8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727B71-B4B6-4823-80A1-68C40B4751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9A6DB05-9FB5-4B07-8675-74C23D4FD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5C9B446A-6343-4E56-90BA-061E4DDF0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3EC72A1B-03D3-499C-B4BF-AC68EEC22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455673" cy="6858000"/>
          </a:xfrm>
          <a:custGeom>
            <a:avLst/>
            <a:gdLst>
              <a:gd name="connsiteX0" fmla="*/ 0 w 4455673"/>
              <a:gd name="connsiteY0" fmla="*/ 0 h 6858000"/>
              <a:gd name="connsiteX1" fmla="*/ 3242695 w 4455673"/>
              <a:gd name="connsiteY1" fmla="*/ 0 h 6858000"/>
              <a:gd name="connsiteX2" fmla="*/ 3305678 w 4455673"/>
              <a:gd name="connsiteY2" fmla="*/ 69271 h 6858000"/>
              <a:gd name="connsiteX3" fmla="*/ 4455673 w 4455673"/>
              <a:gd name="connsiteY3" fmla="*/ 3429000 h 6858000"/>
              <a:gd name="connsiteX4" fmla="*/ 3305678 w 4455673"/>
              <a:gd name="connsiteY4" fmla="*/ 6788730 h 6858000"/>
              <a:gd name="connsiteX5" fmla="*/ 3242695 w 4455673"/>
              <a:gd name="connsiteY5" fmla="*/ 6858000 h 6858000"/>
              <a:gd name="connsiteX6" fmla="*/ 0 w 4455673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55673" h="6858000">
                <a:moveTo>
                  <a:pt x="0" y="0"/>
                </a:moveTo>
                <a:lnTo>
                  <a:pt x="3242695" y="0"/>
                </a:lnTo>
                <a:lnTo>
                  <a:pt x="3305678" y="69271"/>
                </a:lnTo>
                <a:cubicBezTo>
                  <a:pt x="4016204" y="929100"/>
                  <a:pt x="4455673" y="2116944"/>
                  <a:pt x="4455673" y="3429000"/>
                </a:cubicBezTo>
                <a:cubicBezTo>
                  <a:pt x="4455673" y="4741056"/>
                  <a:pt x="4016204" y="5928900"/>
                  <a:pt x="3305678" y="6788730"/>
                </a:cubicBezTo>
                <a:lnTo>
                  <a:pt x="3242695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216322C2-3CF0-4D33-BF90-3F384CF6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446529" cy="6858000"/>
          </a:xfrm>
          <a:custGeom>
            <a:avLst/>
            <a:gdLst>
              <a:gd name="connsiteX0" fmla="*/ 0 w 4446529"/>
              <a:gd name="connsiteY0" fmla="*/ 0 h 6858000"/>
              <a:gd name="connsiteX1" fmla="*/ 3233551 w 4446529"/>
              <a:gd name="connsiteY1" fmla="*/ 0 h 6858000"/>
              <a:gd name="connsiteX2" fmla="*/ 3296534 w 4446529"/>
              <a:gd name="connsiteY2" fmla="*/ 69271 h 6858000"/>
              <a:gd name="connsiteX3" fmla="*/ 4446529 w 4446529"/>
              <a:gd name="connsiteY3" fmla="*/ 3429000 h 6858000"/>
              <a:gd name="connsiteX4" fmla="*/ 3296534 w 4446529"/>
              <a:gd name="connsiteY4" fmla="*/ 6788730 h 6858000"/>
              <a:gd name="connsiteX5" fmla="*/ 3233551 w 4446529"/>
              <a:gd name="connsiteY5" fmla="*/ 6858000 h 6858000"/>
              <a:gd name="connsiteX6" fmla="*/ 0 w 444652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46529" h="6858000">
                <a:moveTo>
                  <a:pt x="0" y="0"/>
                </a:moveTo>
                <a:lnTo>
                  <a:pt x="3233551" y="0"/>
                </a:lnTo>
                <a:lnTo>
                  <a:pt x="3296534" y="69271"/>
                </a:lnTo>
                <a:cubicBezTo>
                  <a:pt x="4007060" y="929100"/>
                  <a:pt x="4446529" y="2116944"/>
                  <a:pt x="4446529" y="3429000"/>
                </a:cubicBezTo>
                <a:cubicBezTo>
                  <a:pt x="4446529" y="4741056"/>
                  <a:pt x="4007060" y="5928900"/>
                  <a:pt x="3296534" y="6788730"/>
                </a:cubicBezTo>
                <a:lnTo>
                  <a:pt x="3233551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206AAEC-B223-46B3-BFFD-C35AD08AE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4" y="1161288"/>
            <a:ext cx="3438144" cy="112471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/>
              <a:t>Thèmes importants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375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0606AF-29FB-D1CA-7DDC-41DFE633A1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1094" y="2718054"/>
            <a:ext cx="3438906" cy="320725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z="3200" dirty="0"/>
              <a:t>L'écriture </a:t>
            </a:r>
          </a:p>
          <a:p>
            <a:r>
              <a:rPr lang="fr-FR" sz="3200"/>
              <a:t>Les arts et la littérature</a:t>
            </a:r>
          </a:p>
        </p:txBody>
      </p:sp>
      <p:pic>
        <p:nvPicPr>
          <p:cNvPr id="5" name="Espace réservé du contenu 4" descr="Une image contenant léger&#10;&#10;Description générée automatiquement">
            <a:extLst>
              <a:ext uri="{FF2B5EF4-FFF2-40B4-BE49-F238E27FC236}">
                <a16:creationId xmlns:a16="http://schemas.microsoft.com/office/drawing/2014/main" id="{ADBF2F0B-7B65-C1BC-7551-92C7985D7FF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898967" y="891234"/>
            <a:ext cx="6921940" cy="5184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0432424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nalogousFromDarkSeedLeftStep">
      <a:dk1>
        <a:srgbClr val="000000"/>
      </a:dk1>
      <a:lt1>
        <a:srgbClr val="FFFFFF"/>
      </a:lt1>
      <a:dk2>
        <a:srgbClr val="2F1B30"/>
      </a:dk2>
      <a:lt2>
        <a:srgbClr val="F0F3F3"/>
      </a:lt2>
      <a:accent1>
        <a:srgbClr val="C34D63"/>
      </a:accent1>
      <a:accent2>
        <a:srgbClr val="B13B82"/>
      </a:accent2>
      <a:accent3>
        <a:srgbClr val="C14DC3"/>
      </a:accent3>
      <a:accent4>
        <a:srgbClr val="7E3BB1"/>
      </a:accent4>
      <a:accent5>
        <a:srgbClr val="5E4DC3"/>
      </a:accent5>
      <a:accent6>
        <a:srgbClr val="3B5BB1"/>
      </a:accent6>
      <a:hlink>
        <a:srgbClr val="7956C6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132</Words>
  <Application>Microsoft Office PowerPoint</Application>
  <PresentationFormat>Grand écran</PresentationFormat>
  <Paragraphs>32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Calibri</vt:lpstr>
      <vt:lpstr>Neue Haas Grotesk Text Pro</vt:lpstr>
      <vt:lpstr>AccentBoxVTI</vt:lpstr>
      <vt:lpstr>La littérature postmoderne</vt:lpstr>
      <vt:lpstr>Le héros fragilisé</vt:lpstr>
      <vt:lpstr>Le héros fragilisé</vt:lpstr>
      <vt:lpstr>Caractéristiques de la littérature postmoderne</vt:lpstr>
      <vt:lpstr>Thème de l'intimité</vt:lpstr>
      <vt:lpstr>Thèmes importants</vt:lpstr>
      <vt:lpstr>Thèmes important</vt:lpstr>
      <vt:lpstr>Thèmes importants</vt:lpstr>
      <vt:lpstr>Thèmes importants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lastModifiedBy>Marie-Hélène Beaudoin</cp:lastModifiedBy>
  <cp:revision>96</cp:revision>
  <dcterms:created xsi:type="dcterms:W3CDTF">2023-09-30T15:06:54Z</dcterms:created>
  <dcterms:modified xsi:type="dcterms:W3CDTF">2024-02-06T13:22:07Z</dcterms:modified>
</cp:coreProperties>
</file>